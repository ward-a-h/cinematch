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CineMatch — Title Slide</a:t>
            </a:r>
          </a:p>
          <a:p>
            <a:r>
              <a:rPr lang="en-US" dirty="0"/>
              <a:t xml:space="preserve"> </a:t>
            </a:r>
          </a:p>
          <a:p>
            <a:r>
              <a:rPr lang="en-US" dirty="0"/>
              <a:t>This project is called CineMatch. It's a movie recommendation system built for our AI course at FAST NUCES. The core idea is simple: instead of showing users thousands of movies randomly, we use algorithms to predict what they'll enjoy based on genre patterns and the behavior of other users who have similar taste.</a:t>
            </a:r>
          </a:p>
          <a:p>
            <a:r>
              <a:rPr lang="en-US" dirty="0"/>
              <a:t xml:space="preserve"> </a:t>
            </a:r>
          </a:p>
          <a:p>
            <a:r>
              <a:rPr lang="en-US" dirty="0"/>
              <a:t>There are two broad categories of recommendation systems in the real world:</a:t>
            </a:r>
          </a:p>
          <a:p>
            <a:r>
              <a:rPr lang="en-US" dirty="0"/>
              <a:t>- Content-based: looks at the properties of things (like movie genres)</a:t>
            </a:r>
          </a:p>
          <a:p>
            <a:r>
              <a:rPr lang="en-US" dirty="0"/>
              <a:t>- Collaborative filtering: looks at what similar people liked</a:t>
            </a:r>
          </a:p>
          <a:p>
            <a:r>
              <a:rPr lang="en-US" dirty="0"/>
              <a:t xml:space="preserve"> </a:t>
            </a:r>
          </a:p>
          <a:p>
            <a:r>
              <a:rPr lang="en-US" dirty="0"/>
              <a:t>We implemented both, and then combined them into one hybrid model. This gives us more robust results than using either method alone.</a:t>
            </a:r>
          </a:p>
          <a:p>
            <a:r>
              <a:rPr lang="en-US" dirty="0"/>
              <a:t xml:space="preserve"> </a:t>
            </a:r>
          </a:p>
          <a:p>
            <a:r>
              <a:rPr lang="en-US" dirty="0"/>
              <a:t>The live app is deployed at cinematch-fast-nuces.streamlit.app.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Overview</a:t>
            </a:r>
          </a:p>
          <a:p>
            <a:r>
              <a:rPr lang="en-US" dirty="0"/>
              <a:t xml:space="preserve"> </a:t>
            </a:r>
          </a:p>
          <a:p>
            <a:r>
              <a:rPr lang="en-US" dirty="0"/>
              <a:t>Walk your audience through what's coming:</a:t>
            </a:r>
          </a:p>
          <a:p>
            <a:r>
              <a:rPr lang="en-US" dirty="0"/>
              <a:t xml:space="preserve"> </a:t>
            </a:r>
          </a:p>
          <a:p>
            <a:r>
              <a:rPr lang="en-US" dirty="0"/>
              <a:t>1. Problem &amp; Motivation — why this problem is worth solving</a:t>
            </a:r>
          </a:p>
          <a:p>
            <a:r>
              <a:rPr lang="en-US" dirty="0"/>
              <a:t>2. Dataset — what data we're working with and why MovieLens 100K</a:t>
            </a:r>
          </a:p>
          <a:p>
            <a:r>
              <a:rPr lang="en-US" dirty="0"/>
              <a:t>3. System Architecture — how the app is structured (backend, frontend, APIs)</a:t>
            </a:r>
          </a:p>
          <a:p>
            <a:r>
              <a:rPr lang="en-US" dirty="0"/>
              <a:t>4. Methodology — the heart of the project: four filtering approaches</a:t>
            </a:r>
          </a:p>
          <a:p>
            <a:r>
              <a:rPr lang="en-US" dirty="0"/>
              <a:t>5. Evaluation — how we measured whether the system is actually good</a:t>
            </a:r>
          </a:p>
          <a:p>
            <a:r>
              <a:rPr lang="en-US" dirty="0"/>
              <a:t>6. Application Features — what the user actually sees and does</a:t>
            </a:r>
          </a:p>
          <a:p>
            <a:r>
              <a:rPr lang="en-US" dirty="0"/>
              <a:t>7. Limitations &amp; Future Work — being honest about what we couldn't solve</a:t>
            </a:r>
          </a:p>
          <a:p>
            <a:r>
              <a:rPr lang="en-US" dirty="0"/>
              <a:t xml:space="preserve"> </a:t>
            </a:r>
          </a:p>
          <a:p>
            <a:r>
              <a:rPr lang="en-US" dirty="0"/>
              <a:t>This is a research-style project. We're not just building an app — we're evaluating it rigorously with proper metrics.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&amp; Motivation</a:t>
            </a:r>
          </a:p>
          <a:p>
            <a:r>
              <a:rPr lang="en-US" dirty="0"/>
              <a:t xml:space="preserve"> </a:t>
            </a:r>
          </a:p>
          <a:p>
            <a:r>
              <a:rPr lang="en-US" dirty="0"/>
              <a:t>Three core problems that motivated this project:</a:t>
            </a:r>
          </a:p>
          <a:p>
            <a:r>
              <a:rPr lang="en-US" dirty="0"/>
              <a:t xml:space="preserve"> </a:t>
            </a:r>
          </a:p>
          <a:p>
            <a:r>
              <a:rPr lang="en-US" dirty="0"/>
              <a:t>CHOICE PARALYSIS:</a:t>
            </a:r>
          </a:p>
          <a:p>
            <a:r>
              <a:rPr lang="en-US" dirty="0"/>
              <a:t>Streaming platforms have thousands of movies. When there are too many options, people struggle to decide and often just rewatch something familiar. A good recommendation system narrows this down to a manageable, personalized list.</a:t>
            </a:r>
          </a:p>
          <a:p>
            <a:r>
              <a:rPr lang="en-US" dirty="0"/>
              <a:t xml:space="preserve"> </a:t>
            </a:r>
          </a:p>
          <a:p>
            <a:r>
              <a:rPr lang="en-US" dirty="0"/>
              <a:t>COLD START PROBLEM:</a:t>
            </a:r>
          </a:p>
          <a:p>
            <a:r>
              <a:rPr lang="en-US" dirty="0"/>
              <a:t>This is a classic challenge in recommendation systems. Traditional collaborative filtering needs rating history to work. If someone is brand new and has never rated anything, the system has no signal to go on. Our hybrid addresses this by falling back to content-based (genre-based) recommendations when CF can't help.</a:t>
            </a:r>
          </a:p>
          <a:p>
            <a:r>
              <a:rPr lang="en-US" dirty="0"/>
              <a:t xml:space="preserve"> </a:t>
            </a:r>
          </a:p>
          <a:p>
            <a:r>
              <a:rPr lang="en-US" dirty="0"/>
              <a:t>DATA SPARSITY:</a:t>
            </a:r>
          </a:p>
          <a:p>
            <a:r>
              <a:rPr lang="en-US" dirty="0"/>
              <a:t>The user-movie matrix is 943 users × 1682 movies = 1.58 million possible ratings. But only 100,000 ratings exist. That means 93.7% of the matrix is empty. Algorithms that try to use this matrix directly will struggle because most cells have no data. This is why we use techniques like SVD that can work with sparse data.</a:t>
            </a:r>
          </a:p>
          <a:p>
            <a:r>
              <a:rPr lang="en-US" dirty="0"/>
              <a:t xml:space="preserve"> </a:t>
            </a:r>
          </a:p>
          <a:p>
            <a:r>
              <a:rPr lang="en-US" dirty="0"/>
              <a:t>OUR SOLUTION:</a:t>
            </a:r>
          </a:p>
          <a:p>
            <a:r>
              <a:rPr lang="en-US" dirty="0"/>
              <a:t>By combining content-based and collaborative filtering with a 60/40 weight, we get recommendations that are personalized (CF does the heavy lifting) but still useful when the CF signal is thin (content fills in the gap).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 MovieLens 100K</a:t>
            </a:r>
          </a:p>
          <a:p>
            <a:r>
              <a:rPr lang="en-US" dirty="0"/>
              <a:t xml:space="preserve"> </a:t>
            </a:r>
          </a:p>
          <a:p>
            <a:r>
              <a:rPr lang="en-US" dirty="0"/>
              <a:t>WHY MOVIELENS 100K?</a:t>
            </a:r>
          </a:p>
          <a:p>
            <a:r>
              <a:rPr lang="en-US" dirty="0"/>
              <a:t>MovieLens is a benchmark dataset from GroupLens Research at the University of Minnesota. It's the standard dataset for testing recommendation algorithms in academic papers. Using it means our results can be compared to published work.</a:t>
            </a:r>
          </a:p>
          <a:p>
            <a:r>
              <a:rPr lang="en-US" dirty="0"/>
              <a:t xml:space="preserve"> </a:t>
            </a:r>
          </a:p>
          <a:p>
            <a:r>
              <a:rPr lang="en-US" dirty="0"/>
              <a:t>WHAT'S IN IT:</a:t>
            </a:r>
          </a:p>
          <a:p>
            <a:r>
              <a:rPr lang="en-US" dirty="0"/>
              <a:t>- 943 users, 1682 movies, 100,000 explicit ratings (1-5 stars)</a:t>
            </a:r>
          </a:p>
          <a:p>
            <a:r>
              <a:rPr lang="en-US" dirty="0"/>
              <a:t>- Each movie has 19 binary genre labels: Action, Comedy, Drama, Romance, Thriller, etc.</a:t>
            </a:r>
          </a:p>
          <a:p>
            <a:r>
              <a:rPr lang="en-US" dirty="0"/>
              <a:t>- No missing values in ratings or metadata files</a:t>
            </a:r>
          </a:p>
          <a:p>
            <a:r>
              <a:rPr lang="en-US" dirty="0"/>
              <a:t xml:space="preserve"> </a:t>
            </a:r>
          </a:p>
          <a:p>
            <a:r>
              <a:rPr lang="en-US" dirty="0"/>
              <a:t>KEY OBSERVATIONS:</a:t>
            </a:r>
          </a:p>
          <a:p>
            <a:r>
              <a:rPr lang="en-US" dirty="0"/>
              <a:t>- Most common rating is 4 out of 5 — users tend to rate movies they enjoyed</a:t>
            </a:r>
          </a:p>
          <a:p>
            <a:r>
              <a:rPr lang="en-US" dirty="0"/>
              <a:t>- Star Wars is the most-rated movie: it's a popular, well-known film that many users have seen</a:t>
            </a:r>
          </a:p>
          <a:p>
            <a:r>
              <a:rPr lang="en-US" dirty="0"/>
              <a:t>- User 405 gave over 700 ratings — an extremely active user</a:t>
            </a:r>
          </a:p>
          <a:p>
            <a:r>
              <a:rPr lang="en-US" dirty="0"/>
              <a:t xml:space="preserve"> </a:t>
            </a:r>
          </a:p>
          <a:p>
            <a:r>
              <a:rPr lang="en-US" dirty="0"/>
              <a:t>93.7% SPARSITY:</a:t>
            </a:r>
          </a:p>
          <a:p>
            <a:r>
              <a:rPr lang="en-US" dirty="0"/>
              <a:t>This is the most important characteristic of the dataset for us. It means most users have rated only a tiny fraction of available movies. Our algorithms need to handle this gracefully. SVD was specifically chosen because it's designed for sparse matrix factorization.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Architecture</a:t>
            </a:r>
          </a:p>
          <a:p>
            <a:r>
              <a:rPr lang="en-US" dirty="0"/>
              <a:t xml:space="preserve"> </a:t>
            </a:r>
          </a:p>
          <a:p>
            <a:r>
              <a:rPr lang="en-US" dirty="0"/>
              <a:t>HOW THE SYSTEM IS SPLIT:</a:t>
            </a:r>
          </a:p>
          <a:p>
            <a:r>
              <a:rPr lang="en-US" dirty="0"/>
              <a:t xml:space="preserve"> </a:t>
            </a:r>
          </a:p>
          <a:p>
            <a:r>
              <a:rPr lang="en-US" dirty="0"/>
              <a:t>FRONTEND (Streamlit):</a:t>
            </a:r>
          </a:p>
          <a:p>
            <a:r>
              <a:rPr lang="en-US" dirty="0"/>
              <a:t>Streamlit is a Python library for building web UIs with minimal code. The user interface lives here. It handles all user input (User ID, movie selection) and sends HTTP requests to the backend. It also fetches poster images from TMDB and displays the recommendation grid.</a:t>
            </a:r>
          </a:p>
          <a:p>
            <a:r>
              <a:rPr lang="en-US" dirty="0"/>
              <a:t xml:space="preserve"> </a:t>
            </a:r>
          </a:p>
          <a:p>
            <a:r>
              <a:rPr lang="en-US" dirty="0"/>
              <a:t>BACKEND (FastAPI):</a:t>
            </a:r>
          </a:p>
          <a:p>
            <a:r>
              <a:rPr lang="en-US" dirty="0"/>
              <a:t>FastAPI is a modern Python web framework designed for building APIs quickly with automatic documentation. We chose it because it's fast, lightweight, and integrates naturally with Python ML code. At startup, it loads all pre-trained model files (pickles) into memory so recommendations can be served instantly without recalculating anything.</a:t>
            </a:r>
          </a:p>
          <a:p>
            <a:r>
              <a:rPr lang="en-US" dirty="0"/>
              <a:t xml:space="preserve"> </a:t>
            </a:r>
          </a:p>
          <a:p>
            <a:r>
              <a:rPr lang="en-US" dirty="0"/>
              <a:t>Three endpoints:</a:t>
            </a:r>
          </a:p>
          <a:p>
            <a:r>
              <a:rPr lang="en-US" dirty="0"/>
              <a:t>- GET / — just a health check, confirms the server is running</a:t>
            </a:r>
          </a:p>
          <a:p>
            <a:r>
              <a:rPr lang="en-US" dirty="0"/>
              <a:t>- GET /recommend — takes user_id and movie, returns hybrid recommendations</a:t>
            </a:r>
          </a:p>
          <a:p>
            <a:r>
              <a:rPr lang="en-US" dirty="0"/>
              <a:t>- GET /similar — takes movie title, returns genre-similar movies</a:t>
            </a:r>
          </a:p>
          <a:p>
            <a:r>
              <a:rPr lang="en-US" dirty="0"/>
              <a:t xml:space="preserve"> </a:t>
            </a:r>
          </a:p>
          <a:p>
            <a:r>
              <a:rPr lang="en-US" dirty="0"/>
              <a:t>DATA LAYER (Pickle files):</a:t>
            </a:r>
          </a:p>
          <a:p>
            <a:r>
              <a:rPr lang="en-US" dirty="0"/>
              <a:t>We pre-compute everything offline (similarity matrices, the user-movie matrix) and serialize them with Python's pickle module. This is why the app is fast — no computation happens at request time. The trade-off is that models are static and won't update without a rebuild.</a:t>
            </a:r>
          </a:p>
          <a:p>
            <a:r>
              <a:rPr lang="en-US" dirty="0"/>
              <a:t xml:space="preserve"> </a:t>
            </a:r>
          </a:p>
          <a:p>
            <a:r>
              <a:rPr lang="en-US" dirty="0"/>
              <a:t>TMDB API:</a:t>
            </a:r>
          </a:p>
          <a:p>
            <a:r>
              <a:rPr lang="en-US" dirty="0"/>
              <a:t>The Movie Database API provides live poster images and star ratings. We send a movie title as a search query and retrieve the poster URL. This makes the UI visually rich instead of just showing text lists.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 Content-Based Filtering</a:t>
            </a:r>
          </a:p>
          <a:p>
            <a:r>
              <a:rPr lang="en-US" dirty="0"/>
              <a:t xml:space="preserve"> </a:t>
            </a:r>
          </a:p>
          <a:p>
            <a:r>
              <a:rPr lang="en-US" dirty="0"/>
              <a:t>WHY CONTENT-BASED FILTERING?</a:t>
            </a:r>
          </a:p>
          <a:p>
            <a:r>
              <a:rPr lang="en-US" dirty="0"/>
              <a:t>Content-based filtering recommends movies that are similar to what the user selected, based on the properties of the movies themselves (in our case, genre). It requires no rating history at all — it works for any movie in the dataset regardless of how many users have rated it.</a:t>
            </a:r>
          </a:p>
          <a:p>
            <a:r>
              <a:rPr lang="en-US" dirty="0"/>
              <a:t xml:space="preserve"> </a:t>
            </a:r>
          </a:p>
          <a:p>
            <a:r>
              <a:rPr lang="en-US" dirty="0"/>
              <a:t>HOW WE REPRESENT MOVIES:</a:t>
            </a:r>
          </a:p>
          <a:p>
            <a:r>
              <a:rPr lang="en-US" dirty="0"/>
              <a:t>Each movie is turned into a binary vector of length 19, one slot per genre. For example, Toy Story might be [1,1,0,0,0,...] meaning Animation=1, Children=1, Action=0, etc. This is called a feature vector or encoding.</a:t>
            </a:r>
          </a:p>
          <a:p>
            <a:r>
              <a:rPr lang="en-US" dirty="0"/>
              <a:t xml:space="preserve"> </a:t>
            </a:r>
          </a:p>
          <a:p>
            <a:r>
              <a:rPr lang="en-US" dirty="0"/>
              <a:t>COSINE SIMILARITY — WHY THIS FORMULA?</a:t>
            </a:r>
          </a:p>
          <a:p>
            <a:r>
              <a:rPr lang="en-US" dirty="0"/>
              <a:t>The formula: cos(A,B) = (A·B) / (||A|| × ||B||)</a:t>
            </a:r>
          </a:p>
          <a:p>
            <a:r>
              <a:rPr lang="en-US" dirty="0"/>
              <a:t xml:space="preserve"> </a:t>
            </a:r>
          </a:p>
          <a:p>
            <a:r>
              <a:rPr lang="en-US" dirty="0"/>
              <a:t>We use cosine similarity instead of Euclidean distance because it measures the angle between two vectors, not their magnitude. For genre vectors, what matters is whether two movies share the same genres — not how many genres they have in total. Cosine similarity handles this correctly. It always gives a result between 0 (no genre overlap) and 1 (identical genre profile).</a:t>
            </a:r>
          </a:p>
          <a:p>
            <a:r>
              <a:rPr lang="en-US" dirty="0"/>
              <a:t xml:space="preserve"> </a:t>
            </a:r>
          </a:p>
          <a:p>
            <a:r>
              <a:rPr lang="en-US" dirty="0"/>
              <a:t>THE 1682 × 1682 MATRIX:</a:t>
            </a:r>
          </a:p>
          <a:p>
            <a:r>
              <a:rPr lang="en-US" dirty="0"/>
              <a:t>We compute similarity between every possible pair of movies once, offline. This gives a 1682 × 1682 matrix stored in cosine_sim.pkl. At query time, we just look up one row in the matrix — instant retrieval.</a:t>
            </a:r>
          </a:p>
          <a:p>
            <a:r>
              <a:rPr lang="en-US" dirty="0"/>
              <a:t xml:space="preserve"> </a:t>
            </a:r>
          </a:p>
          <a:p>
            <a:r>
              <a:rPr lang="en-US" dirty="0"/>
              <a:t>LIMITATION:</a:t>
            </a:r>
          </a:p>
          <a:p>
            <a:r>
              <a:rPr lang="en-US" dirty="0"/>
              <a:t>This approach is genre-only. Two movies can have identical genre tags but be completely different in tone, quality, cast, or audience reception. The system cannot tell the difference between a critically acclaimed animated film and a low-budget one if they share the same genre labels.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 Collaborative &amp; SVD Filtering</a:t>
            </a:r>
          </a:p>
          <a:p>
            <a:r>
              <a:rPr lang="en-US" dirty="0"/>
              <a:t xml:space="preserve"> </a:t>
            </a:r>
          </a:p>
          <a:p>
            <a:r>
              <a:rPr lang="en-US" dirty="0"/>
              <a:t>USER-BASED COLLABORATIVE FILTERING:</a:t>
            </a:r>
          </a:p>
          <a:p>
            <a:r>
              <a:rPr lang="en-US" dirty="0"/>
              <a:t>The idea: if two users have rated the same movies similarly in the past, they probably have similar taste, so we can recommend to User A what User B loved and hasn't seen yet.</a:t>
            </a:r>
          </a:p>
          <a:p>
            <a:r>
              <a:rPr lang="en-US" dirty="0"/>
              <a:t xml:space="preserve"> </a:t>
            </a:r>
          </a:p>
          <a:p>
            <a:r>
              <a:rPr lang="en-US" dirty="0"/>
              <a:t>Step-by-step:</a:t>
            </a:r>
          </a:p>
          <a:p>
            <a:r>
              <a:rPr lang="en-US" dirty="0"/>
              <a:t>1. Build a 943 × 1682 pivot table. Rows = users, columns = movies, values = ratings. Fill blanks with 0.</a:t>
            </a:r>
          </a:p>
          <a:p>
            <a:r>
              <a:rPr lang="en-US" dirty="0"/>
              <a:t>2. Compute cosine similarity between every pair of users → 943 × 943 matrix</a:t>
            </a:r>
          </a:p>
          <a:p>
            <a:r>
              <a:rPr lang="en-US" dirty="0"/>
              <a:t>3. For target user, find their top 50 most similar users (K=50, tuned via grid search)</a:t>
            </a:r>
          </a:p>
          <a:p>
            <a:r>
              <a:rPr lang="en-US" dirty="0"/>
              <a:t>4. Collect movies those similar users rated ≥ 4 that target hasn't seen</a:t>
            </a:r>
          </a:p>
          <a:p>
            <a:r>
              <a:rPr lang="en-US" dirty="0"/>
              <a:t>5. Score each candidate: sum of (similarity_score × rating) across all similar users</a:t>
            </a:r>
          </a:p>
          <a:p>
            <a:r>
              <a:rPr lang="en-US" dirty="0"/>
              <a:t>Higher score = more similar users gave it a high rating.</a:t>
            </a:r>
          </a:p>
          <a:p>
            <a:r>
              <a:rPr lang="en-US" dirty="0"/>
              <a:t xml:space="preserve"> </a:t>
            </a:r>
          </a:p>
          <a:p>
            <a:r>
              <a:rPr lang="en-US" dirty="0"/>
              <a:t>ITEM-BASED CF (also implemented):</a:t>
            </a:r>
          </a:p>
          <a:p>
            <a:r>
              <a:rPr lang="en-US" dirty="0"/>
              <a:t>Instead of user-user similarity, we compute movie-movie similarity based on rating patterns. Transpose the matrix (movies × users), compute cosine similarity between movie pairs, then for a target user, score unseen movies by how similar they are to movies the user already rated highly.</a:t>
            </a:r>
          </a:p>
          <a:p>
            <a:r>
              <a:rPr lang="en-US" dirty="0"/>
              <a:t xml:space="preserve"> </a:t>
            </a:r>
          </a:p>
          <a:p>
            <a:r>
              <a:rPr lang="en-US" dirty="0"/>
              <a:t>SVD — WHY A DIFFERENT APPROACH?</a:t>
            </a:r>
          </a:p>
          <a:p>
            <a:r>
              <a:rPr lang="en-US" dirty="0"/>
              <a:t>SVD (Singular Value Decomposition) is matrix factorization. Instead of computing explicit similarities, it decomposes the user-movie matrix into three matrices: U (user factors), Σ (importance weights), Vt (movie factors). When multiplied back together, you get predicted ratings for every user-movie pair, including pairs where no rating exists.</a:t>
            </a:r>
          </a:p>
          <a:p>
            <a:r>
              <a:rPr lang="en-US" dirty="0"/>
              <a:t xml:space="preserve"> </a:t>
            </a:r>
          </a:p>
          <a:p>
            <a:r>
              <a:rPr lang="en-US" dirty="0"/>
              <a:t>We used scipy.sparse.linalg.svds with k=50 latent factors. K=50 means we compress the matrix into 50 hidden dimensions that capture underlying taste patterns (like "loves 90s action" or "prefers family films").</a:t>
            </a:r>
          </a:p>
          <a:p>
            <a:r>
              <a:rPr lang="en-US" dirty="0"/>
              <a:t xml:space="preserve"> </a:t>
            </a:r>
          </a:p>
          <a:p>
            <a:r>
              <a:rPr lang="en-US" dirty="0"/>
              <a:t>WHY k=50?</a:t>
            </a:r>
          </a:p>
          <a:p>
            <a:r>
              <a:rPr lang="en-US" dirty="0"/>
              <a:t>Determined by hyperparameter tuning — see evaluation slide. Larger k captures more patterns but risks overfitting; smaller k misses nuance.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 The Hybrid Model</a:t>
            </a:r>
          </a:p>
          <a:p>
            <a:r>
              <a:rPr lang="en-US" dirty="0"/>
              <a:t xml:space="preserve"> </a:t>
            </a:r>
          </a:p>
          <a:p>
            <a:r>
              <a:rPr lang="en-US" dirty="0"/>
              <a:t>WHY COMBINE THEM?</a:t>
            </a:r>
          </a:p>
          <a:p>
            <a:r>
              <a:rPr lang="en-US" dirty="0"/>
              <a:t>Neither method is perfect alone:</a:t>
            </a:r>
          </a:p>
          <a:p>
            <a:r>
              <a:rPr lang="en-US" dirty="0"/>
              <a:t>- CF alone fails for new movies with few ratings (no user behavior data yet)</a:t>
            </a:r>
          </a:p>
          <a:p>
            <a:r>
              <a:rPr lang="en-US" dirty="0"/>
              <a:t>- Content-based alone gives generic results (same answer for everyone with same input, no personalization)</a:t>
            </a:r>
          </a:p>
          <a:p>
            <a:r>
              <a:rPr lang="en-US" dirty="0"/>
              <a:t>By combining them, the strengths of each compensate for the weaknesses of the other.</a:t>
            </a:r>
          </a:p>
          <a:p>
            <a:r>
              <a:rPr lang="en-US" dirty="0"/>
              <a:t xml:space="preserve"> </a:t>
            </a:r>
          </a:p>
          <a:p>
            <a:r>
              <a:rPr lang="en-US" dirty="0"/>
              <a:t>THE FORMULA: Hybrid Score = 0.6 × CF Score + 0.4 × Content Score</a:t>
            </a:r>
          </a:p>
          <a:p>
            <a:r>
              <a:rPr lang="en-US" dirty="0"/>
              <a:t xml:space="preserve"> </a:t>
            </a:r>
          </a:p>
          <a:p>
            <a:r>
              <a:rPr lang="en-US" dirty="0"/>
              <a:t>WHY 0.6 / 0.4?</a:t>
            </a:r>
          </a:p>
          <a:p>
            <a:r>
              <a:rPr lang="en-US" dirty="0"/>
              <a:t>Collaborative filtering is the stronger signal when rating history exists — it captures actual user behavior and taste. We give it more weight. Content-based acts as a fallback and stabilizer, especially helpful for less-rated movies where CF has a thin signal. The 60/40 split was chosen based on the intuition that behavioral signals are more predictive than genre labels alone.</a:t>
            </a:r>
          </a:p>
          <a:p>
            <a:r>
              <a:rPr lang="en-US" dirty="0"/>
              <a:t xml:space="preserve"> </a:t>
            </a:r>
          </a:p>
          <a:p>
            <a:r>
              <a:rPr lang="en-US" dirty="0"/>
              <a:t>WHY MIN-MAX NORMALIZATION BEFORE COMBINING?</a:t>
            </a:r>
          </a:p>
          <a:p>
            <a:r>
              <a:rPr lang="en-US" dirty="0"/>
              <a:t>CF scores and content scores are on completely different scales. CF scores are weighted sums of similarity × ratings (could range from 0 to large numbers). Content scores are cosine similarity values (0 to 1). If you add them directly, CF would dominate purely because of scale, not because it's more relevant. Min-Max scaling brings both to [0, 1] first, so the 60/40 weight actually controls what it's supposed to control.</a:t>
            </a:r>
          </a:p>
          <a:p>
            <a:r>
              <a:rPr lang="en-US" dirty="0"/>
              <a:t xml:space="preserve"> </a:t>
            </a:r>
          </a:p>
          <a:p>
            <a:r>
              <a:rPr lang="en-US" dirty="0"/>
              <a:t>Min-Max formula: normalized = (x - min) / (max - min)</a:t>
            </a:r>
          </a:p>
          <a:p>
            <a:r>
              <a:rPr lang="en-US" dirty="0"/>
              <a:t xml:space="preserve"> </a:t>
            </a:r>
          </a:p>
          <a:p>
            <a:r>
              <a:rPr lang="en-US" dirty="0"/>
              <a:t>EXCLUSION RULE:</a:t>
            </a:r>
          </a:p>
          <a:p>
            <a:r>
              <a:rPr lang="en-US" dirty="0"/>
              <a:t>Movies the user has already rated are removed before output. This ensures we only recommend genuinely unseen content.</a:t>
            </a:r>
          </a:p>
          <a:p>
            <a:r>
              <a:rPr lang="en-US" dirty="0"/>
              <a:t xml:space="preserve"> </a:t>
            </a:r>
          </a:p>
          <a:p>
            <a:r>
              <a:rPr lang="en-US" dirty="0"/>
              <a:t>OUTPUT:</a:t>
            </a:r>
          </a:p>
          <a:p>
            <a:r>
              <a:rPr lang="en-US" dirty="0"/>
              <a:t>Top 10 movies by hybrid score, enriched with TMDB poster art and live ratings.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&amp; Results</a:t>
            </a:r>
          </a:p>
          <a:p>
            <a:r>
              <a:rPr lang="en-US" dirty="0"/>
              <a:t xml:space="preserve"> </a:t>
            </a:r>
          </a:p>
          <a:p>
            <a:r>
              <a:rPr lang="en-US" dirty="0"/>
              <a:t>WHY THESE FOUR METRICS?</a:t>
            </a:r>
          </a:p>
          <a:p>
            <a:r>
              <a:rPr lang="en-US" dirty="0"/>
              <a:t xml:space="preserve"> </a:t>
            </a:r>
          </a:p>
          <a:p>
            <a:r>
              <a:rPr lang="en-US" dirty="0"/>
              <a:t>RMSE (Root Mean Squared Error) = 1.0305:</a:t>
            </a:r>
          </a:p>
          <a:p>
            <a:r>
              <a:rPr lang="en-US" dirty="0"/>
              <a:t>Measures how far predicted ratings are from actual ratings. We hide some ratings, predict them, and measure the error. Lower is better. Our target was ≤ 1.10 — we achieved 1.0305.</a:t>
            </a:r>
          </a:p>
          <a:p>
            <a:r>
              <a:rPr lang="en-US" dirty="0"/>
              <a:t>RMSE penalizes large errors more than small ones (because of squaring), so it's sensitive to occasional bad predictions.</a:t>
            </a:r>
          </a:p>
          <a:p>
            <a:r>
              <a:rPr lang="en-US" dirty="0"/>
              <a:t xml:space="preserve"> </a:t>
            </a:r>
          </a:p>
          <a:p>
            <a:r>
              <a:rPr lang="en-US" dirty="0"/>
              <a:t>MAE (Mean Absolute Error) = 0.8518:</a:t>
            </a:r>
          </a:p>
          <a:p>
            <a:r>
              <a:rPr lang="en-US" dirty="0"/>
              <a:t>Similar to RMSE but treats all errors equally. Our target was ≤ 0.90 — we achieved 0.8518. On a 1-5 star scale, an average error of 0.85 stars is reasonable.</a:t>
            </a:r>
          </a:p>
          <a:p>
            <a:r>
              <a:rPr lang="en-US" dirty="0"/>
              <a:t xml:space="preserve"> </a:t>
            </a:r>
          </a:p>
          <a:p>
            <a:r>
              <a:rPr lang="en-US" dirty="0"/>
              <a:t>Precision@10 = 0.5040:</a:t>
            </a:r>
          </a:p>
          <a:p>
            <a:r>
              <a:rPr lang="en-US" dirty="0"/>
              <a:t>Of the 10 movies we recommended, what fraction did the user actually enjoy (rated ≥ 4 in the held-out test set)? We achieved 0.504, meaning about 5 of every 10 recommendations were genuinely good. Target was ≥ 0.50 — just met.</a:t>
            </a:r>
          </a:p>
          <a:p>
            <a:r>
              <a:rPr lang="en-US" dirty="0"/>
              <a:t xml:space="preserve"> </a:t>
            </a:r>
          </a:p>
          <a:p>
            <a:r>
              <a:rPr lang="en-US" dirty="0"/>
              <a:t>Recall@10 = 0.4901:</a:t>
            </a:r>
          </a:p>
          <a:p>
            <a:r>
              <a:rPr lang="en-US" dirty="0"/>
              <a:t>Of all the movies the user would have enjoyed, what fraction did we successfully recommend? We retrieved about 49% of the movies a user would have liked. Target was ≥ 0.45 — we exceeded it.</a:t>
            </a:r>
          </a:p>
          <a:p>
            <a:r>
              <a:rPr lang="en-US" dirty="0"/>
              <a:t xml:space="preserve"> </a:t>
            </a:r>
          </a:p>
          <a:p>
            <a:r>
              <a:rPr lang="en-US" dirty="0"/>
              <a:t>HYPERPARAMETER TUNING:</a:t>
            </a:r>
          </a:p>
          <a:p>
            <a:r>
              <a:rPr lang="en-US" dirty="0"/>
              <a:t>We tested K ∈ {5, 10, 20, 30, 50} for the number of similar users. We computed RMSE for each K value on the first 30 active users. K=50 gave the lowest RMSE (1.0305), meaning using more neighbors gives better predictions up to a point. This is a standard grid search approach.</a:t>
            </a:r>
          </a:p>
          <a:p>
            <a:r>
              <a:rPr lang="en-US" dirty="0"/>
              <a:t xml:space="preserve"> </a:t>
            </a:r>
          </a:p>
          <a:p>
            <a:r>
              <a:rPr lang="en-US" dirty="0"/>
              <a:t>NOTE: Precision/Recall and RMSE/MAE are evaluated on different models (SVD for P/R, CF for RMSE/MAE) because they measure different things — rating accuracy vs. recommendation relevance.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Features — Streamlit Frontend</a:t>
            </a:r>
          </a:p>
          <a:p>
            <a:r>
              <a:rPr lang="en-US" dirty="0"/>
              <a:t xml:space="preserve"> </a:t>
            </a:r>
          </a:p>
          <a:p>
            <a:r>
              <a:rPr lang="en-US" dirty="0"/>
              <a:t>TWO MODES:</a:t>
            </a:r>
          </a:p>
          <a:p>
            <a:r>
              <a:rPr lang="en-US" dirty="0"/>
              <a:t xml:space="preserve"> </a:t>
            </a:r>
          </a:p>
          <a:p>
            <a:r>
              <a:rPr lang="en-US" dirty="0"/>
              <a:t>MODE 1 — GET RECOMMENDATIONS (Personalized):</a:t>
            </a:r>
          </a:p>
          <a:p>
            <a:r>
              <a:rPr lang="en-US" dirty="0"/>
              <a:t>The user enters their User ID (any number from 1 to 943) and picks a movie they like from the dropdown. The backend's /recommend endpoint runs the hybrid model (60% CF + 40% Content) and returns 10 movies the user hasn't seen yet. Results are displayed as a poster grid with TMDB star ratings pulled live.</a:t>
            </a:r>
          </a:p>
          <a:p>
            <a:r>
              <a:rPr lang="en-US" dirty="0"/>
              <a:t xml:space="preserve"> </a:t>
            </a:r>
          </a:p>
          <a:p>
            <a:r>
              <a:rPr lang="en-US" dirty="0"/>
              <a:t>This is the main feature — it's personalized to the specific user. Two different users selecting the same movie will get different recommendations because their collaborative filtering component will differ.</a:t>
            </a:r>
          </a:p>
          <a:p>
            <a:r>
              <a:rPr lang="en-US" dirty="0"/>
              <a:t xml:space="preserve"> </a:t>
            </a:r>
          </a:p>
          <a:p>
            <a:r>
              <a:rPr lang="en-US" dirty="0"/>
              <a:t>MODE 2 — FIND SIMILAR MOVIES (Content-Based):</a:t>
            </a:r>
          </a:p>
          <a:p>
            <a:r>
              <a:rPr lang="en-US" dirty="0"/>
              <a:t>The user picks any movie and gets 10 genre-similar movies back. No User ID needed. This uses purely the content-based cosine similarity lookup. The result is the same for every user — it's not personalized. This feature is useful when someone wants to explore movies similar to one they enjoyed, without needing a rating history.</a:t>
            </a:r>
          </a:p>
          <a:p>
            <a:r>
              <a:rPr lang="en-US" dirty="0"/>
              <a:t xml:space="preserve"> </a:t>
            </a:r>
          </a:p>
          <a:p>
            <a:r>
              <a:rPr lang="en-US" dirty="0"/>
              <a:t>TMDB INTEGRATION:</a:t>
            </a:r>
          </a:p>
          <a:p>
            <a:r>
              <a:rPr lang="en-US" dirty="0"/>
              <a:t>The TMDB (The Movie Database) API is queried with the movie title. We strip the year from titles like "Toy Story (1995)" before searching to improve match accuracy. The API returns a poster image URL and average user rating, which we display in the grid. Occasionally, movies with ambiguous titles (like "Hamlet") may return a wrong poster — this is a known limitation.</a:t>
            </a:r>
          </a:p>
          <a:p>
            <a:r>
              <a:rPr lang="en-US" dirty="0"/>
              <a:t xml:space="preserve"> </a:t>
            </a:r>
          </a:p>
          <a:p>
            <a:r>
              <a:rPr lang="en-US" dirty="0"/>
              <a:t>WHY STREAMLIT?</a:t>
            </a:r>
          </a:p>
          <a:p>
            <a:r>
              <a:rPr lang="en-US" dirty="0"/>
              <a:t>Streamlit turns Python scripts into web apps with almost no HTML/CSS knowledge required. For a research prototype, it's ideal — fast to build, easy to iterate, and deployable in one click to Streamlit Cloud.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a:t>
            </a:r>
          </a:p>
          <a:p>
            <a:r>
              <a:rPr lang="en-US" dirty="0"/>
              <a:t xml:space="preserve"> </a:t>
            </a:r>
          </a:p>
          <a:p>
            <a:r>
              <a:rPr lang="en-US" dirty="0"/>
              <a:t>Being honest about limitations is important — every system has them.</a:t>
            </a:r>
          </a:p>
          <a:p>
            <a:r>
              <a:rPr lang="en-US" dirty="0"/>
              <a:t xml:space="preserve"> </a:t>
            </a:r>
          </a:p>
          <a:p>
            <a:r>
              <a:rPr lang="en-US" dirty="0"/>
              <a:t>COLD START — NEW USERS:</a:t>
            </a:r>
          </a:p>
          <a:p>
            <a:r>
              <a:rPr lang="en-US" dirty="0"/>
              <a:t>Our system only knows 943 specific users from the MovieLens dataset. If a user's ID isn't in that set, the collaborative filtering component has zero information about them. They'd only get content-based (genre) recommendations, which are not personalized at all. This is the classic cold-start problem in recommendation systems.</a:t>
            </a:r>
          </a:p>
          <a:p>
            <a:r>
              <a:rPr lang="en-US" dirty="0"/>
              <a:t xml:space="preserve"> </a:t>
            </a:r>
          </a:p>
          <a:p>
            <a:r>
              <a:rPr lang="en-US" dirty="0"/>
              <a:t>Real-world fix: onboarding questionnaires, demographic-based seeding, or collecting a few initial ratings before running CF.</a:t>
            </a:r>
          </a:p>
          <a:p>
            <a:r>
              <a:rPr lang="en-US" dirty="0"/>
              <a:t xml:space="preserve"> </a:t>
            </a:r>
          </a:p>
          <a:p>
            <a:r>
              <a:rPr lang="en-US" dirty="0"/>
              <a:t>GENRE-ONLY CONTENT REPRESENTATION:</a:t>
            </a:r>
          </a:p>
          <a:p>
            <a:r>
              <a:rPr lang="en-US" dirty="0"/>
              <a:t>Our content-based component only looks at 19 binary genre tags. This is very limited. Consider: "Schindler's List" and "Indiana Jones and the Last Crusade" are both tagged as Adventure/Drama. But they're completely different films. The system can't distinguish them because it has no information about tone, director, cast, plot, or critical reception.</a:t>
            </a:r>
          </a:p>
          <a:p>
            <a:r>
              <a:rPr lang="en-US" dirty="0"/>
              <a:t xml:space="preserve"> </a:t>
            </a:r>
          </a:p>
          <a:p>
            <a:r>
              <a:rPr lang="en-US" dirty="0"/>
              <a:t>Real-world fix: use richer representations — Word2Vec or BERT on plot summaries, cast/director embeddings, etc.</a:t>
            </a:r>
          </a:p>
          <a:p>
            <a:r>
              <a:rPr lang="en-US" dirty="0"/>
              <a:t xml:space="preserve"> </a:t>
            </a:r>
          </a:p>
          <a:p>
            <a:r>
              <a:rPr lang="en-US" dirty="0"/>
              <a:t>HARDCODED BACKEND URL:</a:t>
            </a:r>
          </a:p>
          <a:p>
            <a:r>
              <a:rPr lang="en-US" dirty="0"/>
              <a:t>The Streamlit frontend points to localhost for the FastAPI server. On Streamlit Cloud, localhost refers to Streamlit's own servers, not ours. So the deployed app can't actually reach the FastAPI backend unless we host it publicly. This is a deployment architecture issue — we'd need to host FastAPI on a platform like Render or Railway.</a:t>
            </a:r>
          </a:p>
          <a:p>
            <a:r>
              <a:rPr lang="en-US" dirty="0"/>
              <a:t xml:space="preserve"> </a:t>
            </a:r>
          </a:p>
          <a:p>
            <a:r>
              <a:rPr lang="en-US" dirty="0"/>
              <a:t>TMDB POSTER MATCHING:</a:t>
            </a:r>
          </a:p>
          <a:p>
            <a:r>
              <a:rPr lang="en-US" dirty="0"/>
              <a:t>We use title strings as search queries. Movie titles aren't unique identifiers — a search for "Hamlet" could return any of several films. Year stripping helps but doesn't fully solve the problem. Using TMDB movie IDs would be the proper fix.</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&amp; Future Work</a:t>
            </a:r>
          </a:p>
          <a:p>
            <a:r>
              <a:rPr lang="en-US" dirty="0"/>
              <a:t xml:space="preserve"> </a:t>
            </a:r>
          </a:p>
          <a:p>
            <a:r>
              <a:rPr lang="en-US" dirty="0"/>
              <a:t>WHAT WE ACHIEVED:</a:t>
            </a:r>
          </a:p>
          <a:p>
            <a:r>
              <a:rPr lang="en-US" dirty="0"/>
              <a:t>- Full working hybrid recommendation engine with four filtering methods</a:t>
            </a:r>
          </a:p>
          <a:p>
            <a:r>
              <a:rPr lang="en-US" dirty="0"/>
              <a:t>- All four evaluation targets met (RMSE, MAE, Precision@10, Recall@10)</a:t>
            </a:r>
          </a:p>
          <a:p>
            <a:r>
              <a:rPr lang="en-US" dirty="0"/>
              <a:t>- Clean separation of concerns: FastAPI handles logic, Streamlit handles UI</a:t>
            </a:r>
          </a:p>
          <a:p>
            <a:r>
              <a:rPr lang="en-US" dirty="0"/>
              <a:t>- K=50 selected via hyperparameter tuning, not guessed</a:t>
            </a:r>
          </a:p>
          <a:p>
            <a:r>
              <a:rPr lang="en-US" dirty="0"/>
              <a:t>- TMDB integration for visual, poster-based recommendations</a:t>
            </a:r>
          </a:p>
          <a:p>
            <a:r>
              <a:rPr lang="en-US" dirty="0"/>
              <a:t>- Pre-computed pickle files for sub-second inference at runtime</a:t>
            </a:r>
          </a:p>
          <a:p>
            <a:r>
              <a:rPr lang="en-US" dirty="0"/>
              <a:t>- Live deployment on Streamlit Cloud</a:t>
            </a:r>
          </a:p>
          <a:p>
            <a:r>
              <a:rPr lang="en-US" dirty="0"/>
              <a:t xml:space="preserve"> </a:t>
            </a:r>
          </a:p>
          <a:p>
            <a:r>
              <a:rPr lang="en-US" dirty="0"/>
              <a:t>FUTURE DIRECTIONS:</a:t>
            </a:r>
          </a:p>
          <a:p>
            <a:r>
              <a:rPr lang="en-US" dirty="0"/>
              <a:t xml:space="preserve"> </a:t>
            </a:r>
          </a:p>
          <a:p>
            <a:r>
              <a:rPr lang="en-US" dirty="0"/>
              <a:t>Cold Start Fix:</a:t>
            </a:r>
          </a:p>
          <a:p>
            <a:r>
              <a:rPr lang="en-US" dirty="0"/>
              <a:t>Add an onboarding flow that asks new users to rate a few movies, or use demographic data to seed recommendations initially.</a:t>
            </a:r>
          </a:p>
          <a:p>
            <a:r>
              <a:rPr lang="en-US" dirty="0"/>
              <a:t xml:space="preserve"> </a:t>
            </a:r>
          </a:p>
          <a:p>
            <a:r>
              <a:rPr lang="en-US" dirty="0"/>
              <a:t>Deep Embeddings:</a:t>
            </a:r>
          </a:p>
          <a:p>
            <a:r>
              <a:rPr lang="en-US" dirty="0"/>
              <a:t>Replace 19 binary genre tags with dense vector representations. Word2Vec or BERT on movie plot summaries would capture meaning, not just category labels. A movie about war and a movie about romance would be far apart in embedding space even if tagged with similar genres.</a:t>
            </a:r>
          </a:p>
          <a:p>
            <a:r>
              <a:rPr lang="en-US" dirty="0"/>
              <a:t xml:space="preserve"> </a:t>
            </a:r>
          </a:p>
          <a:p>
            <a:r>
              <a:rPr lang="en-US" dirty="0"/>
              <a:t>Neural Collaborative Filtering (NCF):</a:t>
            </a:r>
          </a:p>
          <a:p>
            <a:r>
              <a:rPr lang="en-US" dirty="0"/>
              <a:t>Instead of linear matrix factorization (SVD), use deep neural networks to learn non-linear user-movie interaction patterns. NCF consistently outperforms SVD on benchmark datasets.</a:t>
            </a:r>
          </a:p>
          <a:p>
            <a:r>
              <a:rPr lang="en-US" dirty="0"/>
              <a:t xml:space="preserve"> </a:t>
            </a:r>
          </a:p>
          <a:p>
            <a:r>
              <a:rPr lang="en-US" dirty="0"/>
              <a:t>Public Backend Deployment:</a:t>
            </a:r>
          </a:p>
          <a:p>
            <a:r>
              <a:rPr lang="en-US" dirty="0"/>
              <a:t>Move FastAPI from localhost to a public host (Render, Railway, or AWS) so the Streamlit Cloud frontend can actually call it. This would make the full app truly accessible online.</a:t>
            </a:r>
          </a:p>
          <a:p>
            <a:r>
              <a:rPr lang="en-US" dirty="0"/>
              <a:t xml:space="preserve"> </a:t>
            </a:r>
          </a:p>
          <a:p>
            <a:r>
              <a:rPr lang="en-US" dirty="0"/>
              <a:t>Richer Content Features:</a:t>
            </a:r>
          </a:p>
          <a:p>
            <a:r>
              <a:rPr lang="en-US" dirty="0"/>
              <a:t>Add cast, director, release decade, and audience tags to the content model so the similarity calculation captures more than just genre.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Summary Slide</a:t>
            </a:r>
          </a:p>
          <a:p>
            <a:r>
              <a:rPr lang="en-US" dirty="0"/>
              <a:t xml:space="preserve"> </a:t>
            </a:r>
          </a:p>
          <a:p>
            <a:r>
              <a:rPr lang="en-US" dirty="0"/>
              <a:t>Key numbers to remember from CineMatch:</a:t>
            </a:r>
          </a:p>
          <a:p>
            <a:r>
              <a:rPr lang="en-US" dirty="0"/>
              <a:t xml:space="preserve"> </a:t>
            </a:r>
          </a:p>
          <a:p>
            <a:r>
              <a:rPr lang="en-US" dirty="0"/>
              <a:t>4 Filtering Methods: Content-Based, User-Based CF, Item-Based CF, SVD</a:t>
            </a:r>
          </a:p>
          <a:p>
            <a:r>
              <a:rPr lang="en-US" dirty="0"/>
              <a:t>All 4 Evaluation Targets Met: RMSE ≤ 1.10, MAE ≤ 0.90, Precision@10 ≥ 0.50, Recall@10 ≥ 0.45</a:t>
            </a:r>
          </a:p>
          <a:p>
            <a:r>
              <a:rPr lang="en-US" dirty="0"/>
              <a:t>100K Ratings Processed from MovieLens 100K</a:t>
            </a:r>
          </a:p>
          <a:p>
            <a:r>
              <a:rPr lang="en-US" dirty="0"/>
              <a:t>Live Deployment on Streamlit Cloud</a:t>
            </a:r>
          </a:p>
          <a:p>
            <a:r>
              <a:rPr lang="en-US" dirty="0"/>
              <a:t xml:space="preserve"> </a:t>
            </a:r>
          </a:p>
          <a:p>
            <a:r>
              <a:rPr lang="en-US" dirty="0"/>
              <a:t>The main technical insight: no single filtering method is universally best. A hybrid approach that combines behavioral signals (collaborative filtering) with item properties (content-based) is more robust and handles edge cases better than either method alone.</a:t>
            </a:r>
          </a:p>
          <a:p>
            <a:r>
              <a:rPr lang="en-US" dirty="0"/>
              <a:t xml:space="preserve"> </a:t>
            </a:r>
          </a:p>
          <a:p>
            <a:r>
              <a:rPr lang="en-US" dirty="0"/>
              <a:t>The 60/40 weighting was chosen based on the principle that user behavior is a stronger signal than genre labels — but genre acts as a reliable fallback when behavioral data is sparse.</a:t>
            </a:r>
          </a:p>
          <a:p>
            <a:r>
              <a:rPr lang="en-US" dirty="0"/>
              <a:t xml:space="preserve"> </a:t>
            </a:r>
          </a:p>
          <a:p>
            <a:r>
              <a:rPr lang="en-US" dirty="0"/>
              <a:t>Live app: cinematch-fast-nuces.streamlit.app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B84B"/>
          </a:solidFill>
          <a:ln w="12700">
            <a:solidFill>
              <a:srgbClr val="E8B84B"/>
            </a:solidFill>
            <a:prstDash val="solid"/>
          </a:ln>
        </p:spPr>
      </p:sp>
      <p:sp>
        <p:nvSpPr>
          <p:cNvPr id="3" name="Shape 1"/>
          <p:cNvSpPr/>
          <p:nvPr/>
        </p:nvSpPr>
        <p:spPr>
          <a:xfrm>
            <a:off x="6583680" y="0"/>
            <a:ext cx="2560320" cy="5143500"/>
          </a:xfrm>
          <a:prstGeom prst="rect">
            <a:avLst/>
          </a:prstGeom>
          <a:solidFill>
            <a:srgbClr val="0A1628"/>
          </a:solidFill>
          <a:ln w="12700">
            <a:solidFill>
              <a:srgbClr val="0A1628"/>
            </a:solidFill>
            <a:prstDash val="solid"/>
          </a:ln>
        </p:spPr>
      </p:sp>
      <p:sp>
        <p:nvSpPr>
          <p:cNvPr id="4" name="Shape 2"/>
          <p:cNvSpPr/>
          <p:nvPr/>
        </p:nvSpPr>
        <p:spPr>
          <a:xfrm>
            <a:off x="6583680" y="2103120"/>
            <a:ext cx="2560320" cy="54864"/>
          </a:xfrm>
          <a:prstGeom prst="rect">
            <a:avLst/>
          </a:prstGeom>
          <a:solidFill>
            <a:srgbClr val="E8B84B"/>
          </a:solidFill>
          <a:ln w="12700">
            <a:solidFill>
              <a:srgbClr val="E8B84B"/>
            </a:solidFill>
            <a:prstDash val="solid"/>
          </a:ln>
        </p:spPr>
      </p:sp>
      <p:sp>
        <p:nvSpPr>
          <p:cNvPr id="5" name="Text 3"/>
          <p:cNvSpPr/>
          <p:nvPr/>
        </p:nvSpPr>
        <p:spPr>
          <a:xfrm>
            <a:off x="502920" y="914400"/>
            <a:ext cx="5852160" cy="1005840"/>
          </a:xfrm>
          <a:prstGeom prst="rect">
            <a:avLst/>
          </a:prstGeom>
          <a:noFill/>
          <a:ln/>
        </p:spPr>
        <p:txBody>
          <a:bodyPr wrap="square"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CineMatch</a:t>
            </a:r>
            <a:endParaRPr lang="en-US" sz="6000" dirty="0"/>
          </a:p>
        </p:txBody>
      </p:sp>
      <p:sp>
        <p:nvSpPr>
          <p:cNvPr id="6" name="Text 4"/>
          <p:cNvSpPr/>
          <p:nvPr/>
        </p:nvSpPr>
        <p:spPr>
          <a:xfrm>
            <a:off x="502920" y="1920240"/>
            <a:ext cx="5852160" cy="502920"/>
          </a:xfrm>
          <a:prstGeom prst="rect">
            <a:avLst/>
          </a:prstGeom>
          <a:noFill/>
          <a:ln/>
        </p:spPr>
        <p:txBody>
          <a:bodyPr wrap="square" rtlCol="0" anchor="ctr"/>
          <a:lstStyle/>
          <a:p>
            <a:pPr indent="0" marL="0">
              <a:buNone/>
            </a:pPr>
            <a:r>
              <a:rPr lang="en-US" sz="1800" i="1" dirty="0">
                <a:solidFill>
                  <a:srgbClr val="E8B84B"/>
                </a:solidFill>
                <a:latin typeface="Calibri" pitchFamily="34" charset="0"/>
                <a:ea typeface="Calibri" pitchFamily="34" charset="-122"/>
                <a:cs typeface="Calibri" pitchFamily="34" charset="-120"/>
              </a:rPr>
              <a:t>An Intelligent Movie Recommendation Engine</a:t>
            </a:r>
            <a:endParaRPr lang="en-US" sz="1800" dirty="0"/>
          </a:p>
        </p:txBody>
      </p:sp>
      <p:sp>
        <p:nvSpPr>
          <p:cNvPr id="7" name="Shape 5"/>
          <p:cNvSpPr/>
          <p:nvPr/>
        </p:nvSpPr>
        <p:spPr>
          <a:xfrm>
            <a:off x="502920" y="2514600"/>
            <a:ext cx="4114800" cy="36576"/>
          </a:xfrm>
          <a:prstGeom prst="rect">
            <a:avLst/>
          </a:prstGeom>
          <a:solidFill>
            <a:srgbClr val="E8B84B"/>
          </a:solidFill>
          <a:ln w="12700">
            <a:solidFill>
              <a:srgbClr val="E8B84B"/>
            </a:solidFill>
            <a:prstDash val="solid"/>
          </a:ln>
        </p:spPr>
      </p:sp>
      <p:sp>
        <p:nvSpPr>
          <p:cNvPr id="8" name="Text 6"/>
          <p:cNvSpPr/>
          <p:nvPr/>
        </p:nvSpPr>
        <p:spPr>
          <a:xfrm>
            <a:off x="502920" y="2788920"/>
            <a:ext cx="5029200" cy="329184"/>
          </a:xfrm>
          <a:prstGeom prst="rect">
            <a:avLst/>
          </a:prstGeom>
          <a:noFill/>
          <a:ln/>
        </p:spPr>
        <p:txBody>
          <a:bodyPr wrap="square" rtlCol="0" anchor="ctr"/>
          <a:lstStyle/>
          <a:p>
            <a:pPr indent="0" marL="0">
              <a:buNone/>
            </a:pPr>
            <a:r>
              <a:rPr lang="en-US" sz="1300" dirty="0">
                <a:solidFill>
                  <a:srgbClr val="8BA3C0"/>
                </a:solidFill>
                <a:latin typeface="Calibri" pitchFamily="34" charset="0"/>
                <a:ea typeface="Calibri" pitchFamily="34" charset="-122"/>
                <a:cs typeface="Calibri" pitchFamily="34" charset="-120"/>
              </a:rPr>
              <a:t>Tayaba Khan  —  24K-0934</a:t>
            </a:r>
            <a:endParaRPr lang="en-US" sz="1300" dirty="0"/>
          </a:p>
        </p:txBody>
      </p:sp>
      <p:sp>
        <p:nvSpPr>
          <p:cNvPr id="9" name="Text 7"/>
          <p:cNvSpPr/>
          <p:nvPr/>
        </p:nvSpPr>
        <p:spPr>
          <a:xfrm>
            <a:off x="502920" y="3136392"/>
            <a:ext cx="5029200" cy="329184"/>
          </a:xfrm>
          <a:prstGeom prst="rect">
            <a:avLst/>
          </a:prstGeom>
          <a:noFill/>
          <a:ln/>
        </p:spPr>
        <p:txBody>
          <a:bodyPr wrap="square" rtlCol="0" anchor="ctr"/>
          <a:lstStyle/>
          <a:p>
            <a:pPr indent="0" marL="0">
              <a:buNone/>
            </a:pPr>
            <a:r>
              <a:rPr lang="en-US" sz="1300" dirty="0">
                <a:solidFill>
                  <a:srgbClr val="8BA3C0"/>
                </a:solidFill>
                <a:latin typeface="Calibri" pitchFamily="34" charset="0"/>
                <a:ea typeface="Calibri" pitchFamily="34" charset="-122"/>
                <a:cs typeface="Calibri" pitchFamily="34" charset="-120"/>
              </a:rPr>
              <a:t>Wardah Ahmed  —  24K-1045</a:t>
            </a:r>
            <a:endParaRPr lang="en-US" sz="1300" dirty="0"/>
          </a:p>
        </p:txBody>
      </p:sp>
      <p:sp>
        <p:nvSpPr>
          <p:cNvPr id="10" name="Text 8"/>
          <p:cNvSpPr/>
          <p:nvPr/>
        </p:nvSpPr>
        <p:spPr>
          <a:xfrm>
            <a:off x="502920" y="3483864"/>
            <a:ext cx="5029200" cy="329184"/>
          </a:xfrm>
          <a:prstGeom prst="rect">
            <a:avLst/>
          </a:prstGeom>
          <a:noFill/>
          <a:ln/>
        </p:spPr>
        <p:txBody>
          <a:bodyPr wrap="square" rtlCol="0" anchor="ctr"/>
          <a:lstStyle/>
          <a:p>
            <a:pPr indent="0" marL="0">
              <a:buNone/>
            </a:pPr>
            <a:r>
              <a:rPr lang="en-US" sz="1300" dirty="0">
                <a:solidFill>
                  <a:srgbClr val="8BA3C0"/>
                </a:solidFill>
                <a:latin typeface="Calibri" pitchFamily="34" charset="0"/>
                <a:ea typeface="Calibri" pitchFamily="34" charset="-122"/>
                <a:cs typeface="Calibri" pitchFamily="34" charset="-120"/>
              </a:rPr>
              <a:t>Humna Fatime  —  23K-1016</a:t>
            </a:r>
            <a:endParaRPr lang="en-US" sz="1300" dirty="0"/>
          </a:p>
        </p:txBody>
      </p:sp>
      <p:sp>
        <p:nvSpPr>
          <p:cNvPr id="11" name="Text 9"/>
          <p:cNvSpPr/>
          <p:nvPr/>
        </p:nvSpPr>
        <p:spPr>
          <a:xfrm>
            <a:off x="6675120" y="914400"/>
            <a:ext cx="2286000" cy="365760"/>
          </a:xfrm>
          <a:prstGeom prst="rect">
            <a:avLst/>
          </a:prstGeom>
          <a:noFill/>
          <a:ln/>
        </p:spPr>
        <p:txBody>
          <a:bodyPr wrap="square" rtlCol="0" anchor="ctr"/>
          <a:lstStyle/>
          <a:p>
            <a:pPr indent="0" marL="0">
              <a:buNone/>
            </a:pPr>
            <a:r>
              <a:rPr lang="en-US" sz="1100" spc="400" kern="0" dirty="0">
                <a:solidFill>
                  <a:srgbClr val="E8B84B"/>
                </a:solidFill>
                <a:latin typeface="Calibri" pitchFamily="34" charset="0"/>
                <a:ea typeface="Calibri" pitchFamily="34" charset="-122"/>
                <a:cs typeface="Calibri" pitchFamily="34" charset="-120"/>
              </a:rPr>
              <a:t>AI PROJECT</a:t>
            </a:r>
            <a:endParaRPr lang="en-US" sz="1100" dirty="0"/>
          </a:p>
        </p:txBody>
      </p:sp>
      <p:sp>
        <p:nvSpPr>
          <p:cNvPr id="12" name="Text 10"/>
          <p:cNvSpPr/>
          <p:nvPr/>
        </p:nvSpPr>
        <p:spPr>
          <a:xfrm>
            <a:off x="6675120" y="1325880"/>
            <a:ext cx="228600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FAST NUCES</a:t>
            </a:r>
            <a:endParaRPr lang="en-US" sz="1300" dirty="0"/>
          </a:p>
        </p:txBody>
      </p:sp>
      <p:sp>
        <p:nvSpPr>
          <p:cNvPr id="13" name="Text 11"/>
          <p:cNvSpPr/>
          <p:nvPr/>
        </p:nvSpPr>
        <p:spPr>
          <a:xfrm>
            <a:off x="6675120" y="1664208"/>
            <a:ext cx="2286000" cy="274320"/>
          </a:xfrm>
          <a:prstGeom prst="rect">
            <a:avLst/>
          </a:prstGeom>
          <a:noFill/>
          <a:ln/>
        </p:spPr>
        <p:txBody>
          <a:bodyPr wrap="square" rtlCol="0" anchor="ctr"/>
          <a:lstStyle/>
          <a:p>
            <a:pPr indent="0" marL="0">
              <a:buNone/>
            </a:pPr>
            <a:r>
              <a:rPr lang="en-US" sz="1100" dirty="0">
                <a:solidFill>
                  <a:srgbClr val="8BA3C0"/>
                </a:solidFill>
                <a:latin typeface="Calibri" pitchFamily="34" charset="0"/>
                <a:ea typeface="Calibri" pitchFamily="34" charset="-122"/>
                <a:cs typeface="Calibri" pitchFamily="34" charset="-120"/>
              </a:rPr>
              <a:t>Spring 2026</a:t>
            </a:r>
            <a:endParaRPr lang="en-US" sz="1100" dirty="0"/>
          </a:p>
        </p:txBody>
      </p:sp>
      <p:sp>
        <p:nvSpPr>
          <p:cNvPr id="14" name="Text 12"/>
          <p:cNvSpPr/>
          <p:nvPr/>
        </p:nvSpPr>
        <p:spPr>
          <a:xfrm>
            <a:off x="6675120" y="4389120"/>
            <a:ext cx="2286000" cy="320040"/>
          </a:xfrm>
          <a:prstGeom prst="rect">
            <a:avLst/>
          </a:prstGeom>
          <a:noFill/>
          <a:ln/>
        </p:spPr>
        <p:txBody>
          <a:bodyPr wrap="square" rtlCol="0" anchor="ctr"/>
          <a:lstStyle/>
          <a:p>
            <a:pPr indent="0" marL="0">
              <a:buNone/>
            </a:pPr>
            <a:r>
              <a:rPr lang="en-US" sz="900" dirty="0">
                <a:solidFill>
                  <a:srgbClr val="E8B84B"/>
                </a:solidFill>
                <a:latin typeface="Calibri" pitchFamily="34" charset="0"/>
                <a:ea typeface="Calibri" pitchFamily="34" charset="-122"/>
                <a:cs typeface="Calibri" pitchFamily="34" charset="-120"/>
              </a:rPr>
              <a:t>🔗  cinematch-fast-nuces.streamlit.app</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w="12700">
            <a:solidFill>
              <a:srgbClr val="0A1628"/>
            </a:solidFill>
            <a:prstDash val="solid"/>
          </a:ln>
        </p:spPr>
      </p:sp>
      <p:sp>
        <p:nvSpPr>
          <p:cNvPr id="3" name="Text 1"/>
          <p:cNvSpPr/>
          <p:nvPr/>
        </p:nvSpPr>
        <p:spPr>
          <a:xfrm>
            <a:off x="365760" y="0"/>
            <a:ext cx="8229600" cy="685800"/>
          </a:xfrm>
          <a:prstGeom prst="rect">
            <a:avLst/>
          </a:prstGeom>
          <a:noFill/>
          <a:ln/>
        </p:spPr>
        <p:txBody>
          <a:bodyPr wrap="square" rtlCol="0" anchor="ctr"/>
          <a:lstStyle/>
          <a:p>
            <a:pPr indent="0" marL="0">
              <a:buNone/>
            </a:pPr>
            <a:r>
              <a:rPr lang="en-US" sz="1400" b="1" spc="500" kern="0" dirty="0">
                <a:solidFill>
                  <a:srgbClr val="FFFFFF"/>
                </a:solidFill>
                <a:latin typeface="Calibri" pitchFamily="34" charset="0"/>
                <a:ea typeface="Calibri" pitchFamily="34" charset="-122"/>
                <a:cs typeface="Calibri" pitchFamily="34" charset="-120"/>
              </a:rPr>
              <a:t>AGENDA</a:t>
            </a:r>
            <a:endParaRPr lang="en-US" sz="1400" dirty="0"/>
          </a:p>
        </p:txBody>
      </p:sp>
      <p:sp>
        <p:nvSpPr>
          <p:cNvPr id="4" name="Shape 2"/>
          <p:cNvSpPr/>
          <p:nvPr/>
        </p:nvSpPr>
        <p:spPr>
          <a:xfrm>
            <a:off x="365760" y="914400"/>
            <a:ext cx="4206240" cy="868680"/>
          </a:xfrm>
          <a:prstGeom prst="rect">
            <a:avLst/>
          </a:prstGeom>
          <a:solidFill>
            <a:srgbClr val="FFFFFF"/>
          </a:solidFill>
          <a:ln w="12700">
            <a:solidFill>
              <a:srgbClr val="EDE8DE"/>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65760" y="914400"/>
            <a:ext cx="502920" cy="868680"/>
          </a:xfrm>
          <a:prstGeom prst="rect">
            <a:avLst/>
          </a:prstGeom>
          <a:solidFill>
            <a:srgbClr val="E8B84B"/>
          </a:solidFill>
          <a:ln w="12700">
            <a:solidFill>
              <a:srgbClr val="E8B84B"/>
            </a:solidFill>
            <a:prstDash val="solid"/>
          </a:ln>
        </p:spPr>
      </p:sp>
      <p:sp>
        <p:nvSpPr>
          <p:cNvPr id="6" name="Text 4"/>
          <p:cNvSpPr/>
          <p:nvPr/>
        </p:nvSpPr>
        <p:spPr>
          <a:xfrm>
            <a:off x="365760" y="914400"/>
            <a:ext cx="502920" cy="8686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7" name="Text 5"/>
          <p:cNvSpPr/>
          <p:nvPr/>
        </p:nvSpPr>
        <p:spPr>
          <a:xfrm>
            <a:off x="960120" y="960120"/>
            <a:ext cx="3520440" cy="320040"/>
          </a:xfrm>
          <a:prstGeom prst="rect">
            <a:avLst/>
          </a:prstGeom>
          <a:noFill/>
          <a:ln/>
        </p:spPr>
        <p:txBody>
          <a:bodyPr wrap="square" rtlCol="0" anchor="ctr"/>
          <a:lstStyle/>
          <a:p>
            <a:pPr indent="0" marL="0">
              <a:buNone/>
            </a:pPr>
            <a:r>
              <a:rPr lang="en-US" sz="1200" b="1" dirty="0">
                <a:solidFill>
                  <a:srgbClr val="516985"/>
                </a:solidFill>
                <a:latin typeface="Calibri" pitchFamily="34" charset="0"/>
                <a:ea typeface="Calibri" pitchFamily="34" charset="-122"/>
                <a:cs typeface="Calibri" pitchFamily="34" charset="-120"/>
              </a:rPr>
              <a:t>Problem &amp; Motivation</a:t>
            </a:r>
            <a:endParaRPr lang="en-US" sz="1200" dirty="0"/>
          </a:p>
        </p:txBody>
      </p:sp>
      <p:sp>
        <p:nvSpPr>
          <p:cNvPr id="8" name="Text 6"/>
          <p:cNvSpPr/>
          <p:nvPr/>
        </p:nvSpPr>
        <p:spPr>
          <a:xfrm>
            <a:off x="960120" y="1298448"/>
            <a:ext cx="3520440" cy="411480"/>
          </a:xfrm>
          <a:prstGeom prst="rect">
            <a:avLst/>
          </a:prstGeom>
          <a:noFill/>
          <a:ln/>
        </p:spPr>
        <p:txBody>
          <a:bodyPr wrap="square" rtlCol="0" anchor="ctr"/>
          <a:lstStyle/>
          <a:p>
            <a:pPr indent="0" marL="0">
              <a:buNone/>
            </a:pPr>
            <a:r>
              <a:rPr lang="en-US" sz="950" dirty="0">
                <a:solidFill>
                  <a:srgbClr val="8BA3C0"/>
                </a:solidFill>
                <a:latin typeface="Calibri" pitchFamily="34" charset="0"/>
                <a:ea typeface="Calibri" pitchFamily="34" charset="-122"/>
                <a:cs typeface="Calibri" pitchFamily="34" charset="-120"/>
              </a:rPr>
              <a:t>Choice paralysis and the need for intelligent recommendations</a:t>
            </a:r>
            <a:endParaRPr lang="en-US" sz="950" dirty="0"/>
          </a:p>
        </p:txBody>
      </p:sp>
      <p:sp>
        <p:nvSpPr>
          <p:cNvPr id="9" name="Shape 7"/>
          <p:cNvSpPr/>
          <p:nvPr/>
        </p:nvSpPr>
        <p:spPr>
          <a:xfrm>
            <a:off x="365760" y="1920240"/>
            <a:ext cx="4206240" cy="868680"/>
          </a:xfrm>
          <a:prstGeom prst="rect">
            <a:avLst/>
          </a:prstGeom>
          <a:solidFill>
            <a:srgbClr val="FFFFFF"/>
          </a:solidFill>
          <a:ln w="12700">
            <a:solidFill>
              <a:srgbClr val="EDE8DE"/>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65760" y="1920240"/>
            <a:ext cx="502920" cy="868680"/>
          </a:xfrm>
          <a:prstGeom prst="rect">
            <a:avLst/>
          </a:prstGeom>
          <a:solidFill>
            <a:srgbClr val="E8B84B"/>
          </a:solidFill>
          <a:ln w="12700">
            <a:solidFill>
              <a:srgbClr val="E8B84B"/>
            </a:solidFill>
            <a:prstDash val="solid"/>
          </a:ln>
        </p:spPr>
      </p:sp>
      <p:sp>
        <p:nvSpPr>
          <p:cNvPr id="11" name="Text 9"/>
          <p:cNvSpPr/>
          <p:nvPr/>
        </p:nvSpPr>
        <p:spPr>
          <a:xfrm>
            <a:off x="365760" y="1920240"/>
            <a:ext cx="502920" cy="8686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2" name="Text 10"/>
          <p:cNvSpPr/>
          <p:nvPr/>
        </p:nvSpPr>
        <p:spPr>
          <a:xfrm>
            <a:off x="960120" y="1965960"/>
            <a:ext cx="3520440" cy="320040"/>
          </a:xfrm>
          <a:prstGeom prst="rect">
            <a:avLst/>
          </a:prstGeom>
          <a:noFill/>
          <a:ln/>
        </p:spPr>
        <p:txBody>
          <a:bodyPr wrap="square" rtlCol="0" anchor="ctr"/>
          <a:lstStyle/>
          <a:p>
            <a:pPr indent="0" marL="0">
              <a:buNone/>
            </a:pPr>
            <a:r>
              <a:rPr lang="en-US" sz="1200" b="1" dirty="0">
                <a:solidFill>
                  <a:srgbClr val="516985"/>
                </a:solidFill>
                <a:latin typeface="Calibri" pitchFamily="34" charset="0"/>
                <a:ea typeface="Calibri" pitchFamily="34" charset="-122"/>
                <a:cs typeface="Calibri" pitchFamily="34" charset="-120"/>
              </a:rPr>
              <a:t>Dataset</a:t>
            </a:r>
            <a:endParaRPr lang="en-US" sz="1200" dirty="0"/>
          </a:p>
        </p:txBody>
      </p:sp>
      <p:sp>
        <p:nvSpPr>
          <p:cNvPr id="13" name="Text 11"/>
          <p:cNvSpPr/>
          <p:nvPr/>
        </p:nvSpPr>
        <p:spPr>
          <a:xfrm>
            <a:off x="960120" y="2304288"/>
            <a:ext cx="3520440" cy="411480"/>
          </a:xfrm>
          <a:prstGeom prst="rect">
            <a:avLst/>
          </a:prstGeom>
          <a:noFill/>
          <a:ln/>
        </p:spPr>
        <p:txBody>
          <a:bodyPr wrap="square" rtlCol="0" anchor="ctr"/>
          <a:lstStyle/>
          <a:p>
            <a:pPr indent="0" marL="0">
              <a:buNone/>
            </a:pPr>
            <a:r>
              <a:rPr lang="en-US" sz="950" dirty="0">
                <a:solidFill>
                  <a:srgbClr val="8BA3C0"/>
                </a:solidFill>
                <a:latin typeface="Calibri" pitchFamily="34" charset="0"/>
                <a:ea typeface="Calibri" pitchFamily="34" charset="-122"/>
                <a:cs typeface="Calibri" pitchFamily="34" charset="-120"/>
              </a:rPr>
              <a:t>MovieLens 100K — 943 users, 1,682 movies, 100,000 ratings</a:t>
            </a:r>
            <a:endParaRPr lang="en-US" sz="950" dirty="0"/>
          </a:p>
        </p:txBody>
      </p:sp>
      <p:sp>
        <p:nvSpPr>
          <p:cNvPr id="14" name="Shape 12"/>
          <p:cNvSpPr/>
          <p:nvPr/>
        </p:nvSpPr>
        <p:spPr>
          <a:xfrm>
            <a:off x="365760" y="2926080"/>
            <a:ext cx="4206240" cy="868680"/>
          </a:xfrm>
          <a:prstGeom prst="rect">
            <a:avLst/>
          </a:prstGeom>
          <a:solidFill>
            <a:srgbClr val="FFFFFF"/>
          </a:solidFill>
          <a:ln w="12700">
            <a:solidFill>
              <a:srgbClr val="EDE8DE"/>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365760" y="2926080"/>
            <a:ext cx="502920" cy="868680"/>
          </a:xfrm>
          <a:prstGeom prst="rect">
            <a:avLst/>
          </a:prstGeom>
          <a:solidFill>
            <a:srgbClr val="E8B84B"/>
          </a:solidFill>
          <a:ln w="12700">
            <a:solidFill>
              <a:srgbClr val="E8B84B"/>
            </a:solidFill>
            <a:prstDash val="solid"/>
          </a:ln>
        </p:spPr>
      </p:sp>
      <p:sp>
        <p:nvSpPr>
          <p:cNvPr id="16" name="Text 14"/>
          <p:cNvSpPr/>
          <p:nvPr/>
        </p:nvSpPr>
        <p:spPr>
          <a:xfrm>
            <a:off x="365760" y="2926080"/>
            <a:ext cx="502920" cy="8686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7" name="Text 15"/>
          <p:cNvSpPr/>
          <p:nvPr/>
        </p:nvSpPr>
        <p:spPr>
          <a:xfrm>
            <a:off x="960120" y="2971800"/>
            <a:ext cx="3520440" cy="320040"/>
          </a:xfrm>
          <a:prstGeom prst="rect">
            <a:avLst/>
          </a:prstGeom>
          <a:noFill/>
          <a:ln/>
        </p:spPr>
        <p:txBody>
          <a:bodyPr wrap="square" rtlCol="0" anchor="ctr"/>
          <a:lstStyle/>
          <a:p>
            <a:pPr indent="0" marL="0">
              <a:buNone/>
            </a:pPr>
            <a:r>
              <a:rPr lang="en-US" sz="1200" b="1" dirty="0">
                <a:solidFill>
                  <a:srgbClr val="516985"/>
                </a:solidFill>
                <a:latin typeface="Calibri" pitchFamily="34" charset="0"/>
                <a:ea typeface="Calibri" pitchFamily="34" charset="-122"/>
                <a:cs typeface="Calibri" pitchFamily="34" charset="-120"/>
              </a:rPr>
              <a:t>System Architecture</a:t>
            </a:r>
            <a:endParaRPr lang="en-US" sz="1200" dirty="0"/>
          </a:p>
        </p:txBody>
      </p:sp>
      <p:sp>
        <p:nvSpPr>
          <p:cNvPr id="18" name="Text 16"/>
          <p:cNvSpPr/>
          <p:nvPr/>
        </p:nvSpPr>
        <p:spPr>
          <a:xfrm>
            <a:off x="960120" y="3310128"/>
            <a:ext cx="3520440" cy="411480"/>
          </a:xfrm>
          <a:prstGeom prst="rect">
            <a:avLst/>
          </a:prstGeom>
          <a:noFill/>
          <a:ln/>
        </p:spPr>
        <p:txBody>
          <a:bodyPr wrap="square" rtlCol="0" anchor="ctr"/>
          <a:lstStyle/>
          <a:p>
            <a:pPr indent="0" marL="0">
              <a:buNone/>
            </a:pPr>
            <a:r>
              <a:rPr lang="en-US" sz="950" dirty="0">
                <a:solidFill>
                  <a:srgbClr val="8BA3C0"/>
                </a:solidFill>
                <a:latin typeface="Calibri" pitchFamily="34" charset="0"/>
                <a:ea typeface="Calibri" pitchFamily="34" charset="-122"/>
                <a:cs typeface="Calibri" pitchFamily="34" charset="-120"/>
              </a:rPr>
              <a:t>FastAPI backend + Streamlit frontend + TMDB API</a:t>
            </a:r>
            <a:endParaRPr lang="en-US" sz="950" dirty="0"/>
          </a:p>
        </p:txBody>
      </p:sp>
      <p:sp>
        <p:nvSpPr>
          <p:cNvPr id="19" name="Shape 17"/>
          <p:cNvSpPr/>
          <p:nvPr/>
        </p:nvSpPr>
        <p:spPr>
          <a:xfrm>
            <a:off x="365760" y="3931920"/>
            <a:ext cx="4206240" cy="868680"/>
          </a:xfrm>
          <a:prstGeom prst="rect">
            <a:avLst/>
          </a:prstGeom>
          <a:solidFill>
            <a:srgbClr val="FFFFFF"/>
          </a:solidFill>
          <a:ln w="12700">
            <a:solidFill>
              <a:srgbClr val="EDE8DE"/>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365760" y="3931920"/>
            <a:ext cx="502920" cy="868680"/>
          </a:xfrm>
          <a:prstGeom prst="rect">
            <a:avLst/>
          </a:prstGeom>
          <a:solidFill>
            <a:srgbClr val="E8B84B"/>
          </a:solidFill>
          <a:ln w="12700">
            <a:solidFill>
              <a:srgbClr val="E8B84B"/>
            </a:solidFill>
            <a:prstDash val="solid"/>
          </a:ln>
        </p:spPr>
      </p:sp>
      <p:sp>
        <p:nvSpPr>
          <p:cNvPr id="21" name="Text 19"/>
          <p:cNvSpPr/>
          <p:nvPr/>
        </p:nvSpPr>
        <p:spPr>
          <a:xfrm>
            <a:off x="365760" y="3931920"/>
            <a:ext cx="502920" cy="8686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2" name="Text 20"/>
          <p:cNvSpPr/>
          <p:nvPr/>
        </p:nvSpPr>
        <p:spPr>
          <a:xfrm>
            <a:off x="960120" y="3977640"/>
            <a:ext cx="3520440" cy="320040"/>
          </a:xfrm>
          <a:prstGeom prst="rect">
            <a:avLst/>
          </a:prstGeom>
          <a:noFill/>
          <a:ln/>
        </p:spPr>
        <p:txBody>
          <a:bodyPr wrap="square" rtlCol="0" anchor="ctr"/>
          <a:lstStyle/>
          <a:p>
            <a:pPr indent="0" marL="0">
              <a:buNone/>
            </a:pPr>
            <a:r>
              <a:rPr lang="en-US" sz="1200" b="1" dirty="0">
                <a:solidFill>
                  <a:srgbClr val="516985"/>
                </a:solidFill>
                <a:latin typeface="Calibri" pitchFamily="34" charset="0"/>
                <a:ea typeface="Calibri" pitchFamily="34" charset="-122"/>
                <a:cs typeface="Calibri" pitchFamily="34" charset="-120"/>
              </a:rPr>
              <a:t>Methodology</a:t>
            </a:r>
            <a:endParaRPr lang="en-US" sz="1200" dirty="0"/>
          </a:p>
        </p:txBody>
      </p:sp>
      <p:sp>
        <p:nvSpPr>
          <p:cNvPr id="23" name="Text 21"/>
          <p:cNvSpPr/>
          <p:nvPr/>
        </p:nvSpPr>
        <p:spPr>
          <a:xfrm>
            <a:off x="960120" y="4315968"/>
            <a:ext cx="3520440" cy="411480"/>
          </a:xfrm>
          <a:prstGeom prst="rect">
            <a:avLst/>
          </a:prstGeom>
          <a:noFill/>
          <a:ln/>
        </p:spPr>
        <p:txBody>
          <a:bodyPr wrap="square" rtlCol="0" anchor="ctr"/>
          <a:lstStyle/>
          <a:p>
            <a:pPr indent="0" marL="0">
              <a:buNone/>
            </a:pPr>
            <a:r>
              <a:rPr lang="en-US" sz="950" dirty="0">
                <a:solidFill>
                  <a:srgbClr val="8BA3C0"/>
                </a:solidFill>
                <a:latin typeface="Calibri" pitchFamily="34" charset="0"/>
                <a:ea typeface="Calibri" pitchFamily="34" charset="-122"/>
                <a:cs typeface="Calibri" pitchFamily="34" charset="-120"/>
              </a:rPr>
              <a:t>Content-based, Collaborative, SVD &amp; Hybrid filtering</a:t>
            </a:r>
            <a:endParaRPr lang="en-US" sz="950" dirty="0"/>
          </a:p>
        </p:txBody>
      </p:sp>
      <p:sp>
        <p:nvSpPr>
          <p:cNvPr id="24" name="Shape 22"/>
          <p:cNvSpPr/>
          <p:nvPr/>
        </p:nvSpPr>
        <p:spPr>
          <a:xfrm>
            <a:off x="4846320" y="914400"/>
            <a:ext cx="4206240" cy="868680"/>
          </a:xfrm>
          <a:prstGeom prst="rect">
            <a:avLst/>
          </a:prstGeom>
          <a:solidFill>
            <a:srgbClr val="FFFFFF"/>
          </a:solidFill>
          <a:ln w="12700">
            <a:solidFill>
              <a:srgbClr val="EDE8DE"/>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4846320" y="914400"/>
            <a:ext cx="502920" cy="868680"/>
          </a:xfrm>
          <a:prstGeom prst="rect">
            <a:avLst/>
          </a:prstGeom>
          <a:solidFill>
            <a:srgbClr val="E8B84B"/>
          </a:solidFill>
          <a:ln w="12700">
            <a:solidFill>
              <a:srgbClr val="E8B84B"/>
            </a:solidFill>
            <a:prstDash val="solid"/>
          </a:ln>
        </p:spPr>
      </p:sp>
      <p:sp>
        <p:nvSpPr>
          <p:cNvPr id="26" name="Text 24"/>
          <p:cNvSpPr/>
          <p:nvPr/>
        </p:nvSpPr>
        <p:spPr>
          <a:xfrm>
            <a:off x="4846320" y="914400"/>
            <a:ext cx="502920" cy="8686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27" name="Text 25"/>
          <p:cNvSpPr/>
          <p:nvPr/>
        </p:nvSpPr>
        <p:spPr>
          <a:xfrm>
            <a:off x="5440680" y="960120"/>
            <a:ext cx="3520440" cy="320040"/>
          </a:xfrm>
          <a:prstGeom prst="rect">
            <a:avLst/>
          </a:prstGeom>
          <a:noFill/>
          <a:ln/>
        </p:spPr>
        <p:txBody>
          <a:bodyPr wrap="square" rtlCol="0" anchor="ctr"/>
          <a:lstStyle/>
          <a:p>
            <a:pPr indent="0" marL="0">
              <a:buNone/>
            </a:pPr>
            <a:r>
              <a:rPr lang="en-US" sz="1200" b="1" dirty="0">
                <a:solidFill>
                  <a:srgbClr val="516985"/>
                </a:solidFill>
                <a:latin typeface="Calibri" pitchFamily="34" charset="0"/>
                <a:ea typeface="Calibri" pitchFamily="34" charset="-122"/>
                <a:cs typeface="Calibri" pitchFamily="34" charset="-120"/>
              </a:rPr>
              <a:t>Evaluation &amp; Results</a:t>
            </a:r>
            <a:endParaRPr lang="en-US" sz="1200" dirty="0"/>
          </a:p>
        </p:txBody>
      </p:sp>
      <p:sp>
        <p:nvSpPr>
          <p:cNvPr id="28" name="Text 26"/>
          <p:cNvSpPr/>
          <p:nvPr/>
        </p:nvSpPr>
        <p:spPr>
          <a:xfrm>
            <a:off x="5440680" y="1298448"/>
            <a:ext cx="3520440" cy="411480"/>
          </a:xfrm>
          <a:prstGeom prst="rect">
            <a:avLst/>
          </a:prstGeom>
          <a:noFill/>
          <a:ln/>
        </p:spPr>
        <p:txBody>
          <a:bodyPr wrap="square" rtlCol="0" anchor="ctr"/>
          <a:lstStyle/>
          <a:p>
            <a:pPr indent="0" marL="0">
              <a:buNone/>
            </a:pPr>
            <a:r>
              <a:rPr lang="en-US" sz="950" dirty="0">
                <a:solidFill>
                  <a:srgbClr val="8BA3C0"/>
                </a:solidFill>
                <a:latin typeface="Calibri" pitchFamily="34" charset="0"/>
                <a:ea typeface="Calibri" pitchFamily="34" charset="-122"/>
                <a:cs typeface="Calibri" pitchFamily="34" charset="-120"/>
              </a:rPr>
              <a:t>RMSE, MAE, Precision@10, Recall@10 with hyperparameter tuning</a:t>
            </a:r>
            <a:endParaRPr lang="en-US" sz="950" dirty="0"/>
          </a:p>
        </p:txBody>
      </p:sp>
      <p:sp>
        <p:nvSpPr>
          <p:cNvPr id="29" name="Shape 27"/>
          <p:cNvSpPr/>
          <p:nvPr/>
        </p:nvSpPr>
        <p:spPr>
          <a:xfrm>
            <a:off x="4846320" y="1920240"/>
            <a:ext cx="4206240" cy="868680"/>
          </a:xfrm>
          <a:prstGeom prst="rect">
            <a:avLst/>
          </a:prstGeom>
          <a:solidFill>
            <a:srgbClr val="FFFFFF"/>
          </a:solidFill>
          <a:ln w="12700">
            <a:solidFill>
              <a:srgbClr val="EDE8DE"/>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4846320" y="1920240"/>
            <a:ext cx="502920" cy="868680"/>
          </a:xfrm>
          <a:prstGeom prst="rect">
            <a:avLst/>
          </a:prstGeom>
          <a:solidFill>
            <a:srgbClr val="E8B84B"/>
          </a:solidFill>
          <a:ln w="12700">
            <a:solidFill>
              <a:srgbClr val="E8B84B"/>
            </a:solidFill>
            <a:prstDash val="solid"/>
          </a:ln>
        </p:spPr>
      </p:sp>
      <p:sp>
        <p:nvSpPr>
          <p:cNvPr id="31" name="Text 29"/>
          <p:cNvSpPr/>
          <p:nvPr/>
        </p:nvSpPr>
        <p:spPr>
          <a:xfrm>
            <a:off x="4846320" y="1920240"/>
            <a:ext cx="502920" cy="8686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32" name="Text 30"/>
          <p:cNvSpPr/>
          <p:nvPr/>
        </p:nvSpPr>
        <p:spPr>
          <a:xfrm>
            <a:off x="5440680" y="1965960"/>
            <a:ext cx="3520440" cy="320040"/>
          </a:xfrm>
          <a:prstGeom prst="rect">
            <a:avLst/>
          </a:prstGeom>
          <a:noFill/>
          <a:ln/>
        </p:spPr>
        <p:txBody>
          <a:bodyPr wrap="square" rtlCol="0" anchor="ctr"/>
          <a:lstStyle/>
          <a:p>
            <a:pPr indent="0" marL="0">
              <a:buNone/>
            </a:pPr>
            <a:r>
              <a:rPr lang="en-US" sz="1200" b="1" dirty="0">
                <a:solidFill>
                  <a:srgbClr val="516985"/>
                </a:solidFill>
                <a:latin typeface="Calibri" pitchFamily="34" charset="0"/>
                <a:ea typeface="Calibri" pitchFamily="34" charset="-122"/>
                <a:cs typeface="Calibri" pitchFamily="34" charset="-120"/>
              </a:rPr>
              <a:t>Application Features</a:t>
            </a:r>
            <a:endParaRPr lang="en-US" sz="1200" dirty="0"/>
          </a:p>
        </p:txBody>
      </p:sp>
      <p:sp>
        <p:nvSpPr>
          <p:cNvPr id="33" name="Text 31"/>
          <p:cNvSpPr/>
          <p:nvPr/>
        </p:nvSpPr>
        <p:spPr>
          <a:xfrm>
            <a:off x="5440680" y="2304288"/>
            <a:ext cx="3520440" cy="411480"/>
          </a:xfrm>
          <a:prstGeom prst="rect">
            <a:avLst/>
          </a:prstGeom>
          <a:noFill/>
          <a:ln/>
        </p:spPr>
        <p:txBody>
          <a:bodyPr wrap="square" rtlCol="0" anchor="ctr"/>
          <a:lstStyle/>
          <a:p>
            <a:pPr indent="0" marL="0">
              <a:buNone/>
            </a:pPr>
            <a:r>
              <a:rPr lang="en-US" sz="950" dirty="0">
                <a:solidFill>
                  <a:srgbClr val="8BA3C0"/>
                </a:solidFill>
                <a:latin typeface="Calibri" pitchFamily="34" charset="0"/>
                <a:ea typeface="Calibri" pitchFamily="34" charset="-122"/>
                <a:cs typeface="Calibri" pitchFamily="34" charset="-120"/>
              </a:rPr>
              <a:t>Live demo walkthrough — personalized &amp; similarity modes</a:t>
            </a:r>
            <a:endParaRPr lang="en-US" sz="950" dirty="0"/>
          </a:p>
        </p:txBody>
      </p:sp>
      <p:sp>
        <p:nvSpPr>
          <p:cNvPr id="34" name="Shape 32"/>
          <p:cNvSpPr/>
          <p:nvPr/>
        </p:nvSpPr>
        <p:spPr>
          <a:xfrm>
            <a:off x="4846320" y="2926080"/>
            <a:ext cx="4206240" cy="868680"/>
          </a:xfrm>
          <a:prstGeom prst="rect">
            <a:avLst/>
          </a:prstGeom>
          <a:solidFill>
            <a:srgbClr val="FFFFFF"/>
          </a:solidFill>
          <a:ln w="12700">
            <a:solidFill>
              <a:srgbClr val="EDE8DE"/>
            </a:solidFill>
            <a:prstDash val="solid"/>
          </a:ln>
          <a:effectLst>
            <a:outerShdw sx="100000" sy="100000" kx="0" ky="0" algn="bl" rotWithShape="0" blurRad="101600" dist="38100" dir="8100000">
              <a:srgbClr val="000000">
                <a:alpha val="12000"/>
              </a:srgbClr>
            </a:outerShdw>
          </a:effectLst>
        </p:spPr>
      </p:sp>
      <p:sp>
        <p:nvSpPr>
          <p:cNvPr id="35" name="Shape 33"/>
          <p:cNvSpPr/>
          <p:nvPr/>
        </p:nvSpPr>
        <p:spPr>
          <a:xfrm>
            <a:off x="4846320" y="2926080"/>
            <a:ext cx="502920" cy="868680"/>
          </a:xfrm>
          <a:prstGeom prst="rect">
            <a:avLst/>
          </a:prstGeom>
          <a:solidFill>
            <a:srgbClr val="E8B84B"/>
          </a:solidFill>
          <a:ln w="12700">
            <a:solidFill>
              <a:srgbClr val="E8B84B"/>
            </a:solidFill>
            <a:prstDash val="solid"/>
          </a:ln>
        </p:spPr>
      </p:sp>
      <p:sp>
        <p:nvSpPr>
          <p:cNvPr id="36" name="Text 34"/>
          <p:cNvSpPr/>
          <p:nvPr/>
        </p:nvSpPr>
        <p:spPr>
          <a:xfrm>
            <a:off x="4846320" y="2926080"/>
            <a:ext cx="502920" cy="8686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07</a:t>
            </a:r>
            <a:endParaRPr lang="en-US" sz="1500" dirty="0"/>
          </a:p>
        </p:txBody>
      </p:sp>
      <p:sp>
        <p:nvSpPr>
          <p:cNvPr id="37" name="Text 35"/>
          <p:cNvSpPr/>
          <p:nvPr/>
        </p:nvSpPr>
        <p:spPr>
          <a:xfrm>
            <a:off x="5440680" y="2971800"/>
            <a:ext cx="3520440" cy="320040"/>
          </a:xfrm>
          <a:prstGeom prst="rect">
            <a:avLst/>
          </a:prstGeom>
          <a:noFill/>
          <a:ln/>
        </p:spPr>
        <p:txBody>
          <a:bodyPr wrap="square" rtlCol="0" anchor="ctr"/>
          <a:lstStyle/>
          <a:p>
            <a:pPr indent="0" marL="0">
              <a:buNone/>
            </a:pPr>
            <a:r>
              <a:rPr lang="en-US" sz="1200" b="1" dirty="0">
                <a:solidFill>
                  <a:srgbClr val="516985"/>
                </a:solidFill>
                <a:latin typeface="Calibri" pitchFamily="34" charset="0"/>
                <a:ea typeface="Calibri" pitchFamily="34" charset="-122"/>
                <a:cs typeface="Calibri" pitchFamily="34" charset="-120"/>
              </a:rPr>
              <a:t>Limitations &amp; Future Work</a:t>
            </a:r>
            <a:endParaRPr lang="en-US" sz="1200" dirty="0"/>
          </a:p>
        </p:txBody>
      </p:sp>
      <p:sp>
        <p:nvSpPr>
          <p:cNvPr id="38" name="Text 36"/>
          <p:cNvSpPr/>
          <p:nvPr/>
        </p:nvSpPr>
        <p:spPr>
          <a:xfrm>
            <a:off x="5440680" y="3310128"/>
            <a:ext cx="3520440" cy="411480"/>
          </a:xfrm>
          <a:prstGeom prst="rect">
            <a:avLst/>
          </a:prstGeom>
          <a:noFill/>
          <a:ln/>
        </p:spPr>
        <p:txBody>
          <a:bodyPr wrap="square" rtlCol="0" anchor="ctr"/>
          <a:lstStyle/>
          <a:p>
            <a:pPr indent="0" marL="0">
              <a:buNone/>
            </a:pPr>
            <a:r>
              <a:rPr lang="en-US" sz="950" dirty="0">
                <a:solidFill>
                  <a:srgbClr val="8BA3C0"/>
                </a:solidFill>
                <a:latin typeface="Calibri" pitchFamily="34" charset="0"/>
                <a:ea typeface="Calibri" pitchFamily="34" charset="-122"/>
                <a:cs typeface="Calibri" pitchFamily="34" charset="-120"/>
              </a:rPr>
              <a:t>Cold-start, genre constraints, deployment challenges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49A2E"/>
          </a:solidFill>
          <a:ln w="12700">
            <a:solidFill>
              <a:srgbClr val="C49A2E"/>
            </a:solidFill>
            <a:prstDash val="solid"/>
          </a:ln>
        </p:spPr>
      </p:sp>
      <p:sp>
        <p:nvSpPr>
          <p:cNvPr id="3" name="Text 1"/>
          <p:cNvSpPr/>
          <p:nvPr/>
        </p:nvSpPr>
        <p:spPr>
          <a:xfrm>
            <a:off x="365760" y="0"/>
            <a:ext cx="8229600" cy="68580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PROBLEM &amp; MOTIVATION</a:t>
            </a:r>
            <a:endParaRPr lang="en-US" sz="1400" dirty="0"/>
          </a:p>
        </p:txBody>
      </p:sp>
      <p:sp>
        <p:nvSpPr>
          <p:cNvPr id="4" name="Shape 2"/>
          <p:cNvSpPr/>
          <p:nvPr/>
        </p:nvSpPr>
        <p:spPr>
          <a:xfrm>
            <a:off x="365760" y="868680"/>
            <a:ext cx="2743200" cy="3840480"/>
          </a:xfrm>
          <a:prstGeom prst="rect">
            <a:avLst/>
          </a:prstGeom>
          <a:solidFill>
            <a:srgbClr val="0A1628"/>
          </a:solidFill>
          <a:ln w="12700">
            <a:solidFill>
              <a:srgbClr val="E8B84B"/>
            </a:solidFill>
            <a:prstDash val="solid"/>
          </a:ln>
        </p:spPr>
      </p:sp>
      <p:sp>
        <p:nvSpPr>
          <p:cNvPr id="5" name="Text 3"/>
          <p:cNvSpPr/>
          <p:nvPr/>
        </p:nvSpPr>
        <p:spPr>
          <a:xfrm>
            <a:off x="365760" y="1188720"/>
            <a:ext cx="2743200" cy="822960"/>
          </a:xfrm>
          <a:prstGeom prst="rect">
            <a:avLst/>
          </a:prstGeom>
          <a:noFill/>
          <a:ln/>
        </p:spPr>
        <p:txBody>
          <a:bodyPr wrap="square" rtlCol="0" anchor="ctr"/>
          <a:lstStyle/>
          <a:p>
            <a:pPr algn="ctr" indent="0" marL="0">
              <a:buNone/>
            </a:pPr>
            <a:r>
              <a:rPr lang="en-US" sz="5400" b="1" dirty="0">
                <a:solidFill>
                  <a:srgbClr val="E8B84B"/>
                </a:solidFill>
                <a:latin typeface="Calibri" pitchFamily="34" charset="0"/>
                <a:ea typeface="Calibri" pitchFamily="34" charset="-122"/>
                <a:cs typeface="Calibri" pitchFamily="34" charset="-120"/>
              </a:rPr>
              <a:t>1,682</a:t>
            </a:r>
            <a:endParaRPr lang="en-US" sz="5400" dirty="0"/>
          </a:p>
        </p:txBody>
      </p:sp>
      <p:sp>
        <p:nvSpPr>
          <p:cNvPr id="6" name="Text 4"/>
          <p:cNvSpPr/>
          <p:nvPr/>
        </p:nvSpPr>
        <p:spPr>
          <a:xfrm>
            <a:off x="365760" y="2011680"/>
            <a:ext cx="2743200" cy="36576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movies available</a:t>
            </a:r>
            <a:endParaRPr lang="en-US" sz="1300" dirty="0"/>
          </a:p>
        </p:txBody>
      </p:sp>
      <p:sp>
        <p:nvSpPr>
          <p:cNvPr id="7" name="Text 5"/>
          <p:cNvSpPr/>
          <p:nvPr/>
        </p:nvSpPr>
        <p:spPr>
          <a:xfrm>
            <a:off x="365760" y="2560320"/>
            <a:ext cx="2743200" cy="685800"/>
          </a:xfrm>
          <a:prstGeom prst="rect">
            <a:avLst/>
          </a:prstGeom>
          <a:noFill/>
          <a:ln/>
        </p:spPr>
        <p:txBody>
          <a:bodyPr wrap="square" rtlCol="0" anchor="ctr"/>
          <a:lstStyle/>
          <a:p>
            <a:pPr algn="ctr" indent="0" marL="0">
              <a:buNone/>
            </a:pPr>
            <a:r>
              <a:rPr lang="en-US" sz="4800" b="1" dirty="0">
                <a:solidFill>
                  <a:srgbClr val="E8B84B"/>
                </a:solidFill>
                <a:latin typeface="Calibri" pitchFamily="34" charset="0"/>
                <a:ea typeface="Calibri" pitchFamily="34" charset="-122"/>
                <a:cs typeface="Calibri" pitchFamily="34" charset="-120"/>
              </a:rPr>
              <a:t>943</a:t>
            </a:r>
            <a:endParaRPr lang="en-US" sz="4800" dirty="0"/>
          </a:p>
        </p:txBody>
      </p:sp>
      <p:sp>
        <p:nvSpPr>
          <p:cNvPr id="8" name="Text 6"/>
          <p:cNvSpPr/>
          <p:nvPr/>
        </p:nvSpPr>
        <p:spPr>
          <a:xfrm>
            <a:off x="365760" y="3246120"/>
            <a:ext cx="2743200" cy="32004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unique users</a:t>
            </a:r>
            <a:endParaRPr lang="en-US" sz="1300" dirty="0"/>
          </a:p>
        </p:txBody>
      </p:sp>
      <p:sp>
        <p:nvSpPr>
          <p:cNvPr id="9" name="Text 7"/>
          <p:cNvSpPr/>
          <p:nvPr/>
        </p:nvSpPr>
        <p:spPr>
          <a:xfrm>
            <a:off x="365760" y="3703320"/>
            <a:ext cx="2743200" cy="594360"/>
          </a:xfrm>
          <a:prstGeom prst="rect">
            <a:avLst/>
          </a:prstGeom>
          <a:noFill/>
          <a:ln/>
        </p:spPr>
        <p:txBody>
          <a:bodyPr wrap="square" rtlCol="0" anchor="ctr"/>
          <a:lstStyle/>
          <a:p>
            <a:pPr algn="ctr" indent="0" marL="0">
              <a:buNone/>
            </a:pPr>
            <a:r>
              <a:rPr lang="en-US" sz="4000" b="1" dirty="0">
                <a:solidFill>
                  <a:srgbClr val="E8B84B"/>
                </a:solidFill>
                <a:latin typeface="Calibri" pitchFamily="34" charset="0"/>
                <a:ea typeface="Calibri" pitchFamily="34" charset="-122"/>
                <a:cs typeface="Calibri" pitchFamily="34" charset="-120"/>
              </a:rPr>
              <a:t>100K</a:t>
            </a:r>
            <a:endParaRPr lang="en-US" sz="4000" dirty="0"/>
          </a:p>
        </p:txBody>
      </p:sp>
      <p:sp>
        <p:nvSpPr>
          <p:cNvPr id="10" name="Text 8"/>
          <p:cNvSpPr/>
          <p:nvPr/>
        </p:nvSpPr>
        <p:spPr>
          <a:xfrm>
            <a:off x="365760" y="4297680"/>
            <a:ext cx="2743200" cy="274320"/>
          </a:xfrm>
          <a:prstGeom prst="rect">
            <a:avLst/>
          </a:prstGeom>
          <a:noFill/>
          <a:ln/>
        </p:spPr>
        <p:txBody>
          <a:bodyPr wrap="square" rtlCol="0" anchor="ctr"/>
          <a:lstStyle/>
          <a:p>
            <a:pPr algn="ctr" indent="0" marL="0">
              <a:buNone/>
            </a:pPr>
            <a:r>
              <a:rPr lang="en-US" sz="1100" dirty="0">
                <a:solidFill>
                  <a:srgbClr val="8BA3C0"/>
                </a:solidFill>
                <a:latin typeface="Calibri" pitchFamily="34" charset="0"/>
                <a:ea typeface="Calibri" pitchFamily="34" charset="-122"/>
                <a:cs typeface="Calibri" pitchFamily="34" charset="-120"/>
              </a:rPr>
              <a:t>ratings to process</a:t>
            </a:r>
            <a:endParaRPr lang="en-US" sz="1100" dirty="0"/>
          </a:p>
        </p:txBody>
      </p:sp>
      <p:sp>
        <p:nvSpPr>
          <p:cNvPr id="11" name="Shape 9"/>
          <p:cNvSpPr/>
          <p:nvPr/>
        </p:nvSpPr>
        <p:spPr>
          <a:xfrm>
            <a:off x="3429000" y="868680"/>
            <a:ext cx="5349240" cy="877824"/>
          </a:xfrm>
          <a:prstGeom prst="rect">
            <a:avLst/>
          </a:prstGeom>
          <a:solidFill>
            <a:srgbClr val="0A1628"/>
          </a:solidFill>
          <a:ln w="12700">
            <a:solidFill>
              <a:srgbClr val="0F1F3D"/>
            </a:solidFill>
            <a:prstDash val="solid"/>
          </a:ln>
        </p:spPr>
      </p:sp>
      <p:sp>
        <p:nvSpPr>
          <p:cNvPr id="12" name="Shape 10"/>
          <p:cNvSpPr/>
          <p:nvPr/>
        </p:nvSpPr>
        <p:spPr>
          <a:xfrm>
            <a:off x="3429000" y="868680"/>
            <a:ext cx="54864" cy="877824"/>
          </a:xfrm>
          <a:prstGeom prst="rect">
            <a:avLst/>
          </a:prstGeom>
          <a:solidFill>
            <a:srgbClr val="E8B84B"/>
          </a:solidFill>
          <a:ln w="12700">
            <a:solidFill>
              <a:srgbClr val="E8B84B"/>
            </a:solidFill>
            <a:prstDash val="solid"/>
          </a:ln>
        </p:spPr>
      </p:sp>
      <p:sp>
        <p:nvSpPr>
          <p:cNvPr id="13" name="Text 11"/>
          <p:cNvSpPr/>
          <p:nvPr/>
        </p:nvSpPr>
        <p:spPr>
          <a:xfrm>
            <a:off x="3566160" y="914400"/>
            <a:ext cx="512064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Choice Paralysis</a:t>
            </a:r>
            <a:endParaRPr lang="en-US" sz="1200" dirty="0"/>
          </a:p>
        </p:txBody>
      </p:sp>
      <p:sp>
        <p:nvSpPr>
          <p:cNvPr id="14" name="Text 12"/>
          <p:cNvSpPr/>
          <p:nvPr/>
        </p:nvSpPr>
        <p:spPr>
          <a:xfrm>
            <a:off x="3566160" y="1197864"/>
            <a:ext cx="5120640" cy="493776"/>
          </a:xfrm>
          <a:prstGeom prst="rect">
            <a:avLst/>
          </a:prstGeom>
          <a:noFill/>
          <a:ln/>
        </p:spPr>
        <p:txBody>
          <a:bodyPr wrap="square" rtlCol="0" anchor="ctr"/>
          <a:lstStyle/>
          <a:p>
            <a:pPr indent="0" marL="0">
              <a:buNone/>
            </a:pPr>
            <a:r>
              <a:rPr lang="en-US" sz="950" dirty="0">
                <a:solidFill>
                  <a:srgbClr val="8BA3C0"/>
                </a:solidFill>
                <a:latin typeface="Calibri" pitchFamily="34" charset="0"/>
                <a:ea typeface="Calibri" pitchFamily="34" charset="-122"/>
                <a:cs typeface="Calibri" pitchFamily="34" charset="-120"/>
              </a:rPr>
              <a:t>With thousands of movies available, users are overwhelmed and struggle to find content they'll actually enjoy.</a:t>
            </a:r>
            <a:endParaRPr lang="en-US" sz="950" dirty="0"/>
          </a:p>
        </p:txBody>
      </p:sp>
      <p:sp>
        <p:nvSpPr>
          <p:cNvPr id="15" name="Shape 13"/>
          <p:cNvSpPr/>
          <p:nvPr/>
        </p:nvSpPr>
        <p:spPr>
          <a:xfrm>
            <a:off x="3429000" y="1856232"/>
            <a:ext cx="5349240" cy="877824"/>
          </a:xfrm>
          <a:prstGeom prst="rect">
            <a:avLst/>
          </a:prstGeom>
          <a:solidFill>
            <a:srgbClr val="0A1628"/>
          </a:solidFill>
          <a:ln w="12700">
            <a:solidFill>
              <a:srgbClr val="0F1F3D"/>
            </a:solidFill>
            <a:prstDash val="solid"/>
          </a:ln>
        </p:spPr>
      </p:sp>
      <p:sp>
        <p:nvSpPr>
          <p:cNvPr id="16" name="Shape 14"/>
          <p:cNvSpPr/>
          <p:nvPr/>
        </p:nvSpPr>
        <p:spPr>
          <a:xfrm>
            <a:off x="3429000" y="1856232"/>
            <a:ext cx="54864" cy="877824"/>
          </a:xfrm>
          <a:prstGeom prst="rect">
            <a:avLst/>
          </a:prstGeom>
          <a:solidFill>
            <a:srgbClr val="E8B84B"/>
          </a:solidFill>
          <a:ln w="12700">
            <a:solidFill>
              <a:srgbClr val="E8B84B"/>
            </a:solidFill>
            <a:prstDash val="solid"/>
          </a:ln>
        </p:spPr>
      </p:sp>
      <p:sp>
        <p:nvSpPr>
          <p:cNvPr id="17" name="Text 15"/>
          <p:cNvSpPr/>
          <p:nvPr/>
        </p:nvSpPr>
        <p:spPr>
          <a:xfrm>
            <a:off x="3566160" y="1901952"/>
            <a:ext cx="512064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Cold Start Problem</a:t>
            </a:r>
            <a:endParaRPr lang="en-US" sz="1200" dirty="0"/>
          </a:p>
        </p:txBody>
      </p:sp>
      <p:sp>
        <p:nvSpPr>
          <p:cNvPr id="18" name="Text 16"/>
          <p:cNvSpPr/>
          <p:nvPr/>
        </p:nvSpPr>
        <p:spPr>
          <a:xfrm>
            <a:off x="3566160" y="2185416"/>
            <a:ext cx="5120640" cy="493776"/>
          </a:xfrm>
          <a:prstGeom prst="rect">
            <a:avLst/>
          </a:prstGeom>
          <a:noFill/>
          <a:ln/>
        </p:spPr>
        <p:txBody>
          <a:bodyPr wrap="square" rtlCol="0" anchor="ctr"/>
          <a:lstStyle/>
          <a:p>
            <a:pPr indent="0" marL="0">
              <a:buNone/>
            </a:pPr>
            <a:r>
              <a:rPr lang="en-US" sz="950" dirty="0">
                <a:solidFill>
                  <a:srgbClr val="8BA3C0"/>
                </a:solidFill>
                <a:latin typeface="Calibri" pitchFamily="34" charset="0"/>
                <a:ea typeface="Calibri" pitchFamily="34" charset="-122"/>
                <a:cs typeface="Calibri" pitchFamily="34" charset="-120"/>
              </a:rPr>
              <a:t>New users have no rating history — traditional collaborative filters fail completely without prior behaviour data.</a:t>
            </a:r>
            <a:endParaRPr lang="en-US" sz="950" dirty="0"/>
          </a:p>
        </p:txBody>
      </p:sp>
      <p:sp>
        <p:nvSpPr>
          <p:cNvPr id="19" name="Shape 17"/>
          <p:cNvSpPr/>
          <p:nvPr/>
        </p:nvSpPr>
        <p:spPr>
          <a:xfrm>
            <a:off x="3429000" y="2843784"/>
            <a:ext cx="5349240" cy="877824"/>
          </a:xfrm>
          <a:prstGeom prst="rect">
            <a:avLst/>
          </a:prstGeom>
          <a:solidFill>
            <a:srgbClr val="0A1628"/>
          </a:solidFill>
          <a:ln w="12700">
            <a:solidFill>
              <a:srgbClr val="0F1F3D"/>
            </a:solidFill>
            <a:prstDash val="solid"/>
          </a:ln>
        </p:spPr>
      </p:sp>
      <p:sp>
        <p:nvSpPr>
          <p:cNvPr id="20" name="Shape 18"/>
          <p:cNvSpPr/>
          <p:nvPr/>
        </p:nvSpPr>
        <p:spPr>
          <a:xfrm>
            <a:off x="3429000" y="2843784"/>
            <a:ext cx="54864" cy="877824"/>
          </a:xfrm>
          <a:prstGeom prst="rect">
            <a:avLst/>
          </a:prstGeom>
          <a:solidFill>
            <a:srgbClr val="E8B84B"/>
          </a:solidFill>
          <a:ln w="12700">
            <a:solidFill>
              <a:srgbClr val="E8B84B"/>
            </a:solidFill>
            <a:prstDash val="solid"/>
          </a:ln>
        </p:spPr>
      </p:sp>
      <p:sp>
        <p:nvSpPr>
          <p:cNvPr id="21" name="Text 19"/>
          <p:cNvSpPr/>
          <p:nvPr/>
        </p:nvSpPr>
        <p:spPr>
          <a:xfrm>
            <a:off x="3566160" y="2889504"/>
            <a:ext cx="512064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Data Sparsity</a:t>
            </a:r>
            <a:endParaRPr lang="en-US" sz="1200" dirty="0"/>
          </a:p>
        </p:txBody>
      </p:sp>
      <p:sp>
        <p:nvSpPr>
          <p:cNvPr id="22" name="Text 20"/>
          <p:cNvSpPr/>
          <p:nvPr/>
        </p:nvSpPr>
        <p:spPr>
          <a:xfrm>
            <a:off x="3566160" y="3172968"/>
            <a:ext cx="5120640" cy="493776"/>
          </a:xfrm>
          <a:prstGeom prst="rect">
            <a:avLst/>
          </a:prstGeom>
          <a:noFill/>
          <a:ln/>
        </p:spPr>
        <p:txBody>
          <a:bodyPr wrap="square" rtlCol="0" anchor="ctr"/>
          <a:lstStyle/>
          <a:p>
            <a:pPr indent="0" marL="0">
              <a:buNone/>
            </a:pPr>
            <a:r>
              <a:rPr lang="en-US" sz="950" dirty="0">
                <a:solidFill>
                  <a:srgbClr val="8BA3C0"/>
                </a:solidFill>
                <a:latin typeface="Calibri" pitchFamily="34" charset="0"/>
                <a:ea typeface="Calibri" pitchFamily="34" charset="-122"/>
                <a:cs typeface="Calibri" pitchFamily="34" charset="-120"/>
              </a:rPr>
              <a:t>93.7% of the user-movie matrix is empty. Most users have rated only a tiny fraction of available films.</a:t>
            </a:r>
            <a:endParaRPr lang="en-US" sz="950" dirty="0"/>
          </a:p>
        </p:txBody>
      </p:sp>
      <p:sp>
        <p:nvSpPr>
          <p:cNvPr id="23" name="Shape 21"/>
          <p:cNvSpPr/>
          <p:nvPr/>
        </p:nvSpPr>
        <p:spPr>
          <a:xfrm>
            <a:off x="3429000" y="3831336"/>
            <a:ext cx="5349240" cy="877824"/>
          </a:xfrm>
          <a:prstGeom prst="rect">
            <a:avLst/>
          </a:prstGeom>
          <a:solidFill>
            <a:srgbClr val="0A1628"/>
          </a:solidFill>
          <a:ln w="12700">
            <a:solidFill>
              <a:srgbClr val="E8B84B"/>
            </a:solidFill>
            <a:prstDash val="solid"/>
          </a:ln>
        </p:spPr>
      </p:sp>
      <p:sp>
        <p:nvSpPr>
          <p:cNvPr id="24" name="Shape 22"/>
          <p:cNvSpPr/>
          <p:nvPr/>
        </p:nvSpPr>
        <p:spPr>
          <a:xfrm>
            <a:off x="3429000" y="3831336"/>
            <a:ext cx="54864" cy="877824"/>
          </a:xfrm>
          <a:prstGeom prst="rect">
            <a:avLst/>
          </a:prstGeom>
          <a:solidFill>
            <a:srgbClr val="E8B84B"/>
          </a:solidFill>
          <a:ln w="12700">
            <a:solidFill>
              <a:srgbClr val="E8B84B"/>
            </a:solidFill>
            <a:prstDash val="solid"/>
          </a:ln>
        </p:spPr>
      </p:sp>
      <p:sp>
        <p:nvSpPr>
          <p:cNvPr id="25" name="Text 23"/>
          <p:cNvSpPr/>
          <p:nvPr/>
        </p:nvSpPr>
        <p:spPr>
          <a:xfrm>
            <a:off x="3566160" y="3877056"/>
            <a:ext cx="512064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Our Solution</a:t>
            </a:r>
            <a:endParaRPr lang="en-US" sz="1200" dirty="0"/>
          </a:p>
        </p:txBody>
      </p:sp>
      <p:sp>
        <p:nvSpPr>
          <p:cNvPr id="26" name="Text 24"/>
          <p:cNvSpPr/>
          <p:nvPr/>
        </p:nvSpPr>
        <p:spPr>
          <a:xfrm>
            <a:off x="3566160" y="4160520"/>
            <a:ext cx="5120640" cy="493776"/>
          </a:xfrm>
          <a:prstGeom prst="rect">
            <a:avLst/>
          </a:prstGeom>
          <a:noFill/>
          <a:ln/>
        </p:spPr>
        <p:txBody>
          <a:bodyPr wrap="square" rtlCol="0" anchor="ctr"/>
          <a:lstStyle/>
          <a:p>
            <a:pPr indent="0" marL="0">
              <a:buNone/>
            </a:pPr>
            <a:r>
              <a:rPr lang="en-US" sz="950" dirty="0">
                <a:solidFill>
                  <a:srgbClr val="8BA3C0"/>
                </a:solidFill>
                <a:latin typeface="Calibri" pitchFamily="34" charset="0"/>
                <a:ea typeface="Calibri" pitchFamily="34" charset="-122"/>
                <a:cs typeface="Calibri" pitchFamily="34" charset="-120"/>
              </a:rPr>
              <a:t>CineMatch combines genre-based content similarity with user-behaviour collaborative filtering into a weighted hybrid model — robust even when one signal is weak.</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w="12700">
            <a:solidFill>
              <a:srgbClr val="0A1628"/>
            </a:solidFill>
            <a:prstDash val="solid"/>
          </a:ln>
        </p:spPr>
      </p:sp>
      <p:sp>
        <p:nvSpPr>
          <p:cNvPr id="3" name="Text 1"/>
          <p:cNvSpPr/>
          <p:nvPr/>
        </p:nvSpPr>
        <p:spPr>
          <a:xfrm>
            <a:off x="365760" y="0"/>
            <a:ext cx="8229600" cy="685800"/>
          </a:xfrm>
          <a:prstGeom prst="rect">
            <a:avLst/>
          </a:prstGeom>
          <a:noFill/>
          <a:ln/>
        </p:spPr>
        <p:txBody>
          <a:bodyPr wrap="square" rtlCol="0" anchor="ctr"/>
          <a:lstStyle/>
          <a:p>
            <a:pPr indent="0" marL="0">
              <a:buNone/>
            </a:pPr>
            <a:r>
              <a:rPr lang="en-US" sz="1400" b="1" spc="300" kern="0" dirty="0">
                <a:solidFill>
                  <a:srgbClr val="FFFFFF"/>
                </a:solidFill>
                <a:latin typeface="Calibri" pitchFamily="34" charset="0"/>
                <a:ea typeface="Calibri" pitchFamily="34" charset="-122"/>
                <a:cs typeface="Calibri" pitchFamily="34" charset="-120"/>
              </a:rPr>
              <a:t>DATASET  —  MovieLens 100K</a:t>
            </a:r>
            <a:endParaRPr lang="en-US" sz="1400" dirty="0"/>
          </a:p>
        </p:txBody>
      </p:sp>
      <p:sp>
        <p:nvSpPr>
          <p:cNvPr id="4" name="Shape 2"/>
          <p:cNvSpPr/>
          <p:nvPr/>
        </p:nvSpPr>
        <p:spPr>
          <a:xfrm>
            <a:off x="365760" y="822960"/>
            <a:ext cx="1965960" cy="1234440"/>
          </a:xfrm>
          <a:prstGeom prst="rect">
            <a:avLst/>
          </a:prstGeom>
          <a:solidFill>
            <a:srgbClr val="E8B84B"/>
          </a:solidFill>
          <a:ln w="12700">
            <a:solidFill>
              <a:srgbClr val="E8B84B"/>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365760" y="914400"/>
            <a:ext cx="1965960" cy="68580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100,000</a:t>
            </a:r>
            <a:endParaRPr lang="en-US" sz="3400" dirty="0"/>
          </a:p>
        </p:txBody>
      </p:sp>
      <p:sp>
        <p:nvSpPr>
          <p:cNvPr id="6" name="Text 4"/>
          <p:cNvSpPr/>
          <p:nvPr/>
        </p:nvSpPr>
        <p:spPr>
          <a:xfrm>
            <a:off x="365760" y="1600200"/>
            <a:ext cx="1965960" cy="347472"/>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Total Ratings</a:t>
            </a:r>
            <a:endParaRPr lang="en-US" sz="1100" dirty="0"/>
          </a:p>
        </p:txBody>
      </p:sp>
      <p:sp>
        <p:nvSpPr>
          <p:cNvPr id="7" name="Shape 5"/>
          <p:cNvSpPr/>
          <p:nvPr/>
        </p:nvSpPr>
        <p:spPr>
          <a:xfrm>
            <a:off x="2487168" y="822960"/>
            <a:ext cx="1965960" cy="1234440"/>
          </a:xfrm>
          <a:prstGeom prst="rect">
            <a:avLst/>
          </a:prstGeom>
          <a:solidFill>
            <a:srgbClr val="0A1628"/>
          </a:solidFill>
          <a:ln w="12700">
            <a:solidFill>
              <a:srgbClr val="0A1628"/>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2487168" y="914400"/>
            <a:ext cx="1965960" cy="68580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943</a:t>
            </a:r>
            <a:endParaRPr lang="en-US" sz="3400" dirty="0"/>
          </a:p>
        </p:txBody>
      </p:sp>
      <p:sp>
        <p:nvSpPr>
          <p:cNvPr id="9" name="Text 7"/>
          <p:cNvSpPr/>
          <p:nvPr/>
        </p:nvSpPr>
        <p:spPr>
          <a:xfrm>
            <a:off x="2487168" y="1600200"/>
            <a:ext cx="1965960" cy="347472"/>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Unique Users</a:t>
            </a:r>
            <a:endParaRPr lang="en-US" sz="1100" dirty="0"/>
          </a:p>
        </p:txBody>
      </p:sp>
      <p:sp>
        <p:nvSpPr>
          <p:cNvPr id="10" name="Shape 8"/>
          <p:cNvSpPr/>
          <p:nvPr/>
        </p:nvSpPr>
        <p:spPr>
          <a:xfrm>
            <a:off x="4608576" y="822960"/>
            <a:ext cx="1965960" cy="1234440"/>
          </a:xfrm>
          <a:prstGeom prst="rect">
            <a:avLst/>
          </a:prstGeom>
          <a:solidFill>
            <a:srgbClr val="C49A2E"/>
          </a:solidFill>
          <a:ln w="12700">
            <a:solidFill>
              <a:srgbClr val="C49A2E"/>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4608576" y="914400"/>
            <a:ext cx="1965960" cy="68580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1,682</a:t>
            </a:r>
            <a:endParaRPr lang="en-US" sz="3400" dirty="0"/>
          </a:p>
        </p:txBody>
      </p:sp>
      <p:sp>
        <p:nvSpPr>
          <p:cNvPr id="12" name="Text 10"/>
          <p:cNvSpPr/>
          <p:nvPr/>
        </p:nvSpPr>
        <p:spPr>
          <a:xfrm>
            <a:off x="4608576" y="1600200"/>
            <a:ext cx="1965960" cy="347472"/>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Movies</a:t>
            </a:r>
            <a:endParaRPr lang="en-US" sz="1100" dirty="0"/>
          </a:p>
        </p:txBody>
      </p:sp>
      <p:sp>
        <p:nvSpPr>
          <p:cNvPr id="13" name="Shape 11"/>
          <p:cNvSpPr/>
          <p:nvPr/>
        </p:nvSpPr>
        <p:spPr>
          <a:xfrm>
            <a:off x="6729984" y="822960"/>
            <a:ext cx="1965960" cy="1234440"/>
          </a:xfrm>
          <a:prstGeom prst="rect">
            <a:avLst/>
          </a:prstGeom>
          <a:solidFill>
            <a:srgbClr val="E8B84B"/>
          </a:solidFill>
          <a:ln w="12700">
            <a:solidFill>
              <a:srgbClr val="E8B84B"/>
            </a:solidFill>
            <a:prstDash val="solid"/>
          </a:ln>
          <a:effectLst>
            <a:outerShdw sx="100000" sy="100000" kx="0" ky="0" algn="bl" rotWithShape="0" blurRad="101600" dist="38100" dir="8100000">
              <a:srgbClr val="000000">
                <a:alpha val="12000"/>
              </a:srgbClr>
            </a:outerShdw>
          </a:effectLst>
        </p:spPr>
      </p:sp>
      <p:sp>
        <p:nvSpPr>
          <p:cNvPr id="14" name="Text 12"/>
          <p:cNvSpPr/>
          <p:nvPr/>
        </p:nvSpPr>
        <p:spPr>
          <a:xfrm>
            <a:off x="6729984" y="914400"/>
            <a:ext cx="1965960" cy="68580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93.7%</a:t>
            </a:r>
            <a:endParaRPr lang="en-US" sz="3400" dirty="0"/>
          </a:p>
        </p:txBody>
      </p:sp>
      <p:sp>
        <p:nvSpPr>
          <p:cNvPr id="15" name="Text 13"/>
          <p:cNvSpPr/>
          <p:nvPr/>
        </p:nvSpPr>
        <p:spPr>
          <a:xfrm>
            <a:off x="6729984" y="1600200"/>
            <a:ext cx="1965960" cy="347472"/>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Matrix Sparsity</a:t>
            </a:r>
            <a:endParaRPr lang="en-US" sz="1100" dirty="0"/>
          </a:p>
        </p:txBody>
      </p:sp>
      <p:sp>
        <p:nvSpPr>
          <p:cNvPr id="16" name="Text 14"/>
          <p:cNvSpPr/>
          <p:nvPr/>
        </p:nvSpPr>
        <p:spPr>
          <a:xfrm>
            <a:off x="365760" y="2240280"/>
            <a:ext cx="4023360" cy="347472"/>
          </a:xfrm>
          <a:prstGeom prst="rect">
            <a:avLst/>
          </a:prstGeom>
          <a:noFill/>
          <a:ln/>
        </p:spPr>
        <p:txBody>
          <a:bodyPr wrap="square" rtlCol="0" anchor="ctr"/>
          <a:lstStyle/>
          <a:p>
            <a:pPr indent="0" marL="0">
              <a:buNone/>
            </a:pPr>
            <a:r>
              <a:rPr lang="en-US" sz="1300" b="1" dirty="0">
                <a:solidFill>
                  <a:srgbClr val="516985"/>
                </a:solidFill>
                <a:latin typeface="Calibri" pitchFamily="34" charset="0"/>
                <a:ea typeface="Calibri" pitchFamily="34" charset="-122"/>
                <a:cs typeface="Calibri" pitchFamily="34" charset="-120"/>
              </a:rPr>
              <a:t>Key Observations</a:t>
            </a:r>
            <a:endParaRPr lang="en-US" sz="1300" dirty="0"/>
          </a:p>
        </p:txBody>
      </p:sp>
      <p:sp>
        <p:nvSpPr>
          <p:cNvPr id="17" name="Text 15"/>
          <p:cNvSpPr/>
          <p:nvPr/>
        </p:nvSpPr>
        <p:spPr>
          <a:xfrm>
            <a:off x="365760" y="2651760"/>
            <a:ext cx="3977640" cy="365760"/>
          </a:xfrm>
          <a:prstGeom prst="rect">
            <a:avLst/>
          </a:prstGeom>
          <a:noFill/>
          <a:ln/>
        </p:spPr>
        <p:txBody>
          <a:bodyPr wrap="square" rtlCol="0" anchor="ctr"/>
          <a:lstStyle/>
          <a:p>
            <a:pPr marL="342900" indent="-342900">
              <a:buSzPct val="100000"/>
              <a:buChar char="•"/>
            </a:pPr>
            <a:r>
              <a:rPr lang="en-US" sz="1100" dirty="0">
                <a:solidFill>
                  <a:srgbClr val="516985"/>
                </a:solidFill>
                <a:latin typeface="Calibri" pitchFamily="34" charset="0"/>
                <a:ea typeface="Calibri" pitchFamily="34" charset="-122"/>
                <a:cs typeface="Calibri" pitchFamily="34" charset="-120"/>
              </a:rPr>
              <a:t>Ratings range from 1 to 5 — most common rating is 4 out of 5</a:t>
            </a:r>
            <a:endParaRPr lang="en-US" sz="1100" dirty="0"/>
          </a:p>
        </p:txBody>
      </p:sp>
      <p:sp>
        <p:nvSpPr>
          <p:cNvPr id="18" name="Text 16"/>
          <p:cNvSpPr/>
          <p:nvPr/>
        </p:nvSpPr>
        <p:spPr>
          <a:xfrm>
            <a:off x="365760" y="3035808"/>
            <a:ext cx="3977640" cy="365760"/>
          </a:xfrm>
          <a:prstGeom prst="rect">
            <a:avLst/>
          </a:prstGeom>
          <a:noFill/>
          <a:ln/>
        </p:spPr>
        <p:txBody>
          <a:bodyPr wrap="square" rtlCol="0" anchor="ctr"/>
          <a:lstStyle/>
          <a:p>
            <a:pPr marL="342900" indent="-342900">
              <a:buSzPct val="100000"/>
              <a:buChar char="•"/>
            </a:pPr>
            <a:r>
              <a:rPr lang="en-US" sz="1100" dirty="0">
                <a:solidFill>
                  <a:srgbClr val="516985"/>
                </a:solidFill>
                <a:latin typeface="Calibri" pitchFamily="34" charset="0"/>
                <a:ea typeface="Calibri" pitchFamily="34" charset="-122"/>
                <a:cs typeface="Calibri" pitchFamily="34" charset="-120"/>
              </a:rPr>
              <a:t>Star Wars is the most-rated movie in the dataset</a:t>
            </a:r>
            <a:endParaRPr lang="en-US" sz="1100" dirty="0"/>
          </a:p>
        </p:txBody>
      </p:sp>
      <p:sp>
        <p:nvSpPr>
          <p:cNvPr id="19" name="Text 17"/>
          <p:cNvSpPr/>
          <p:nvPr/>
        </p:nvSpPr>
        <p:spPr>
          <a:xfrm>
            <a:off x="365760" y="3419856"/>
            <a:ext cx="3977640" cy="365760"/>
          </a:xfrm>
          <a:prstGeom prst="rect">
            <a:avLst/>
          </a:prstGeom>
          <a:noFill/>
          <a:ln/>
        </p:spPr>
        <p:txBody>
          <a:bodyPr wrap="square" rtlCol="0" anchor="ctr"/>
          <a:lstStyle/>
          <a:p>
            <a:pPr marL="342900" indent="-342900">
              <a:buSzPct val="100000"/>
              <a:buChar char="•"/>
            </a:pPr>
            <a:r>
              <a:rPr lang="en-US" sz="1100" dirty="0">
                <a:solidFill>
                  <a:srgbClr val="516985"/>
                </a:solidFill>
                <a:latin typeface="Calibri" pitchFamily="34" charset="0"/>
                <a:ea typeface="Calibri" pitchFamily="34" charset="-122"/>
                <a:cs typeface="Calibri" pitchFamily="34" charset="-120"/>
              </a:rPr>
              <a:t>User 405 is the most active with over 700 ratings</a:t>
            </a:r>
            <a:endParaRPr lang="en-US" sz="1100" dirty="0"/>
          </a:p>
        </p:txBody>
      </p:sp>
      <p:sp>
        <p:nvSpPr>
          <p:cNvPr id="20" name="Text 18"/>
          <p:cNvSpPr/>
          <p:nvPr/>
        </p:nvSpPr>
        <p:spPr>
          <a:xfrm>
            <a:off x="365760" y="3803904"/>
            <a:ext cx="3977640" cy="365760"/>
          </a:xfrm>
          <a:prstGeom prst="rect">
            <a:avLst/>
          </a:prstGeom>
          <a:noFill/>
          <a:ln/>
        </p:spPr>
        <p:txBody>
          <a:bodyPr wrap="square" rtlCol="0" anchor="ctr"/>
          <a:lstStyle/>
          <a:p>
            <a:pPr marL="342900" indent="-342900">
              <a:buSzPct val="100000"/>
              <a:buChar char="•"/>
            </a:pPr>
            <a:r>
              <a:rPr lang="en-US" sz="1100" dirty="0">
                <a:solidFill>
                  <a:srgbClr val="516985"/>
                </a:solidFill>
                <a:latin typeface="Calibri" pitchFamily="34" charset="0"/>
                <a:ea typeface="Calibri" pitchFamily="34" charset="-122"/>
                <a:cs typeface="Calibri" pitchFamily="34" charset="-120"/>
              </a:rPr>
              <a:t>19 binary genre labels per movie (Film-Noir, Western, Animation…)</a:t>
            </a:r>
            <a:endParaRPr lang="en-US" sz="1100" dirty="0"/>
          </a:p>
        </p:txBody>
      </p:sp>
      <p:sp>
        <p:nvSpPr>
          <p:cNvPr id="21" name="Text 19"/>
          <p:cNvSpPr/>
          <p:nvPr/>
        </p:nvSpPr>
        <p:spPr>
          <a:xfrm>
            <a:off x="365760" y="4187952"/>
            <a:ext cx="3977640" cy="365760"/>
          </a:xfrm>
          <a:prstGeom prst="rect">
            <a:avLst/>
          </a:prstGeom>
          <a:noFill/>
          <a:ln/>
        </p:spPr>
        <p:txBody>
          <a:bodyPr wrap="square" rtlCol="0" anchor="ctr"/>
          <a:lstStyle/>
          <a:p>
            <a:pPr marL="342900" indent="-342900">
              <a:buSzPct val="100000"/>
              <a:buChar char="•"/>
            </a:pPr>
            <a:r>
              <a:rPr lang="en-US" sz="1100" dirty="0">
                <a:solidFill>
                  <a:srgbClr val="516985"/>
                </a:solidFill>
                <a:latin typeface="Calibri" pitchFamily="34" charset="0"/>
                <a:ea typeface="Calibri" pitchFamily="34" charset="-122"/>
                <a:cs typeface="Calibri" pitchFamily="34" charset="-120"/>
              </a:rPr>
              <a:t>No missing values found in ratings or movie metadata files</a:t>
            </a:r>
            <a:endParaRPr lang="en-US" sz="1100" dirty="0"/>
          </a:p>
        </p:txBody>
      </p:sp>
      <p:sp>
        <p:nvSpPr>
          <p:cNvPr id="22" name="Shape 20"/>
          <p:cNvSpPr/>
          <p:nvPr/>
        </p:nvSpPr>
        <p:spPr>
          <a:xfrm>
            <a:off x="4754880" y="2240280"/>
            <a:ext cx="4023360" cy="2514600"/>
          </a:xfrm>
          <a:prstGeom prst="rect">
            <a:avLst/>
          </a:prstGeom>
          <a:solidFill>
            <a:srgbClr val="FFFFFF"/>
          </a:solidFill>
          <a:ln w="12700">
            <a:solidFill>
              <a:srgbClr val="EDE8DE"/>
            </a:solidFill>
            <a:prstDash val="solid"/>
          </a:ln>
          <a:effectLst>
            <a:outerShdw sx="100000" sy="100000" kx="0" ky="0" algn="bl" rotWithShape="0" blurRad="101600" dist="38100" dir="8100000">
              <a:srgbClr val="000000">
                <a:alpha val="12000"/>
              </a:srgbClr>
            </a:outerShdw>
          </a:effectLst>
        </p:spPr>
      </p:sp>
      <p:sp>
        <p:nvSpPr>
          <p:cNvPr id="23" name="Text 21"/>
          <p:cNvSpPr/>
          <p:nvPr/>
        </p:nvSpPr>
        <p:spPr>
          <a:xfrm>
            <a:off x="4892040" y="2331720"/>
            <a:ext cx="3749040" cy="320040"/>
          </a:xfrm>
          <a:prstGeom prst="rect">
            <a:avLst/>
          </a:prstGeom>
          <a:noFill/>
          <a:ln/>
        </p:spPr>
        <p:txBody>
          <a:bodyPr wrap="square" rtlCol="0" anchor="ctr"/>
          <a:lstStyle/>
          <a:p>
            <a:pPr algn="ctr" indent="0" marL="0">
              <a:buNone/>
            </a:pPr>
            <a:r>
              <a:rPr lang="en-US" sz="1100" b="1" dirty="0">
                <a:solidFill>
                  <a:srgbClr val="516985"/>
                </a:solidFill>
                <a:latin typeface="Calibri" pitchFamily="34" charset="0"/>
                <a:ea typeface="Calibri" pitchFamily="34" charset="-122"/>
                <a:cs typeface="Calibri" pitchFamily="34" charset="-120"/>
              </a:rPr>
              <a:t>User-Movie Matrix Sparsity</a:t>
            </a:r>
            <a:endParaRPr lang="en-US" sz="1100" dirty="0"/>
          </a:p>
        </p:txBody>
      </p:sp>
      <p:sp>
        <p:nvSpPr>
          <p:cNvPr id="24" name="Shape 22"/>
          <p:cNvSpPr/>
          <p:nvPr/>
        </p:nvSpPr>
        <p:spPr>
          <a:xfrm>
            <a:off x="4983480" y="2743200"/>
            <a:ext cx="228600" cy="201168"/>
          </a:xfrm>
          <a:prstGeom prst="rect">
            <a:avLst/>
          </a:prstGeom>
          <a:solidFill>
            <a:srgbClr val="F5F0E8"/>
          </a:solidFill>
          <a:ln w="12700">
            <a:solidFill>
              <a:srgbClr val="E8E2D4"/>
            </a:solidFill>
            <a:prstDash val="solid"/>
          </a:ln>
        </p:spPr>
      </p:sp>
      <p:sp>
        <p:nvSpPr>
          <p:cNvPr id="25" name="Shape 23"/>
          <p:cNvSpPr/>
          <p:nvPr/>
        </p:nvSpPr>
        <p:spPr>
          <a:xfrm>
            <a:off x="5221224" y="2743200"/>
            <a:ext cx="228600" cy="201168"/>
          </a:xfrm>
          <a:prstGeom prst="rect">
            <a:avLst/>
          </a:prstGeom>
          <a:solidFill>
            <a:srgbClr val="F5F0E8"/>
          </a:solidFill>
          <a:ln w="12700">
            <a:solidFill>
              <a:srgbClr val="E8E2D4"/>
            </a:solidFill>
            <a:prstDash val="solid"/>
          </a:ln>
        </p:spPr>
      </p:sp>
      <p:sp>
        <p:nvSpPr>
          <p:cNvPr id="26" name="Shape 24"/>
          <p:cNvSpPr/>
          <p:nvPr/>
        </p:nvSpPr>
        <p:spPr>
          <a:xfrm>
            <a:off x="5458968" y="2743200"/>
            <a:ext cx="228600" cy="201168"/>
          </a:xfrm>
          <a:prstGeom prst="rect">
            <a:avLst/>
          </a:prstGeom>
          <a:solidFill>
            <a:srgbClr val="E8B84B"/>
          </a:solidFill>
          <a:ln w="12700">
            <a:solidFill>
              <a:srgbClr val="E8E2D4"/>
            </a:solidFill>
            <a:prstDash val="solid"/>
          </a:ln>
        </p:spPr>
      </p:sp>
      <p:sp>
        <p:nvSpPr>
          <p:cNvPr id="27" name="Shape 25"/>
          <p:cNvSpPr/>
          <p:nvPr/>
        </p:nvSpPr>
        <p:spPr>
          <a:xfrm>
            <a:off x="5696712" y="2743200"/>
            <a:ext cx="228600" cy="201168"/>
          </a:xfrm>
          <a:prstGeom prst="rect">
            <a:avLst/>
          </a:prstGeom>
          <a:solidFill>
            <a:srgbClr val="F5F0E8"/>
          </a:solidFill>
          <a:ln w="12700">
            <a:solidFill>
              <a:srgbClr val="E8E2D4"/>
            </a:solidFill>
            <a:prstDash val="solid"/>
          </a:ln>
        </p:spPr>
      </p:sp>
      <p:sp>
        <p:nvSpPr>
          <p:cNvPr id="28" name="Shape 26"/>
          <p:cNvSpPr/>
          <p:nvPr/>
        </p:nvSpPr>
        <p:spPr>
          <a:xfrm>
            <a:off x="5934456" y="2743200"/>
            <a:ext cx="228600" cy="201168"/>
          </a:xfrm>
          <a:prstGeom prst="rect">
            <a:avLst/>
          </a:prstGeom>
          <a:solidFill>
            <a:srgbClr val="F5F0E8"/>
          </a:solidFill>
          <a:ln w="12700">
            <a:solidFill>
              <a:srgbClr val="E8E2D4"/>
            </a:solidFill>
            <a:prstDash val="solid"/>
          </a:ln>
        </p:spPr>
      </p:sp>
      <p:sp>
        <p:nvSpPr>
          <p:cNvPr id="29" name="Shape 27"/>
          <p:cNvSpPr/>
          <p:nvPr/>
        </p:nvSpPr>
        <p:spPr>
          <a:xfrm>
            <a:off x="6172200" y="2743200"/>
            <a:ext cx="228600" cy="201168"/>
          </a:xfrm>
          <a:prstGeom prst="rect">
            <a:avLst/>
          </a:prstGeom>
          <a:solidFill>
            <a:srgbClr val="F5F0E8"/>
          </a:solidFill>
          <a:ln w="12700">
            <a:solidFill>
              <a:srgbClr val="E8E2D4"/>
            </a:solidFill>
            <a:prstDash val="solid"/>
          </a:ln>
        </p:spPr>
      </p:sp>
      <p:sp>
        <p:nvSpPr>
          <p:cNvPr id="30" name="Shape 28"/>
          <p:cNvSpPr/>
          <p:nvPr/>
        </p:nvSpPr>
        <p:spPr>
          <a:xfrm>
            <a:off x="6409944" y="2743200"/>
            <a:ext cx="228600" cy="201168"/>
          </a:xfrm>
          <a:prstGeom prst="rect">
            <a:avLst/>
          </a:prstGeom>
          <a:solidFill>
            <a:srgbClr val="F5F0E8"/>
          </a:solidFill>
          <a:ln w="12700">
            <a:solidFill>
              <a:srgbClr val="E8E2D4"/>
            </a:solidFill>
            <a:prstDash val="solid"/>
          </a:ln>
        </p:spPr>
      </p:sp>
      <p:sp>
        <p:nvSpPr>
          <p:cNvPr id="31" name="Shape 29"/>
          <p:cNvSpPr/>
          <p:nvPr/>
        </p:nvSpPr>
        <p:spPr>
          <a:xfrm>
            <a:off x="6647688" y="2743200"/>
            <a:ext cx="228600" cy="201168"/>
          </a:xfrm>
          <a:prstGeom prst="rect">
            <a:avLst/>
          </a:prstGeom>
          <a:solidFill>
            <a:srgbClr val="F5F0E8"/>
          </a:solidFill>
          <a:ln w="12700">
            <a:solidFill>
              <a:srgbClr val="E8E2D4"/>
            </a:solidFill>
            <a:prstDash val="solid"/>
          </a:ln>
        </p:spPr>
      </p:sp>
      <p:sp>
        <p:nvSpPr>
          <p:cNvPr id="32" name="Shape 30"/>
          <p:cNvSpPr/>
          <p:nvPr/>
        </p:nvSpPr>
        <p:spPr>
          <a:xfrm>
            <a:off x="6885432" y="2743200"/>
            <a:ext cx="228600" cy="201168"/>
          </a:xfrm>
          <a:prstGeom prst="rect">
            <a:avLst/>
          </a:prstGeom>
          <a:solidFill>
            <a:srgbClr val="F5F0E8"/>
          </a:solidFill>
          <a:ln w="12700">
            <a:solidFill>
              <a:srgbClr val="E8E2D4"/>
            </a:solidFill>
            <a:prstDash val="solid"/>
          </a:ln>
        </p:spPr>
      </p:sp>
      <p:sp>
        <p:nvSpPr>
          <p:cNvPr id="33" name="Shape 31"/>
          <p:cNvSpPr/>
          <p:nvPr/>
        </p:nvSpPr>
        <p:spPr>
          <a:xfrm>
            <a:off x="7123176" y="2743200"/>
            <a:ext cx="228600" cy="201168"/>
          </a:xfrm>
          <a:prstGeom prst="rect">
            <a:avLst/>
          </a:prstGeom>
          <a:solidFill>
            <a:srgbClr val="E8B84B"/>
          </a:solidFill>
          <a:ln w="12700">
            <a:solidFill>
              <a:srgbClr val="E8E2D4"/>
            </a:solidFill>
            <a:prstDash val="solid"/>
          </a:ln>
        </p:spPr>
      </p:sp>
      <p:sp>
        <p:nvSpPr>
          <p:cNvPr id="34" name="Shape 32"/>
          <p:cNvSpPr/>
          <p:nvPr/>
        </p:nvSpPr>
        <p:spPr>
          <a:xfrm>
            <a:off x="7360920" y="2743200"/>
            <a:ext cx="228600" cy="201168"/>
          </a:xfrm>
          <a:prstGeom prst="rect">
            <a:avLst/>
          </a:prstGeom>
          <a:solidFill>
            <a:srgbClr val="F5F0E8"/>
          </a:solidFill>
          <a:ln w="12700">
            <a:solidFill>
              <a:srgbClr val="E8E2D4"/>
            </a:solidFill>
            <a:prstDash val="solid"/>
          </a:ln>
        </p:spPr>
      </p:sp>
      <p:sp>
        <p:nvSpPr>
          <p:cNvPr id="35" name="Shape 33"/>
          <p:cNvSpPr/>
          <p:nvPr/>
        </p:nvSpPr>
        <p:spPr>
          <a:xfrm>
            <a:off x="7598664" y="2743200"/>
            <a:ext cx="228600" cy="201168"/>
          </a:xfrm>
          <a:prstGeom prst="rect">
            <a:avLst/>
          </a:prstGeom>
          <a:solidFill>
            <a:srgbClr val="F5F0E8"/>
          </a:solidFill>
          <a:ln w="12700">
            <a:solidFill>
              <a:srgbClr val="E8E2D4"/>
            </a:solidFill>
            <a:prstDash val="solid"/>
          </a:ln>
        </p:spPr>
      </p:sp>
      <p:sp>
        <p:nvSpPr>
          <p:cNvPr id="36" name="Shape 34"/>
          <p:cNvSpPr/>
          <p:nvPr/>
        </p:nvSpPr>
        <p:spPr>
          <a:xfrm>
            <a:off x="7836408" y="2743200"/>
            <a:ext cx="228600" cy="201168"/>
          </a:xfrm>
          <a:prstGeom prst="rect">
            <a:avLst/>
          </a:prstGeom>
          <a:solidFill>
            <a:srgbClr val="F5F0E8"/>
          </a:solidFill>
          <a:ln w="12700">
            <a:solidFill>
              <a:srgbClr val="E8E2D4"/>
            </a:solidFill>
            <a:prstDash val="solid"/>
          </a:ln>
        </p:spPr>
      </p:sp>
      <p:sp>
        <p:nvSpPr>
          <p:cNvPr id="37" name="Shape 35"/>
          <p:cNvSpPr/>
          <p:nvPr/>
        </p:nvSpPr>
        <p:spPr>
          <a:xfrm>
            <a:off x="8074152" y="2743200"/>
            <a:ext cx="228600" cy="201168"/>
          </a:xfrm>
          <a:prstGeom prst="rect">
            <a:avLst/>
          </a:prstGeom>
          <a:solidFill>
            <a:srgbClr val="F5F0E8"/>
          </a:solidFill>
          <a:ln w="12700">
            <a:solidFill>
              <a:srgbClr val="E8E2D4"/>
            </a:solidFill>
            <a:prstDash val="solid"/>
          </a:ln>
        </p:spPr>
      </p:sp>
      <p:sp>
        <p:nvSpPr>
          <p:cNvPr id="38" name="Shape 36"/>
          <p:cNvSpPr/>
          <p:nvPr/>
        </p:nvSpPr>
        <p:spPr>
          <a:xfrm>
            <a:off x="4983480" y="2962656"/>
            <a:ext cx="228600" cy="201168"/>
          </a:xfrm>
          <a:prstGeom prst="rect">
            <a:avLst/>
          </a:prstGeom>
          <a:solidFill>
            <a:srgbClr val="F5F0E8"/>
          </a:solidFill>
          <a:ln w="12700">
            <a:solidFill>
              <a:srgbClr val="E8E2D4"/>
            </a:solidFill>
            <a:prstDash val="solid"/>
          </a:ln>
        </p:spPr>
      </p:sp>
      <p:sp>
        <p:nvSpPr>
          <p:cNvPr id="39" name="Shape 37"/>
          <p:cNvSpPr/>
          <p:nvPr/>
        </p:nvSpPr>
        <p:spPr>
          <a:xfrm>
            <a:off x="5221224" y="2962656"/>
            <a:ext cx="228600" cy="201168"/>
          </a:xfrm>
          <a:prstGeom prst="rect">
            <a:avLst/>
          </a:prstGeom>
          <a:solidFill>
            <a:srgbClr val="F5F0E8"/>
          </a:solidFill>
          <a:ln w="12700">
            <a:solidFill>
              <a:srgbClr val="E8E2D4"/>
            </a:solidFill>
            <a:prstDash val="solid"/>
          </a:ln>
        </p:spPr>
      </p:sp>
      <p:sp>
        <p:nvSpPr>
          <p:cNvPr id="40" name="Shape 38"/>
          <p:cNvSpPr/>
          <p:nvPr/>
        </p:nvSpPr>
        <p:spPr>
          <a:xfrm>
            <a:off x="5458968" y="2962656"/>
            <a:ext cx="228600" cy="201168"/>
          </a:xfrm>
          <a:prstGeom prst="rect">
            <a:avLst/>
          </a:prstGeom>
          <a:solidFill>
            <a:srgbClr val="F5F0E8"/>
          </a:solidFill>
          <a:ln w="12700">
            <a:solidFill>
              <a:srgbClr val="E8E2D4"/>
            </a:solidFill>
            <a:prstDash val="solid"/>
          </a:ln>
        </p:spPr>
      </p:sp>
      <p:sp>
        <p:nvSpPr>
          <p:cNvPr id="41" name="Shape 39"/>
          <p:cNvSpPr/>
          <p:nvPr/>
        </p:nvSpPr>
        <p:spPr>
          <a:xfrm>
            <a:off x="5696712" y="2962656"/>
            <a:ext cx="228600" cy="201168"/>
          </a:xfrm>
          <a:prstGeom prst="rect">
            <a:avLst/>
          </a:prstGeom>
          <a:solidFill>
            <a:srgbClr val="F5F0E8"/>
          </a:solidFill>
          <a:ln w="12700">
            <a:solidFill>
              <a:srgbClr val="E8E2D4"/>
            </a:solidFill>
            <a:prstDash val="solid"/>
          </a:ln>
        </p:spPr>
      </p:sp>
      <p:sp>
        <p:nvSpPr>
          <p:cNvPr id="42" name="Shape 40"/>
          <p:cNvSpPr/>
          <p:nvPr/>
        </p:nvSpPr>
        <p:spPr>
          <a:xfrm>
            <a:off x="5934456" y="2962656"/>
            <a:ext cx="228600" cy="201168"/>
          </a:xfrm>
          <a:prstGeom prst="rect">
            <a:avLst/>
          </a:prstGeom>
          <a:solidFill>
            <a:srgbClr val="E8B84B"/>
          </a:solidFill>
          <a:ln w="12700">
            <a:solidFill>
              <a:srgbClr val="E8E2D4"/>
            </a:solidFill>
            <a:prstDash val="solid"/>
          </a:ln>
        </p:spPr>
      </p:sp>
      <p:sp>
        <p:nvSpPr>
          <p:cNvPr id="43" name="Shape 41"/>
          <p:cNvSpPr/>
          <p:nvPr/>
        </p:nvSpPr>
        <p:spPr>
          <a:xfrm>
            <a:off x="6172200" y="2962656"/>
            <a:ext cx="228600" cy="201168"/>
          </a:xfrm>
          <a:prstGeom prst="rect">
            <a:avLst/>
          </a:prstGeom>
          <a:solidFill>
            <a:srgbClr val="F5F0E8"/>
          </a:solidFill>
          <a:ln w="12700">
            <a:solidFill>
              <a:srgbClr val="E8E2D4"/>
            </a:solidFill>
            <a:prstDash val="solid"/>
          </a:ln>
        </p:spPr>
      </p:sp>
      <p:sp>
        <p:nvSpPr>
          <p:cNvPr id="44" name="Shape 42"/>
          <p:cNvSpPr/>
          <p:nvPr/>
        </p:nvSpPr>
        <p:spPr>
          <a:xfrm>
            <a:off x="6409944" y="2962656"/>
            <a:ext cx="228600" cy="201168"/>
          </a:xfrm>
          <a:prstGeom prst="rect">
            <a:avLst/>
          </a:prstGeom>
          <a:solidFill>
            <a:srgbClr val="F5F0E8"/>
          </a:solidFill>
          <a:ln w="12700">
            <a:solidFill>
              <a:srgbClr val="E8E2D4"/>
            </a:solidFill>
            <a:prstDash val="solid"/>
          </a:ln>
        </p:spPr>
      </p:sp>
      <p:sp>
        <p:nvSpPr>
          <p:cNvPr id="45" name="Shape 43"/>
          <p:cNvSpPr/>
          <p:nvPr/>
        </p:nvSpPr>
        <p:spPr>
          <a:xfrm>
            <a:off x="6647688" y="2962656"/>
            <a:ext cx="228600" cy="201168"/>
          </a:xfrm>
          <a:prstGeom prst="rect">
            <a:avLst/>
          </a:prstGeom>
          <a:solidFill>
            <a:srgbClr val="F5F0E8"/>
          </a:solidFill>
          <a:ln w="12700">
            <a:solidFill>
              <a:srgbClr val="E8E2D4"/>
            </a:solidFill>
            <a:prstDash val="solid"/>
          </a:ln>
        </p:spPr>
      </p:sp>
      <p:sp>
        <p:nvSpPr>
          <p:cNvPr id="46" name="Shape 44"/>
          <p:cNvSpPr/>
          <p:nvPr/>
        </p:nvSpPr>
        <p:spPr>
          <a:xfrm>
            <a:off x="6885432" y="2962656"/>
            <a:ext cx="228600" cy="201168"/>
          </a:xfrm>
          <a:prstGeom prst="rect">
            <a:avLst/>
          </a:prstGeom>
          <a:solidFill>
            <a:srgbClr val="F5F0E8"/>
          </a:solidFill>
          <a:ln w="12700">
            <a:solidFill>
              <a:srgbClr val="E8E2D4"/>
            </a:solidFill>
            <a:prstDash val="solid"/>
          </a:ln>
        </p:spPr>
      </p:sp>
      <p:sp>
        <p:nvSpPr>
          <p:cNvPr id="47" name="Shape 45"/>
          <p:cNvSpPr/>
          <p:nvPr/>
        </p:nvSpPr>
        <p:spPr>
          <a:xfrm>
            <a:off x="7123176" y="2962656"/>
            <a:ext cx="228600" cy="201168"/>
          </a:xfrm>
          <a:prstGeom prst="rect">
            <a:avLst/>
          </a:prstGeom>
          <a:solidFill>
            <a:srgbClr val="F5F0E8"/>
          </a:solidFill>
          <a:ln w="12700">
            <a:solidFill>
              <a:srgbClr val="E8E2D4"/>
            </a:solidFill>
            <a:prstDash val="solid"/>
          </a:ln>
        </p:spPr>
      </p:sp>
      <p:sp>
        <p:nvSpPr>
          <p:cNvPr id="48" name="Shape 46"/>
          <p:cNvSpPr/>
          <p:nvPr/>
        </p:nvSpPr>
        <p:spPr>
          <a:xfrm>
            <a:off x="7360920" y="2962656"/>
            <a:ext cx="228600" cy="201168"/>
          </a:xfrm>
          <a:prstGeom prst="rect">
            <a:avLst/>
          </a:prstGeom>
          <a:solidFill>
            <a:srgbClr val="F5F0E8"/>
          </a:solidFill>
          <a:ln w="12700">
            <a:solidFill>
              <a:srgbClr val="E8E2D4"/>
            </a:solidFill>
            <a:prstDash val="solid"/>
          </a:ln>
        </p:spPr>
      </p:sp>
      <p:sp>
        <p:nvSpPr>
          <p:cNvPr id="49" name="Shape 47"/>
          <p:cNvSpPr/>
          <p:nvPr/>
        </p:nvSpPr>
        <p:spPr>
          <a:xfrm>
            <a:off x="7598664" y="2962656"/>
            <a:ext cx="228600" cy="201168"/>
          </a:xfrm>
          <a:prstGeom prst="rect">
            <a:avLst/>
          </a:prstGeom>
          <a:solidFill>
            <a:srgbClr val="F5F0E8"/>
          </a:solidFill>
          <a:ln w="12700">
            <a:solidFill>
              <a:srgbClr val="E8E2D4"/>
            </a:solidFill>
            <a:prstDash val="solid"/>
          </a:ln>
        </p:spPr>
      </p:sp>
      <p:sp>
        <p:nvSpPr>
          <p:cNvPr id="50" name="Shape 48"/>
          <p:cNvSpPr/>
          <p:nvPr/>
        </p:nvSpPr>
        <p:spPr>
          <a:xfrm>
            <a:off x="7836408" y="2962656"/>
            <a:ext cx="228600" cy="201168"/>
          </a:xfrm>
          <a:prstGeom prst="rect">
            <a:avLst/>
          </a:prstGeom>
          <a:solidFill>
            <a:srgbClr val="F5F0E8"/>
          </a:solidFill>
          <a:ln w="12700">
            <a:solidFill>
              <a:srgbClr val="E8E2D4"/>
            </a:solidFill>
            <a:prstDash val="solid"/>
          </a:ln>
        </p:spPr>
      </p:sp>
      <p:sp>
        <p:nvSpPr>
          <p:cNvPr id="51" name="Shape 49"/>
          <p:cNvSpPr/>
          <p:nvPr/>
        </p:nvSpPr>
        <p:spPr>
          <a:xfrm>
            <a:off x="8074152" y="2962656"/>
            <a:ext cx="228600" cy="201168"/>
          </a:xfrm>
          <a:prstGeom prst="rect">
            <a:avLst/>
          </a:prstGeom>
          <a:solidFill>
            <a:srgbClr val="F5F0E8"/>
          </a:solidFill>
          <a:ln w="12700">
            <a:solidFill>
              <a:srgbClr val="E8E2D4"/>
            </a:solidFill>
            <a:prstDash val="solid"/>
          </a:ln>
        </p:spPr>
      </p:sp>
      <p:sp>
        <p:nvSpPr>
          <p:cNvPr id="52" name="Shape 50"/>
          <p:cNvSpPr/>
          <p:nvPr/>
        </p:nvSpPr>
        <p:spPr>
          <a:xfrm>
            <a:off x="4983480" y="3182112"/>
            <a:ext cx="228600" cy="201168"/>
          </a:xfrm>
          <a:prstGeom prst="rect">
            <a:avLst/>
          </a:prstGeom>
          <a:solidFill>
            <a:srgbClr val="F5F0E8"/>
          </a:solidFill>
          <a:ln w="12700">
            <a:solidFill>
              <a:srgbClr val="E8E2D4"/>
            </a:solidFill>
            <a:prstDash val="solid"/>
          </a:ln>
        </p:spPr>
      </p:sp>
      <p:sp>
        <p:nvSpPr>
          <p:cNvPr id="53" name="Shape 51"/>
          <p:cNvSpPr/>
          <p:nvPr/>
        </p:nvSpPr>
        <p:spPr>
          <a:xfrm>
            <a:off x="5221224" y="3182112"/>
            <a:ext cx="228600" cy="201168"/>
          </a:xfrm>
          <a:prstGeom prst="rect">
            <a:avLst/>
          </a:prstGeom>
          <a:solidFill>
            <a:srgbClr val="F5F0E8"/>
          </a:solidFill>
          <a:ln w="12700">
            <a:solidFill>
              <a:srgbClr val="E8E2D4"/>
            </a:solidFill>
            <a:prstDash val="solid"/>
          </a:ln>
        </p:spPr>
      </p:sp>
      <p:sp>
        <p:nvSpPr>
          <p:cNvPr id="54" name="Shape 52"/>
          <p:cNvSpPr/>
          <p:nvPr/>
        </p:nvSpPr>
        <p:spPr>
          <a:xfrm>
            <a:off x="5458968" y="3182112"/>
            <a:ext cx="228600" cy="201168"/>
          </a:xfrm>
          <a:prstGeom prst="rect">
            <a:avLst/>
          </a:prstGeom>
          <a:solidFill>
            <a:srgbClr val="F5F0E8"/>
          </a:solidFill>
          <a:ln w="12700">
            <a:solidFill>
              <a:srgbClr val="E8E2D4"/>
            </a:solidFill>
            <a:prstDash val="solid"/>
          </a:ln>
        </p:spPr>
      </p:sp>
      <p:sp>
        <p:nvSpPr>
          <p:cNvPr id="55" name="Shape 53"/>
          <p:cNvSpPr/>
          <p:nvPr/>
        </p:nvSpPr>
        <p:spPr>
          <a:xfrm>
            <a:off x="5696712" y="3182112"/>
            <a:ext cx="228600" cy="201168"/>
          </a:xfrm>
          <a:prstGeom prst="rect">
            <a:avLst/>
          </a:prstGeom>
          <a:solidFill>
            <a:srgbClr val="E8B84B"/>
          </a:solidFill>
          <a:ln w="12700">
            <a:solidFill>
              <a:srgbClr val="E8E2D4"/>
            </a:solidFill>
            <a:prstDash val="solid"/>
          </a:ln>
        </p:spPr>
      </p:sp>
      <p:sp>
        <p:nvSpPr>
          <p:cNvPr id="56" name="Shape 54"/>
          <p:cNvSpPr/>
          <p:nvPr/>
        </p:nvSpPr>
        <p:spPr>
          <a:xfrm>
            <a:off x="5934456" y="3182112"/>
            <a:ext cx="228600" cy="201168"/>
          </a:xfrm>
          <a:prstGeom prst="rect">
            <a:avLst/>
          </a:prstGeom>
          <a:solidFill>
            <a:srgbClr val="F5F0E8"/>
          </a:solidFill>
          <a:ln w="12700">
            <a:solidFill>
              <a:srgbClr val="E8E2D4"/>
            </a:solidFill>
            <a:prstDash val="solid"/>
          </a:ln>
        </p:spPr>
      </p:sp>
      <p:sp>
        <p:nvSpPr>
          <p:cNvPr id="57" name="Shape 55"/>
          <p:cNvSpPr/>
          <p:nvPr/>
        </p:nvSpPr>
        <p:spPr>
          <a:xfrm>
            <a:off x="6172200" y="3182112"/>
            <a:ext cx="228600" cy="201168"/>
          </a:xfrm>
          <a:prstGeom prst="rect">
            <a:avLst/>
          </a:prstGeom>
          <a:solidFill>
            <a:srgbClr val="F5F0E8"/>
          </a:solidFill>
          <a:ln w="12700">
            <a:solidFill>
              <a:srgbClr val="E8E2D4"/>
            </a:solidFill>
            <a:prstDash val="solid"/>
          </a:ln>
        </p:spPr>
      </p:sp>
      <p:sp>
        <p:nvSpPr>
          <p:cNvPr id="58" name="Shape 56"/>
          <p:cNvSpPr/>
          <p:nvPr/>
        </p:nvSpPr>
        <p:spPr>
          <a:xfrm>
            <a:off x="6409944" y="3182112"/>
            <a:ext cx="228600" cy="201168"/>
          </a:xfrm>
          <a:prstGeom prst="rect">
            <a:avLst/>
          </a:prstGeom>
          <a:solidFill>
            <a:srgbClr val="F5F0E8"/>
          </a:solidFill>
          <a:ln w="12700">
            <a:solidFill>
              <a:srgbClr val="E8E2D4"/>
            </a:solidFill>
            <a:prstDash val="solid"/>
          </a:ln>
        </p:spPr>
      </p:sp>
      <p:sp>
        <p:nvSpPr>
          <p:cNvPr id="59" name="Shape 57"/>
          <p:cNvSpPr/>
          <p:nvPr/>
        </p:nvSpPr>
        <p:spPr>
          <a:xfrm>
            <a:off x="6647688" y="3182112"/>
            <a:ext cx="228600" cy="201168"/>
          </a:xfrm>
          <a:prstGeom prst="rect">
            <a:avLst/>
          </a:prstGeom>
          <a:solidFill>
            <a:srgbClr val="F5F0E8"/>
          </a:solidFill>
          <a:ln w="12700">
            <a:solidFill>
              <a:srgbClr val="E8E2D4"/>
            </a:solidFill>
            <a:prstDash val="solid"/>
          </a:ln>
        </p:spPr>
      </p:sp>
      <p:sp>
        <p:nvSpPr>
          <p:cNvPr id="60" name="Shape 58"/>
          <p:cNvSpPr/>
          <p:nvPr/>
        </p:nvSpPr>
        <p:spPr>
          <a:xfrm>
            <a:off x="6885432" y="3182112"/>
            <a:ext cx="228600" cy="201168"/>
          </a:xfrm>
          <a:prstGeom prst="rect">
            <a:avLst/>
          </a:prstGeom>
          <a:solidFill>
            <a:srgbClr val="F5F0E8"/>
          </a:solidFill>
          <a:ln w="12700">
            <a:solidFill>
              <a:srgbClr val="E8E2D4"/>
            </a:solidFill>
            <a:prstDash val="solid"/>
          </a:ln>
        </p:spPr>
      </p:sp>
      <p:sp>
        <p:nvSpPr>
          <p:cNvPr id="61" name="Shape 59"/>
          <p:cNvSpPr/>
          <p:nvPr/>
        </p:nvSpPr>
        <p:spPr>
          <a:xfrm>
            <a:off x="7123176" y="3182112"/>
            <a:ext cx="228600" cy="201168"/>
          </a:xfrm>
          <a:prstGeom prst="rect">
            <a:avLst/>
          </a:prstGeom>
          <a:solidFill>
            <a:srgbClr val="F5F0E8"/>
          </a:solidFill>
          <a:ln w="12700">
            <a:solidFill>
              <a:srgbClr val="E8E2D4"/>
            </a:solidFill>
            <a:prstDash val="solid"/>
          </a:ln>
        </p:spPr>
      </p:sp>
      <p:sp>
        <p:nvSpPr>
          <p:cNvPr id="62" name="Shape 60"/>
          <p:cNvSpPr/>
          <p:nvPr/>
        </p:nvSpPr>
        <p:spPr>
          <a:xfrm>
            <a:off x="7360920" y="3182112"/>
            <a:ext cx="228600" cy="201168"/>
          </a:xfrm>
          <a:prstGeom prst="rect">
            <a:avLst/>
          </a:prstGeom>
          <a:solidFill>
            <a:srgbClr val="F5F0E8"/>
          </a:solidFill>
          <a:ln w="12700">
            <a:solidFill>
              <a:srgbClr val="E8E2D4"/>
            </a:solidFill>
            <a:prstDash val="solid"/>
          </a:ln>
        </p:spPr>
      </p:sp>
      <p:sp>
        <p:nvSpPr>
          <p:cNvPr id="63" name="Shape 61"/>
          <p:cNvSpPr/>
          <p:nvPr/>
        </p:nvSpPr>
        <p:spPr>
          <a:xfrm>
            <a:off x="7598664" y="3182112"/>
            <a:ext cx="228600" cy="201168"/>
          </a:xfrm>
          <a:prstGeom prst="rect">
            <a:avLst/>
          </a:prstGeom>
          <a:solidFill>
            <a:srgbClr val="F5F0E8"/>
          </a:solidFill>
          <a:ln w="12700">
            <a:solidFill>
              <a:srgbClr val="E8E2D4"/>
            </a:solidFill>
            <a:prstDash val="solid"/>
          </a:ln>
        </p:spPr>
      </p:sp>
      <p:sp>
        <p:nvSpPr>
          <p:cNvPr id="64" name="Shape 62"/>
          <p:cNvSpPr/>
          <p:nvPr/>
        </p:nvSpPr>
        <p:spPr>
          <a:xfrm>
            <a:off x="7836408" y="3182112"/>
            <a:ext cx="228600" cy="201168"/>
          </a:xfrm>
          <a:prstGeom prst="rect">
            <a:avLst/>
          </a:prstGeom>
          <a:solidFill>
            <a:srgbClr val="F5F0E8"/>
          </a:solidFill>
          <a:ln w="12700">
            <a:solidFill>
              <a:srgbClr val="E8E2D4"/>
            </a:solidFill>
            <a:prstDash val="solid"/>
          </a:ln>
        </p:spPr>
      </p:sp>
      <p:sp>
        <p:nvSpPr>
          <p:cNvPr id="65" name="Shape 63"/>
          <p:cNvSpPr/>
          <p:nvPr/>
        </p:nvSpPr>
        <p:spPr>
          <a:xfrm>
            <a:off x="8074152" y="3182112"/>
            <a:ext cx="228600" cy="201168"/>
          </a:xfrm>
          <a:prstGeom prst="rect">
            <a:avLst/>
          </a:prstGeom>
          <a:solidFill>
            <a:srgbClr val="F5F0E8"/>
          </a:solidFill>
          <a:ln w="12700">
            <a:solidFill>
              <a:srgbClr val="E8E2D4"/>
            </a:solidFill>
            <a:prstDash val="solid"/>
          </a:ln>
        </p:spPr>
      </p:sp>
      <p:sp>
        <p:nvSpPr>
          <p:cNvPr id="66" name="Shape 64"/>
          <p:cNvSpPr/>
          <p:nvPr/>
        </p:nvSpPr>
        <p:spPr>
          <a:xfrm>
            <a:off x="4983480" y="3401568"/>
            <a:ext cx="228600" cy="201168"/>
          </a:xfrm>
          <a:prstGeom prst="rect">
            <a:avLst/>
          </a:prstGeom>
          <a:solidFill>
            <a:srgbClr val="F5F0E8"/>
          </a:solidFill>
          <a:ln w="12700">
            <a:solidFill>
              <a:srgbClr val="E8E2D4"/>
            </a:solidFill>
            <a:prstDash val="solid"/>
          </a:ln>
        </p:spPr>
      </p:sp>
      <p:sp>
        <p:nvSpPr>
          <p:cNvPr id="67" name="Shape 65"/>
          <p:cNvSpPr/>
          <p:nvPr/>
        </p:nvSpPr>
        <p:spPr>
          <a:xfrm>
            <a:off x="5221224" y="3401568"/>
            <a:ext cx="228600" cy="201168"/>
          </a:xfrm>
          <a:prstGeom prst="rect">
            <a:avLst/>
          </a:prstGeom>
          <a:solidFill>
            <a:srgbClr val="F5F0E8"/>
          </a:solidFill>
          <a:ln w="12700">
            <a:solidFill>
              <a:srgbClr val="E8E2D4"/>
            </a:solidFill>
            <a:prstDash val="solid"/>
          </a:ln>
        </p:spPr>
      </p:sp>
      <p:sp>
        <p:nvSpPr>
          <p:cNvPr id="68" name="Shape 66"/>
          <p:cNvSpPr/>
          <p:nvPr/>
        </p:nvSpPr>
        <p:spPr>
          <a:xfrm>
            <a:off x="5458968" y="3401568"/>
            <a:ext cx="228600" cy="201168"/>
          </a:xfrm>
          <a:prstGeom prst="rect">
            <a:avLst/>
          </a:prstGeom>
          <a:solidFill>
            <a:srgbClr val="F5F0E8"/>
          </a:solidFill>
          <a:ln w="12700">
            <a:solidFill>
              <a:srgbClr val="E8E2D4"/>
            </a:solidFill>
            <a:prstDash val="solid"/>
          </a:ln>
        </p:spPr>
      </p:sp>
      <p:sp>
        <p:nvSpPr>
          <p:cNvPr id="69" name="Shape 67"/>
          <p:cNvSpPr/>
          <p:nvPr/>
        </p:nvSpPr>
        <p:spPr>
          <a:xfrm>
            <a:off x="5696712" y="3401568"/>
            <a:ext cx="228600" cy="201168"/>
          </a:xfrm>
          <a:prstGeom prst="rect">
            <a:avLst/>
          </a:prstGeom>
          <a:solidFill>
            <a:srgbClr val="E8B84B"/>
          </a:solidFill>
          <a:ln w="12700">
            <a:solidFill>
              <a:srgbClr val="E8E2D4"/>
            </a:solidFill>
            <a:prstDash val="solid"/>
          </a:ln>
        </p:spPr>
      </p:sp>
      <p:sp>
        <p:nvSpPr>
          <p:cNvPr id="70" name="Shape 68"/>
          <p:cNvSpPr/>
          <p:nvPr/>
        </p:nvSpPr>
        <p:spPr>
          <a:xfrm>
            <a:off x="5934456" y="3401568"/>
            <a:ext cx="228600" cy="201168"/>
          </a:xfrm>
          <a:prstGeom prst="rect">
            <a:avLst/>
          </a:prstGeom>
          <a:solidFill>
            <a:srgbClr val="F5F0E8"/>
          </a:solidFill>
          <a:ln w="12700">
            <a:solidFill>
              <a:srgbClr val="E8E2D4"/>
            </a:solidFill>
            <a:prstDash val="solid"/>
          </a:ln>
        </p:spPr>
      </p:sp>
      <p:sp>
        <p:nvSpPr>
          <p:cNvPr id="71" name="Shape 69"/>
          <p:cNvSpPr/>
          <p:nvPr/>
        </p:nvSpPr>
        <p:spPr>
          <a:xfrm>
            <a:off x="6172200" y="3401568"/>
            <a:ext cx="228600" cy="201168"/>
          </a:xfrm>
          <a:prstGeom prst="rect">
            <a:avLst/>
          </a:prstGeom>
          <a:solidFill>
            <a:srgbClr val="F5F0E8"/>
          </a:solidFill>
          <a:ln w="12700">
            <a:solidFill>
              <a:srgbClr val="E8E2D4"/>
            </a:solidFill>
            <a:prstDash val="solid"/>
          </a:ln>
        </p:spPr>
      </p:sp>
      <p:sp>
        <p:nvSpPr>
          <p:cNvPr id="72" name="Shape 70"/>
          <p:cNvSpPr/>
          <p:nvPr/>
        </p:nvSpPr>
        <p:spPr>
          <a:xfrm>
            <a:off x="6409944" y="3401568"/>
            <a:ext cx="228600" cy="201168"/>
          </a:xfrm>
          <a:prstGeom prst="rect">
            <a:avLst/>
          </a:prstGeom>
          <a:solidFill>
            <a:srgbClr val="F5F0E8"/>
          </a:solidFill>
          <a:ln w="12700">
            <a:solidFill>
              <a:srgbClr val="E8E2D4"/>
            </a:solidFill>
            <a:prstDash val="solid"/>
          </a:ln>
        </p:spPr>
      </p:sp>
      <p:sp>
        <p:nvSpPr>
          <p:cNvPr id="73" name="Shape 71"/>
          <p:cNvSpPr/>
          <p:nvPr/>
        </p:nvSpPr>
        <p:spPr>
          <a:xfrm>
            <a:off x="6647688" y="3401568"/>
            <a:ext cx="228600" cy="201168"/>
          </a:xfrm>
          <a:prstGeom prst="rect">
            <a:avLst/>
          </a:prstGeom>
          <a:solidFill>
            <a:srgbClr val="F5F0E8"/>
          </a:solidFill>
          <a:ln w="12700">
            <a:solidFill>
              <a:srgbClr val="E8E2D4"/>
            </a:solidFill>
            <a:prstDash val="solid"/>
          </a:ln>
        </p:spPr>
      </p:sp>
      <p:sp>
        <p:nvSpPr>
          <p:cNvPr id="74" name="Shape 72"/>
          <p:cNvSpPr/>
          <p:nvPr/>
        </p:nvSpPr>
        <p:spPr>
          <a:xfrm>
            <a:off x="6885432" y="3401568"/>
            <a:ext cx="228600" cy="201168"/>
          </a:xfrm>
          <a:prstGeom prst="rect">
            <a:avLst/>
          </a:prstGeom>
          <a:solidFill>
            <a:srgbClr val="F5F0E8"/>
          </a:solidFill>
          <a:ln w="12700">
            <a:solidFill>
              <a:srgbClr val="E8E2D4"/>
            </a:solidFill>
            <a:prstDash val="solid"/>
          </a:ln>
        </p:spPr>
      </p:sp>
      <p:sp>
        <p:nvSpPr>
          <p:cNvPr id="75" name="Shape 73"/>
          <p:cNvSpPr/>
          <p:nvPr/>
        </p:nvSpPr>
        <p:spPr>
          <a:xfrm>
            <a:off x="7123176" y="3401568"/>
            <a:ext cx="228600" cy="201168"/>
          </a:xfrm>
          <a:prstGeom prst="rect">
            <a:avLst/>
          </a:prstGeom>
          <a:solidFill>
            <a:srgbClr val="F5F0E8"/>
          </a:solidFill>
          <a:ln w="12700">
            <a:solidFill>
              <a:srgbClr val="E8E2D4"/>
            </a:solidFill>
            <a:prstDash val="solid"/>
          </a:ln>
        </p:spPr>
      </p:sp>
      <p:sp>
        <p:nvSpPr>
          <p:cNvPr id="76" name="Shape 74"/>
          <p:cNvSpPr/>
          <p:nvPr/>
        </p:nvSpPr>
        <p:spPr>
          <a:xfrm>
            <a:off x="7360920" y="3401568"/>
            <a:ext cx="228600" cy="201168"/>
          </a:xfrm>
          <a:prstGeom prst="rect">
            <a:avLst/>
          </a:prstGeom>
          <a:solidFill>
            <a:srgbClr val="E8B84B"/>
          </a:solidFill>
          <a:ln w="12700">
            <a:solidFill>
              <a:srgbClr val="E8E2D4"/>
            </a:solidFill>
            <a:prstDash val="solid"/>
          </a:ln>
        </p:spPr>
      </p:sp>
      <p:sp>
        <p:nvSpPr>
          <p:cNvPr id="77" name="Shape 75"/>
          <p:cNvSpPr/>
          <p:nvPr/>
        </p:nvSpPr>
        <p:spPr>
          <a:xfrm>
            <a:off x="7598664" y="3401568"/>
            <a:ext cx="228600" cy="201168"/>
          </a:xfrm>
          <a:prstGeom prst="rect">
            <a:avLst/>
          </a:prstGeom>
          <a:solidFill>
            <a:srgbClr val="F5F0E8"/>
          </a:solidFill>
          <a:ln w="12700">
            <a:solidFill>
              <a:srgbClr val="E8E2D4"/>
            </a:solidFill>
            <a:prstDash val="solid"/>
          </a:ln>
        </p:spPr>
      </p:sp>
      <p:sp>
        <p:nvSpPr>
          <p:cNvPr id="78" name="Shape 76"/>
          <p:cNvSpPr/>
          <p:nvPr/>
        </p:nvSpPr>
        <p:spPr>
          <a:xfrm>
            <a:off x="7836408" y="3401568"/>
            <a:ext cx="228600" cy="201168"/>
          </a:xfrm>
          <a:prstGeom prst="rect">
            <a:avLst/>
          </a:prstGeom>
          <a:solidFill>
            <a:srgbClr val="F5F0E8"/>
          </a:solidFill>
          <a:ln w="12700">
            <a:solidFill>
              <a:srgbClr val="E8E2D4"/>
            </a:solidFill>
            <a:prstDash val="solid"/>
          </a:ln>
        </p:spPr>
      </p:sp>
      <p:sp>
        <p:nvSpPr>
          <p:cNvPr id="79" name="Shape 77"/>
          <p:cNvSpPr/>
          <p:nvPr/>
        </p:nvSpPr>
        <p:spPr>
          <a:xfrm>
            <a:off x="8074152" y="3401568"/>
            <a:ext cx="228600" cy="201168"/>
          </a:xfrm>
          <a:prstGeom prst="rect">
            <a:avLst/>
          </a:prstGeom>
          <a:solidFill>
            <a:srgbClr val="F5F0E8"/>
          </a:solidFill>
          <a:ln w="12700">
            <a:solidFill>
              <a:srgbClr val="E8E2D4"/>
            </a:solidFill>
            <a:prstDash val="solid"/>
          </a:ln>
        </p:spPr>
      </p:sp>
      <p:sp>
        <p:nvSpPr>
          <p:cNvPr id="80" name="Shape 78"/>
          <p:cNvSpPr/>
          <p:nvPr/>
        </p:nvSpPr>
        <p:spPr>
          <a:xfrm>
            <a:off x="4983480" y="3621024"/>
            <a:ext cx="228600" cy="201168"/>
          </a:xfrm>
          <a:prstGeom prst="rect">
            <a:avLst/>
          </a:prstGeom>
          <a:solidFill>
            <a:srgbClr val="F5F0E8"/>
          </a:solidFill>
          <a:ln w="12700">
            <a:solidFill>
              <a:srgbClr val="E8E2D4"/>
            </a:solidFill>
            <a:prstDash val="solid"/>
          </a:ln>
        </p:spPr>
      </p:sp>
      <p:sp>
        <p:nvSpPr>
          <p:cNvPr id="81" name="Shape 79"/>
          <p:cNvSpPr/>
          <p:nvPr/>
        </p:nvSpPr>
        <p:spPr>
          <a:xfrm>
            <a:off x="5221224" y="3621024"/>
            <a:ext cx="228600" cy="201168"/>
          </a:xfrm>
          <a:prstGeom prst="rect">
            <a:avLst/>
          </a:prstGeom>
          <a:solidFill>
            <a:srgbClr val="F5F0E8"/>
          </a:solidFill>
          <a:ln w="12700">
            <a:solidFill>
              <a:srgbClr val="E8E2D4"/>
            </a:solidFill>
            <a:prstDash val="solid"/>
          </a:ln>
        </p:spPr>
      </p:sp>
      <p:sp>
        <p:nvSpPr>
          <p:cNvPr id="82" name="Shape 80"/>
          <p:cNvSpPr/>
          <p:nvPr/>
        </p:nvSpPr>
        <p:spPr>
          <a:xfrm>
            <a:off x="5458968" y="3621024"/>
            <a:ext cx="228600" cy="201168"/>
          </a:xfrm>
          <a:prstGeom prst="rect">
            <a:avLst/>
          </a:prstGeom>
          <a:solidFill>
            <a:srgbClr val="F5F0E8"/>
          </a:solidFill>
          <a:ln w="12700">
            <a:solidFill>
              <a:srgbClr val="E8E2D4"/>
            </a:solidFill>
            <a:prstDash val="solid"/>
          </a:ln>
        </p:spPr>
      </p:sp>
      <p:sp>
        <p:nvSpPr>
          <p:cNvPr id="83" name="Shape 81"/>
          <p:cNvSpPr/>
          <p:nvPr/>
        </p:nvSpPr>
        <p:spPr>
          <a:xfrm>
            <a:off x="5696712" y="3621024"/>
            <a:ext cx="228600" cy="201168"/>
          </a:xfrm>
          <a:prstGeom prst="rect">
            <a:avLst/>
          </a:prstGeom>
          <a:solidFill>
            <a:srgbClr val="F5F0E8"/>
          </a:solidFill>
          <a:ln w="12700">
            <a:solidFill>
              <a:srgbClr val="E8E2D4"/>
            </a:solidFill>
            <a:prstDash val="solid"/>
          </a:ln>
        </p:spPr>
      </p:sp>
      <p:sp>
        <p:nvSpPr>
          <p:cNvPr id="84" name="Shape 82"/>
          <p:cNvSpPr/>
          <p:nvPr/>
        </p:nvSpPr>
        <p:spPr>
          <a:xfrm>
            <a:off x="5934456" y="3621024"/>
            <a:ext cx="228600" cy="201168"/>
          </a:xfrm>
          <a:prstGeom prst="rect">
            <a:avLst/>
          </a:prstGeom>
          <a:solidFill>
            <a:srgbClr val="F5F0E8"/>
          </a:solidFill>
          <a:ln w="12700">
            <a:solidFill>
              <a:srgbClr val="E8E2D4"/>
            </a:solidFill>
            <a:prstDash val="solid"/>
          </a:ln>
        </p:spPr>
      </p:sp>
      <p:sp>
        <p:nvSpPr>
          <p:cNvPr id="85" name="Shape 83"/>
          <p:cNvSpPr/>
          <p:nvPr/>
        </p:nvSpPr>
        <p:spPr>
          <a:xfrm>
            <a:off x="6172200" y="3621024"/>
            <a:ext cx="228600" cy="201168"/>
          </a:xfrm>
          <a:prstGeom prst="rect">
            <a:avLst/>
          </a:prstGeom>
          <a:solidFill>
            <a:srgbClr val="F5F0E8"/>
          </a:solidFill>
          <a:ln w="12700">
            <a:solidFill>
              <a:srgbClr val="E8E2D4"/>
            </a:solidFill>
            <a:prstDash val="solid"/>
          </a:ln>
        </p:spPr>
      </p:sp>
      <p:sp>
        <p:nvSpPr>
          <p:cNvPr id="86" name="Shape 84"/>
          <p:cNvSpPr/>
          <p:nvPr/>
        </p:nvSpPr>
        <p:spPr>
          <a:xfrm>
            <a:off x="6409944" y="3621024"/>
            <a:ext cx="228600" cy="201168"/>
          </a:xfrm>
          <a:prstGeom prst="rect">
            <a:avLst/>
          </a:prstGeom>
          <a:solidFill>
            <a:srgbClr val="F5F0E8"/>
          </a:solidFill>
          <a:ln w="12700">
            <a:solidFill>
              <a:srgbClr val="E8E2D4"/>
            </a:solidFill>
            <a:prstDash val="solid"/>
          </a:ln>
        </p:spPr>
      </p:sp>
      <p:sp>
        <p:nvSpPr>
          <p:cNvPr id="87" name="Shape 85"/>
          <p:cNvSpPr/>
          <p:nvPr/>
        </p:nvSpPr>
        <p:spPr>
          <a:xfrm>
            <a:off x="6647688" y="3621024"/>
            <a:ext cx="228600" cy="201168"/>
          </a:xfrm>
          <a:prstGeom prst="rect">
            <a:avLst/>
          </a:prstGeom>
          <a:solidFill>
            <a:srgbClr val="F5F0E8"/>
          </a:solidFill>
          <a:ln w="12700">
            <a:solidFill>
              <a:srgbClr val="E8E2D4"/>
            </a:solidFill>
            <a:prstDash val="solid"/>
          </a:ln>
        </p:spPr>
      </p:sp>
      <p:sp>
        <p:nvSpPr>
          <p:cNvPr id="88" name="Shape 86"/>
          <p:cNvSpPr/>
          <p:nvPr/>
        </p:nvSpPr>
        <p:spPr>
          <a:xfrm>
            <a:off x="6885432" y="3621024"/>
            <a:ext cx="228600" cy="201168"/>
          </a:xfrm>
          <a:prstGeom prst="rect">
            <a:avLst/>
          </a:prstGeom>
          <a:solidFill>
            <a:srgbClr val="F5F0E8"/>
          </a:solidFill>
          <a:ln w="12700">
            <a:solidFill>
              <a:srgbClr val="E8E2D4"/>
            </a:solidFill>
            <a:prstDash val="solid"/>
          </a:ln>
        </p:spPr>
      </p:sp>
      <p:sp>
        <p:nvSpPr>
          <p:cNvPr id="89" name="Shape 87"/>
          <p:cNvSpPr/>
          <p:nvPr/>
        </p:nvSpPr>
        <p:spPr>
          <a:xfrm>
            <a:off x="7123176" y="3621024"/>
            <a:ext cx="228600" cy="201168"/>
          </a:xfrm>
          <a:prstGeom prst="rect">
            <a:avLst/>
          </a:prstGeom>
          <a:solidFill>
            <a:srgbClr val="F5F0E8"/>
          </a:solidFill>
          <a:ln w="12700">
            <a:solidFill>
              <a:srgbClr val="E8E2D4"/>
            </a:solidFill>
            <a:prstDash val="solid"/>
          </a:ln>
        </p:spPr>
      </p:sp>
      <p:sp>
        <p:nvSpPr>
          <p:cNvPr id="90" name="Shape 88"/>
          <p:cNvSpPr/>
          <p:nvPr/>
        </p:nvSpPr>
        <p:spPr>
          <a:xfrm>
            <a:off x="7360920" y="3621024"/>
            <a:ext cx="228600" cy="201168"/>
          </a:xfrm>
          <a:prstGeom prst="rect">
            <a:avLst/>
          </a:prstGeom>
          <a:solidFill>
            <a:srgbClr val="F5F0E8"/>
          </a:solidFill>
          <a:ln w="12700">
            <a:solidFill>
              <a:srgbClr val="E8E2D4"/>
            </a:solidFill>
            <a:prstDash val="solid"/>
          </a:ln>
        </p:spPr>
      </p:sp>
      <p:sp>
        <p:nvSpPr>
          <p:cNvPr id="91" name="Shape 89"/>
          <p:cNvSpPr/>
          <p:nvPr/>
        </p:nvSpPr>
        <p:spPr>
          <a:xfrm>
            <a:off x="7598664" y="3621024"/>
            <a:ext cx="228600" cy="201168"/>
          </a:xfrm>
          <a:prstGeom prst="rect">
            <a:avLst/>
          </a:prstGeom>
          <a:solidFill>
            <a:srgbClr val="E8B84B"/>
          </a:solidFill>
          <a:ln w="12700">
            <a:solidFill>
              <a:srgbClr val="E8E2D4"/>
            </a:solidFill>
            <a:prstDash val="solid"/>
          </a:ln>
        </p:spPr>
      </p:sp>
      <p:sp>
        <p:nvSpPr>
          <p:cNvPr id="92" name="Shape 90"/>
          <p:cNvSpPr/>
          <p:nvPr/>
        </p:nvSpPr>
        <p:spPr>
          <a:xfrm>
            <a:off x="7836408" y="3621024"/>
            <a:ext cx="228600" cy="201168"/>
          </a:xfrm>
          <a:prstGeom prst="rect">
            <a:avLst/>
          </a:prstGeom>
          <a:solidFill>
            <a:srgbClr val="F5F0E8"/>
          </a:solidFill>
          <a:ln w="12700">
            <a:solidFill>
              <a:srgbClr val="E8E2D4"/>
            </a:solidFill>
            <a:prstDash val="solid"/>
          </a:ln>
        </p:spPr>
      </p:sp>
      <p:sp>
        <p:nvSpPr>
          <p:cNvPr id="93" name="Shape 91"/>
          <p:cNvSpPr/>
          <p:nvPr/>
        </p:nvSpPr>
        <p:spPr>
          <a:xfrm>
            <a:off x="8074152" y="3621024"/>
            <a:ext cx="228600" cy="201168"/>
          </a:xfrm>
          <a:prstGeom prst="rect">
            <a:avLst/>
          </a:prstGeom>
          <a:solidFill>
            <a:srgbClr val="F5F0E8"/>
          </a:solidFill>
          <a:ln w="12700">
            <a:solidFill>
              <a:srgbClr val="E8E2D4"/>
            </a:solidFill>
            <a:prstDash val="solid"/>
          </a:ln>
        </p:spPr>
      </p:sp>
      <p:sp>
        <p:nvSpPr>
          <p:cNvPr id="94" name="Shape 92"/>
          <p:cNvSpPr/>
          <p:nvPr/>
        </p:nvSpPr>
        <p:spPr>
          <a:xfrm>
            <a:off x="4983480" y="3840480"/>
            <a:ext cx="228600" cy="201168"/>
          </a:xfrm>
          <a:prstGeom prst="rect">
            <a:avLst/>
          </a:prstGeom>
          <a:solidFill>
            <a:srgbClr val="F5F0E8"/>
          </a:solidFill>
          <a:ln w="12700">
            <a:solidFill>
              <a:srgbClr val="E8E2D4"/>
            </a:solidFill>
            <a:prstDash val="solid"/>
          </a:ln>
        </p:spPr>
      </p:sp>
      <p:sp>
        <p:nvSpPr>
          <p:cNvPr id="95" name="Shape 93"/>
          <p:cNvSpPr/>
          <p:nvPr/>
        </p:nvSpPr>
        <p:spPr>
          <a:xfrm>
            <a:off x="5221224" y="3840480"/>
            <a:ext cx="228600" cy="201168"/>
          </a:xfrm>
          <a:prstGeom prst="rect">
            <a:avLst/>
          </a:prstGeom>
          <a:solidFill>
            <a:srgbClr val="F5F0E8"/>
          </a:solidFill>
          <a:ln w="12700">
            <a:solidFill>
              <a:srgbClr val="E8E2D4"/>
            </a:solidFill>
            <a:prstDash val="solid"/>
          </a:ln>
        </p:spPr>
      </p:sp>
      <p:sp>
        <p:nvSpPr>
          <p:cNvPr id="96" name="Shape 94"/>
          <p:cNvSpPr/>
          <p:nvPr/>
        </p:nvSpPr>
        <p:spPr>
          <a:xfrm>
            <a:off x="5458968" y="3840480"/>
            <a:ext cx="228600" cy="201168"/>
          </a:xfrm>
          <a:prstGeom prst="rect">
            <a:avLst/>
          </a:prstGeom>
          <a:solidFill>
            <a:srgbClr val="F5F0E8"/>
          </a:solidFill>
          <a:ln w="12700">
            <a:solidFill>
              <a:srgbClr val="E8E2D4"/>
            </a:solidFill>
            <a:prstDash val="solid"/>
          </a:ln>
        </p:spPr>
      </p:sp>
      <p:sp>
        <p:nvSpPr>
          <p:cNvPr id="97" name="Shape 95"/>
          <p:cNvSpPr/>
          <p:nvPr/>
        </p:nvSpPr>
        <p:spPr>
          <a:xfrm>
            <a:off x="5696712" y="3840480"/>
            <a:ext cx="228600" cy="201168"/>
          </a:xfrm>
          <a:prstGeom prst="rect">
            <a:avLst/>
          </a:prstGeom>
          <a:solidFill>
            <a:srgbClr val="F5F0E8"/>
          </a:solidFill>
          <a:ln w="12700">
            <a:solidFill>
              <a:srgbClr val="E8E2D4"/>
            </a:solidFill>
            <a:prstDash val="solid"/>
          </a:ln>
        </p:spPr>
      </p:sp>
      <p:sp>
        <p:nvSpPr>
          <p:cNvPr id="98" name="Shape 96"/>
          <p:cNvSpPr/>
          <p:nvPr/>
        </p:nvSpPr>
        <p:spPr>
          <a:xfrm>
            <a:off x="5934456" y="3840480"/>
            <a:ext cx="228600" cy="201168"/>
          </a:xfrm>
          <a:prstGeom prst="rect">
            <a:avLst/>
          </a:prstGeom>
          <a:solidFill>
            <a:srgbClr val="E8B84B"/>
          </a:solidFill>
          <a:ln w="12700">
            <a:solidFill>
              <a:srgbClr val="E8E2D4"/>
            </a:solidFill>
            <a:prstDash val="solid"/>
          </a:ln>
        </p:spPr>
      </p:sp>
      <p:sp>
        <p:nvSpPr>
          <p:cNvPr id="99" name="Shape 97"/>
          <p:cNvSpPr/>
          <p:nvPr/>
        </p:nvSpPr>
        <p:spPr>
          <a:xfrm>
            <a:off x="6172200" y="3840480"/>
            <a:ext cx="228600" cy="201168"/>
          </a:xfrm>
          <a:prstGeom prst="rect">
            <a:avLst/>
          </a:prstGeom>
          <a:solidFill>
            <a:srgbClr val="F5F0E8"/>
          </a:solidFill>
          <a:ln w="12700">
            <a:solidFill>
              <a:srgbClr val="E8E2D4"/>
            </a:solidFill>
            <a:prstDash val="solid"/>
          </a:ln>
        </p:spPr>
      </p:sp>
      <p:sp>
        <p:nvSpPr>
          <p:cNvPr id="100" name="Shape 98"/>
          <p:cNvSpPr/>
          <p:nvPr/>
        </p:nvSpPr>
        <p:spPr>
          <a:xfrm>
            <a:off x="6409944" y="3840480"/>
            <a:ext cx="228600" cy="201168"/>
          </a:xfrm>
          <a:prstGeom prst="rect">
            <a:avLst/>
          </a:prstGeom>
          <a:solidFill>
            <a:srgbClr val="F5F0E8"/>
          </a:solidFill>
          <a:ln w="12700">
            <a:solidFill>
              <a:srgbClr val="E8E2D4"/>
            </a:solidFill>
            <a:prstDash val="solid"/>
          </a:ln>
        </p:spPr>
      </p:sp>
      <p:sp>
        <p:nvSpPr>
          <p:cNvPr id="101" name="Shape 99"/>
          <p:cNvSpPr/>
          <p:nvPr/>
        </p:nvSpPr>
        <p:spPr>
          <a:xfrm>
            <a:off x="6647688" y="3840480"/>
            <a:ext cx="228600" cy="201168"/>
          </a:xfrm>
          <a:prstGeom prst="rect">
            <a:avLst/>
          </a:prstGeom>
          <a:solidFill>
            <a:srgbClr val="F5F0E8"/>
          </a:solidFill>
          <a:ln w="12700">
            <a:solidFill>
              <a:srgbClr val="E8E2D4"/>
            </a:solidFill>
            <a:prstDash val="solid"/>
          </a:ln>
        </p:spPr>
      </p:sp>
      <p:sp>
        <p:nvSpPr>
          <p:cNvPr id="102" name="Shape 100"/>
          <p:cNvSpPr/>
          <p:nvPr/>
        </p:nvSpPr>
        <p:spPr>
          <a:xfrm>
            <a:off x="6885432" y="3840480"/>
            <a:ext cx="228600" cy="201168"/>
          </a:xfrm>
          <a:prstGeom prst="rect">
            <a:avLst/>
          </a:prstGeom>
          <a:solidFill>
            <a:srgbClr val="F5F0E8"/>
          </a:solidFill>
          <a:ln w="12700">
            <a:solidFill>
              <a:srgbClr val="E8E2D4"/>
            </a:solidFill>
            <a:prstDash val="solid"/>
          </a:ln>
        </p:spPr>
      </p:sp>
      <p:sp>
        <p:nvSpPr>
          <p:cNvPr id="103" name="Shape 101"/>
          <p:cNvSpPr/>
          <p:nvPr/>
        </p:nvSpPr>
        <p:spPr>
          <a:xfrm>
            <a:off x="7123176" y="3840480"/>
            <a:ext cx="228600" cy="201168"/>
          </a:xfrm>
          <a:prstGeom prst="rect">
            <a:avLst/>
          </a:prstGeom>
          <a:solidFill>
            <a:srgbClr val="F5F0E8"/>
          </a:solidFill>
          <a:ln w="12700">
            <a:solidFill>
              <a:srgbClr val="E8E2D4"/>
            </a:solidFill>
            <a:prstDash val="solid"/>
          </a:ln>
        </p:spPr>
      </p:sp>
      <p:sp>
        <p:nvSpPr>
          <p:cNvPr id="104" name="Shape 102"/>
          <p:cNvSpPr/>
          <p:nvPr/>
        </p:nvSpPr>
        <p:spPr>
          <a:xfrm>
            <a:off x="7360920" y="3840480"/>
            <a:ext cx="228600" cy="201168"/>
          </a:xfrm>
          <a:prstGeom prst="rect">
            <a:avLst/>
          </a:prstGeom>
          <a:solidFill>
            <a:srgbClr val="F5F0E8"/>
          </a:solidFill>
          <a:ln w="12700">
            <a:solidFill>
              <a:srgbClr val="E8E2D4"/>
            </a:solidFill>
            <a:prstDash val="solid"/>
          </a:ln>
        </p:spPr>
      </p:sp>
      <p:sp>
        <p:nvSpPr>
          <p:cNvPr id="105" name="Shape 103"/>
          <p:cNvSpPr/>
          <p:nvPr/>
        </p:nvSpPr>
        <p:spPr>
          <a:xfrm>
            <a:off x="7598664" y="3840480"/>
            <a:ext cx="228600" cy="201168"/>
          </a:xfrm>
          <a:prstGeom prst="rect">
            <a:avLst/>
          </a:prstGeom>
          <a:solidFill>
            <a:srgbClr val="F5F0E8"/>
          </a:solidFill>
          <a:ln w="12700">
            <a:solidFill>
              <a:srgbClr val="E8E2D4"/>
            </a:solidFill>
            <a:prstDash val="solid"/>
          </a:ln>
        </p:spPr>
      </p:sp>
      <p:sp>
        <p:nvSpPr>
          <p:cNvPr id="106" name="Shape 104"/>
          <p:cNvSpPr/>
          <p:nvPr/>
        </p:nvSpPr>
        <p:spPr>
          <a:xfrm>
            <a:off x="7836408" y="3840480"/>
            <a:ext cx="228600" cy="201168"/>
          </a:xfrm>
          <a:prstGeom prst="rect">
            <a:avLst/>
          </a:prstGeom>
          <a:solidFill>
            <a:srgbClr val="F5F0E8"/>
          </a:solidFill>
          <a:ln w="12700">
            <a:solidFill>
              <a:srgbClr val="E8E2D4"/>
            </a:solidFill>
            <a:prstDash val="solid"/>
          </a:ln>
        </p:spPr>
      </p:sp>
      <p:sp>
        <p:nvSpPr>
          <p:cNvPr id="107" name="Shape 105"/>
          <p:cNvSpPr/>
          <p:nvPr/>
        </p:nvSpPr>
        <p:spPr>
          <a:xfrm>
            <a:off x="8074152" y="3840480"/>
            <a:ext cx="228600" cy="201168"/>
          </a:xfrm>
          <a:prstGeom prst="rect">
            <a:avLst/>
          </a:prstGeom>
          <a:solidFill>
            <a:srgbClr val="F5F0E8"/>
          </a:solidFill>
          <a:ln w="12700">
            <a:solidFill>
              <a:srgbClr val="E8E2D4"/>
            </a:solidFill>
            <a:prstDash val="solid"/>
          </a:ln>
        </p:spPr>
      </p:sp>
      <p:sp>
        <p:nvSpPr>
          <p:cNvPr id="108" name="Shape 106"/>
          <p:cNvSpPr/>
          <p:nvPr/>
        </p:nvSpPr>
        <p:spPr>
          <a:xfrm>
            <a:off x="4983480" y="4059936"/>
            <a:ext cx="228600" cy="201168"/>
          </a:xfrm>
          <a:prstGeom prst="rect">
            <a:avLst/>
          </a:prstGeom>
          <a:solidFill>
            <a:srgbClr val="F5F0E8"/>
          </a:solidFill>
          <a:ln w="12700">
            <a:solidFill>
              <a:srgbClr val="E8E2D4"/>
            </a:solidFill>
            <a:prstDash val="solid"/>
          </a:ln>
        </p:spPr>
      </p:sp>
      <p:sp>
        <p:nvSpPr>
          <p:cNvPr id="109" name="Shape 107"/>
          <p:cNvSpPr/>
          <p:nvPr/>
        </p:nvSpPr>
        <p:spPr>
          <a:xfrm>
            <a:off x="5221224" y="4059936"/>
            <a:ext cx="228600" cy="201168"/>
          </a:xfrm>
          <a:prstGeom prst="rect">
            <a:avLst/>
          </a:prstGeom>
          <a:solidFill>
            <a:srgbClr val="F5F0E8"/>
          </a:solidFill>
          <a:ln w="12700">
            <a:solidFill>
              <a:srgbClr val="E8E2D4"/>
            </a:solidFill>
            <a:prstDash val="solid"/>
          </a:ln>
        </p:spPr>
      </p:sp>
      <p:sp>
        <p:nvSpPr>
          <p:cNvPr id="110" name="Shape 108"/>
          <p:cNvSpPr/>
          <p:nvPr/>
        </p:nvSpPr>
        <p:spPr>
          <a:xfrm>
            <a:off x="5458968" y="4059936"/>
            <a:ext cx="228600" cy="201168"/>
          </a:xfrm>
          <a:prstGeom prst="rect">
            <a:avLst/>
          </a:prstGeom>
          <a:solidFill>
            <a:srgbClr val="F5F0E8"/>
          </a:solidFill>
          <a:ln w="12700">
            <a:solidFill>
              <a:srgbClr val="E8E2D4"/>
            </a:solidFill>
            <a:prstDash val="solid"/>
          </a:ln>
        </p:spPr>
      </p:sp>
      <p:sp>
        <p:nvSpPr>
          <p:cNvPr id="111" name="Shape 109"/>
          <p:cNvSpPr/>
          <p:nvPr/>
        </p:nvSpPr>
        <p:spPr>
          <a:xfrm>
            <a:off x="5696712" y="4059936"/>
            <a:ext cx="228600" cy="201168"/>
          </a:xfrm>
          <a:prstGeom prst="rect">
            <a:avLst/>
          </a:prstGeom>
          <a:solidFill>
            <a:srgbClr val="F5F0E8"/>
          </a:solidFill>
          <a:ln w="12700">
            <a:solidFill>
              <a:srgbClr val="E8E2D4"/>
            </a:solidFill>
            <a:prstDash val="solid"/>
          </a:ln>
        </p:spPr>
      </p:sp>
      <p:sp>
        <p:nvSpPr>
          <p:cNvPr id="112" name="Shape 110"/>
          <p:cNvSpPr/>
          <p:nvPr/>
        </p:nvSpPr>
        <p:spPr>
          <a:xfrm>
            <a:off x="5934456" y="4059936"/>
            <a:ext cx="228600" cy="201168"/>
          </a:xfrm>
          <a:prstGeom prst="rect">
            <a:avLst/>
          </a:prstGeom>
          <a:solidFill>
            <a:srgbClr val="F5F0E8"/>
          </a:solidFill>
          <a:ln w="12700">
            <a:solidFill>
              <a:srgbClr val="E8E2D4"/>
            </a:solidFill>
            <a:prstDash val="solid"/>
          </a:ln>
        </p:spPr>
      </p:sp>
      <p:sp>
        <p:nvSpPr>
          <p:cNvPr id="113" name="Shape 111"/>
          <p:cNvSpPr/>
          <p:nvPr/>
        </p:nvSpPr>
        <p:spPr>
          <a:xfrm>
            <a:off x="6172200" y="4059936"/>
            <a:ext cx="228600" cy="201168"/>
          </a:xfrm>
          <a:prstGeom prst="rect">
            <a:avLst/>
          </a:prstGeom>
          <a:solidFill>
            <a:srgbClr val="E8B84B"/>
          </a:solidFill>
          <a:ln w="12700">
            <a:solidFill>
              <a:srgbClr val="E8E2D4"/>
            </a:solidFill>
            <a:prstDash val="solid"/>
          </a:ln>
        </p:spPr>
      </p:sp>
      <p:sp>
        <p:nvSpPr>
          <p:cNvPr id="114" name="Shape 112"/>
          <p:cNvSpPr/>
          <p:nvPr/>
        </p:nvSpPr>
        <p:spPr>
          <a:xfrm>
            <a:off x="6409944" y="4059936"/>
            <a:ext cx="228600" cy="201168"/>
          </a:xfrm>
          <a:prstGeom prst="rect">
            <a:avLst/>
          </a:prstGeom>
          <a:solidFill>
            <a:srgbClr val="F5F0E8"/>
          </a:solidFill>
          <a:ln w="12700">
            <a:solidFill>
              <a:srgbClr val="E8E2D4"/>
            </a:solidFill>
            <a:prstDash val="solid"/>
          </a:ln>
        </p:spPr>
      </p:sp>
      <p:sp>
        <p:nvSpPr>
          <p:cNvPr id="115" name="Shape 113"/>
          <p:cNvSpPr/>
          <p:nvPr/>
        </p:nvSpPr>
        <p:spPr>
          <a:xfrm>
            <a:off x="6647688" y="4059936"/>
            <a:ext cx="228600" cy="201168"/>
          </a:xfrm>
          <a:prstGeom prst="rect">
            <a:avLst/>
          </a:prstGeom>
          <a:solidFill>
            <a:srgbClr val="F5F0E8"/>
          </a:solidFill>
          <a:ln w="12700">
            <a:solidFill>
              <a:srgbClr val="E8E2D4"/>
            </a:solidFill>
            <a:prstDash val="solid"/>
          </a:ln>
        </p:spPr>
      </p:sp>
      <p:sp>
        <p:nvSpPr>
          <p:cNvPr id="116" name="Shape 114"/>
          <p:cNvSpPr/>
          <p:nvPr/>
        </p:nvSpPr>
        <p:spPr>
          <a:xfrm>
            <a:off x="6885432" y="4059936"/>
            <a:ext cx="228600" cy="201168"/>
          </a:xfrm>
          <a:prstGeom prst="rect">
            <a:avLst/>
          </a:prstGeom>
          <a:solidFill>
            <a:srgbClr val="F5F0E8"/>
          </a:solidFill>
          <a:ln w="12700">
            <a:solidFill>
              <a:srgbClr val="E8E2D4"/>
            </a:solidFill>
            <a:prstDash val="solid"/>
          </a:ln>
        </p:spPr>
      </p:sp>
      <p:sp>
        <p:nvSpPr>
          <p:cNvPr id="117" name="Shape 115"/>
          <p:cNvSpPr/>
          <p:nvPr/>
        </p:nvSpPr>
        <p:spPr>
          <a:xfrm>
            <a:off x="7123176" y="4059936"/>
            <a:ext cx="228600" cy="201168"/>
          </a:xfrm>
          <a:prstGeom prst="rect">
            <a:avLst/>
          </a:prstGeom>
          <a:solidFill>
            <a:srgbClr val="F5F0E8"/>
          </a:solidFill>
          <a:ln w="12700">
            <a:solidFill>
              <a:srgbClr val="E8E2D4"/>
            </a:solidFill>
            <a:prstDash val="solid"/>
          </a:ln>
        </p:spPr>
      </p:sp>
      <p:sp>
        <p:nvSpPr>
          <p:cNvPr id="118" name="Shape 116"/>
          <p:cNvSpPr/>
          <p:nvPr/>
        </p:nvSpPr>
        <p:spPr>
          <a:xfrm>
            <a:off x="7360920" y="4059936"/>
            <a:ext cx="228600" cy="201168"/>
          </a:xfrm>
          <a:prstGeom prst="rect">
            <a:avLst/>
          </a:prstGeom>
          <a:solidFill>
            <a:srgbClr val="F5F0E8"/>
          </a:solidFill>
          <a:ln w="12700">
            <a:solidFill>
              <a:srgbClr val="E8E2D4"/>
            </a:solidFill>
            <a:prstDash val="solid"/>
          </a:ln>
        </p:spPr>
      </p:sp>
      <p:sp>
        <p:nvSpPr>
          <p:cNvPr id="119" name="Shape 117"/>
          <p:cNvSpPr/>
          <p:nvPr/>
        </p:nvSpPr>
        <p:spPr>
          <a:xfrm>
            <a:off x="7598664" y="4059936"/>
            <a:ext cx="228600" cy="201168"/>
          </a:xfrm>
          <a:prstGeom prst="rect">
            <a:avLst/>
          </a:prstGeom>
          <a:solidFill>
            <a:srgbClr val="F5F0E8"/>
          </a:solidFill>
          <a:ln w="12700">
            <a:solidFill>
              <a:srgbClr val="E8E2D4"/>
            </a:solidFill>
            <a:prstDash val="solid"/>
          </a:ln>
        </p:spPr>
      </p:sp>
      <p:sp>
        <p:nvSpPr>
          <p:cNvPr id="120" name="Shape 118"/>
          <p:cNvSpPr/>
          <p:nvPr/>
        </p:nvSpPr>
        <p:spPr>
          <a:xfrm>
            <a:off x="7836408" y="4059936"/>
            <a:ext cx="228600" cy="201168"/>
          </a:xfrm>
          <a:prstGeom prst="rect">
            <a:avLst/>
          </a:prstGeom>
          <a:solidFill>
            <a:srgbClr val="F5F0E8"/>
          </a:solidFill>
          <a:ln w="12700">
            <a:solidFill>
              <a:srgbClr val="E8E2D4"/>
            </a:solidFill>
            <a:prstDash val="solid"/>
          </a:ln>
        </p:spPr>
      </p:sp>
      <p:sp>
        <p:nvSpPr>
          <p:cNvPr id="121" name="Shape 119"/>
          <p:cNvSpPr/>
          <p:nvPr/>
        </p:nvSpPr>
        <p:spPr>
          <a:xfrm>
            <a:off x="8074152" y="4059936"/>
            <a:ext cx="228600" cy="201168"/>
          </a:xfrm>
          <a:prstGeom prst="rect">
            <a:avLst/>
          </a:prstGeom>
          <a:solidFill>
            <a:srgbClr val="F5F0E8"/>
          </a:solidFill>
          <a:ln w="12700">
            <a:solidFill>
              <a:srgbClr val="E8E2D4"/>
            </a:solidFill>
            <a:prstDash val="solid"/>
          </a:ln>
        </p:spPr>
      </p:sp>
      <p:sp>
        <p:nvSpPr>
          <p:cNvPr id="122" name="Shape 120"/>
          <p:cNvSpPr/>
          <p:nvPr/>
        </p:nvSpPr>
        <p:spPr>
          <a:xfrm>
            <a:off x="4983480" y="4279392"/>
            <a:ext cx="228600" cy="201168"/>
          </a:xfrm>
          <a:prstGeom prst="rect">
            <a:avLst/>
          </a:prstGeom>
          <a:solidFill>
            <a:srgbClr val="F5F0E8"/>
          </a:solidFill>
          <a:ln w="12700">
            <a:solidFill>
              <a:srgbClr val="E8E2D4"/>
            </a:solidFill>
            <a:prstDash val="solid"/>
          </a:ln>
        </p:spPr>
      </p:sp>
      <p:sp>
        <p:nvSpPr>
          <p:cNvPr id="123" name="Shape 121"/>
          <p:cNvSpPr/>
          <p:nvPr/>
        </p:nvSpPr>
        <p:spPr>
          <a:xfrm>
            <a:off x="5221224" y="4279392"/>
            <a:ext cx="228600" cy="201168"/>
          </a:xfrm>
          <a:prstGeom prst="rect">
            <a:avLst/>
          </a:prstGeom>
          <a:solidFill>
            <a:srgbClr val="F5F0E8"/>
          </a:solidFill>
          <a:ln w="12700">
            <a:solidFill>
              <a:srgbClr val="E8E2D4"/>
            </a:solidFill>
            <a:prstDash val="solid"/>
          </a:ln>
        </p:spPr>
      </p:sp>
      <p:sp>
        <p:nvSpPr>
          <p:cNvPr id="124" name="Shape 122"/>
          <p:cNvSpPr/>
          <p:nvPr/>
        </p:nvSpPr>
        <p:spPr>
          <a:xfrm>
            <a:off x="5458968" y="4279392"/>
            <a:ext cx="228600" cy="201168"/>
          </a:xfrm>
          <a:prstGeom prst="rect">
            <a:avLst/>
          </a:prstGeom>
          <a:solidFill>
            <a:srgbClr val="F5F0E8"/>
          </a:solidFill>
          <a:ln w="12700">
            <a:solidFill>
              <a:srgbClr val="E8E2D4"/>
            </a:solidFill>
            <a:prstDash val="solid"/>
          </a:ln>
        </p:spPr>
      </p:sp>
      <p:sp>
        <p:nvSpPr>
          <p:cNvPr id="125" name="Shape 123"/>
          <p:cNvSpPr/>
          <p:nvPr/>
        </p:nvSpPr>
        <p:spPr>
          <a:xfrm>
            <a:off x="5696712" y="4279392"/>
            <a:ext cx="228600" cy="201168"/>
          </a:xfrm>
          <a:prstGeom prst="rect">
            <a:avLst/>
          </a:prstGeom>
          <a:solidFill>
            <a:srgbClr val="F5F0E8"/>
          </a:solidFill>
          <a:ln w="12700">
            <a:solidFill>
              <a:srgbClr val="E8E2D4"/>
            </a:solidFill>
            <a:prstDash val="solid"/>
          </a:ln>
        </p:spPr>
      </p:sp>
      <p:sp>
        <p:nvSpPr>
          <p:cNvPr id="126" name="Shape 124"/>
          <p:cNvSpPr/>
          <p:nvPr/>
        </p:nvSpPr>
        <p:spPr>
          <a:xfrm>
            <a:off x="5934456" y="4279392"/>
            <a:ext cx="228600" cy="201168"/>
          </a:xfrm>
          <a:prstGeom prst="rect">
            <a:avLst/>
          </a:prstGeom>
          <a:solidFill>
            <a:srgbClr val="F5F0E8"/>
          </a:solidFill>
          <a:ln w="12700">
            <a:solidFill>
              <a:srgbClr val="E8E2D4"/>
            </a:solidFill>
            <a:prstDash val="solid"/>
          </a:ln>
        </p:spPr>
      </p:sp>
      <p:sp>
        <p:nvSpPr>
          <p:cNvPr id="127" name="Shape 125"/>
          <p:cNvSpPr/>
          <p:nvPr/>
        </p:nvSpPr>
        <p:spPr>
          <a:xfrm>
            <a:off x="6172200" y="4279392"/>
            <a:ext cx="228600" cy="201168"/>
          </a:xfrm>
          <a:prstGeom prst="rect">
            <a:avLst/>
          </a:prstGeom>
          <a:solidFill>
            <a:srgbClr val="F5F0E8"/>
          </a:solidFill>
          <a:ln w="12700">
            <a:solidFill>
              <a:srgbClr val="E8E2D4"/>
            </a:solidFill>
            <a:prstDash val="solid"/>
          </a:ln>
        </p:spPr>
      </p:sp>
      <p:sp>
        <p:nvSpPr>
          <p:cNvPr id="128" name="Shape 126"/>
          <p:cNvSpPr/>
          <p:nvPr/>
        </p:nvSpPr>
        <p:spPr>
          <a:xfrm>
            <a:off x="6409944" y="4279392"/>
            <a:ext cx="228600" cy="201168"/>
          </a:xfrm>
          <a:prstGeom prst="rect">
            <a:avLst/>
          </a:prstGeom>
          <a:solidFill>
            <a:srgbClr val="F5F0E8"/>
          </a:solidFill>
          <a:ln w="12700">
            <a:solidFill>
              <a:srgbClr val="E8E2D4"/>
            </a:solidFill>
            <a:prstDash val="solid"/>
          </a:ln>
        </p:spPr>
      </p:sp>
      <p:sp>
        <p:nvSpPr>
          <p:cNvPr id="129" name="Shape 127"/>
          <p:cNvSpPr/>
          <p:nvPr/>
        </p:nvSpPr>
        <p:spPr>
          <a:xfrm>
            <a:off x="6647688" y="4279392"/>
            <a:ext cx="228600" cy="201168"/>
          </a:xfrm>
          <a:prstGeom prst="rect">
            <a:avLst/>
          </a:prstGeom>
          <a:solidFill>
            <a:srgbClr val="F5F0E8"/>
          </a:solidFill>
          <a:ln w="12700">
            <a:solidFill>
              <a:srgbClr val="E8E2D4"/>
            </a:solidFill>
            <a:prstDash val="solid"/>
          </a:ln>
        </p:spPr>
      </p:sp>
      <p:sp>
        <p:nvSpPr>
          <p:cNvPr id="130" name="Shape 128"/>
          <p:cNvSpPr/>
          <p:nvPr/>
        </p:nvSpPr>
        <p:spPr>
          <a:xfrm>
            <a:off x="6885432" y="4279392"/>
            <a:ext cx="228600" cy="201168"/>
          </a:xfrm>
          <a:prstGeom prst="rect">
            <a:avLst/>
          </a:prstGeom>
          <a:solidFill>
            <a:srgbClr val="F5F0E8"/>
          </a:solidFill>
          <a:ln w="12700">
            <a:solidFill>
              <a:srgbClr val="E8E2D4"/>
            </a:solidFill>
            <a:prstDash val="solid"/>
          </a:ln>
        </p:spPr>
      </p:sp>
      <p:sp>
        <p:nvSpPr>
          <p:cNvPr id="131" name="Shape 129"/>
          <p:cNvSpPr/>
          <p:nvPr/>
        </p:nvSpPr>
        <p:spPr>
          <a:xfrm>
            <a:off x="7123176" y="4279392"/>
            <a:ext cx="228600" cy="201168"/>
          </a:xfrm>
          <a:prstGeom prst="rect">
            <a:avLst/>
          </a:prstGeom>
          <a:solidFill>
            <a:srgbClr val="F5F0E8"/>
          </a:solidFill>
          <a:ln w="12700">
            <a:solidFill>
              <a:srgbClr val="E8E2D4"/>
            </a:solidFill>
            <a:prstDash val="solid"/>
          </a:ln>
        </p:spPr>
      </p:sp>
      <p:sp>
        <p:nvSpPr>
          <p:cNvPr id="132" name="Shape 130"/>
          <p:cNvSpPr/>
          <p:nvPr/>
        </p:nvSpPr>
        <p:spPr>
          <a:xfrm>
            <a:off x="7360920" y="4279392"/>
            <a:ext cx="228600" cy="201168"/>
          </a:xfrm>
          <a:prstGeom prst="rect">
            <a:avLst/>
          </a:prstGeom>
          <a:solidFill>
            <a:srgbClr val="F5F0E8"/>
          </a:solidFill>
          <a:ln w="12700">
            <a:solidFill>
              <a:srgbClr val="E8E2D4"/>
            </a:solidFill>
            <a:prstDash val="solid"/>
          </a:ln>
        </p:spPr>
      </p:sp>
      <p:sp>
        <p:nvSpPr>
          <p:cNvPr id="133" name="Shape 131"/>
          <p:cNvSpPr/>
          <p:nvPr/>
        </p:nvSpPr>
        <p:spPr>
          <a:xfrm>
            <a:off x="7598664" y="4279392"/>
            <a:ext cx="228600" cy="201168"/>
          </a:xfrm>
          <a:prstGeom prst="rect">
            <a:avLst/>
          </a:prstGeom>
          <a:solidFill>
            <a:srgbClr val="F5F0E8"/>
          </a:solidFill>
          <a:ln w="12700">
            <a:solidFill>
              <a:srgbClr val="E8E2D4"/>
            </a:solidFill>
            <a:prstDash val="solid"/>
          </a:ln>
        </p:spPr>
      </p:sp>
      <p:sp>
        <p:nvSpPr>
          <p:cNvPr id="134" name="Shape 132"/>
          <p:cNvSpPr/>
          <p:nvPr/>
        </p:nvSpPr>
        <p:spPr>
          <a:xfrm>
            <a:off x="7836408" y="4279392"/>
            <a:ext cx="228600" cy="201168"/>
          </a:xfrm>
          <a:prstGeom prst="rect">
            <a:avLst/>
          </a:prstGeom>
          <a:solidFill>
            <a:srgbClr val="F5F0E8"/>
          </a:solidFill>
          <a:ln w="12700">
            <a:solidFill>
              <a:srgbClr val="E8E2D4"/>
            </a:solidFill>
            <a:prstDash val="solid"/>
          </a:ln>
        </p:spPr>
      </p:sp>
      <p:sp>
        <p:nvSpPr>
          <p:cNvPr id="135" name="Shape 133"/>
          <p:cNvSpPr/>
          <p:nvPr/>
        </p:nvSpPr>
        <p:spPr>
          <a:xfrm>
            <a:off x="8074152" y="4279392"/>
            <a:ext cx="228600" cy="201168"/>
          </a:xfrm>
          <a:prstGeom prst="rect">
            <a:avLst/>
          </a:prstGeom>
          <a:solidFill>
            <a:srgbClr val="F5F0E8"/>
          </a:solidFill>
          <a:ln w="12700">
            <a:solidFill>
              <a:srgbClr val="E8E2D4"/>
            </a:solidFill>
            <a:prstDash val="solid"/>
          </a:ln>
        </p:spPr>
      </p:sp>
      <p:sp>
        <p:nvSpPr>
          <p:cNvPr id="136" name="Text 134"/>
          <p:cNvSpPr/>
          <p:nvPr/>
        </p:nvSpPr>
        <p:spPr>
          <a:xfrm>
            <a:off x="4892040" y="4572000"/>
            <a:ext cx="3749040" cy="274320"/>
          </a:xfrm>
          <a:prstGeom prst="rect">
            <a:avLst/>
          </a:prstGeom>
          <a:noFill/>
          <a:ln/>
        </p:spPr>
        <p:txBody>
          <a:bodyPr wrap="square" rtlCol="0" anchor="ctr"/>
          <a:lstStyle/>
          <a:p>
            <a:pPr algn="ctr" indent="0" marL="0">
              <a:buNone/>
            </a:pPr>
            <a:r>
              <a:rPr lang="en-US" sz="900" dirty="0">
                <a:solidFill>
                  <a:srgbClr val="8BA3C0"/>
                </a:solidFill>
                <a:latin typeface="Calibri" pitchFamily="34" charset="0"/>
                <a:ea typeface="Calibri" pitchFamily="34" charset="-122"/>
                <a:cs typeface="Calibri" pitchFamily="34" charset="-120"/>
              </a:rPr>
              <a:t>■ Rated    □ Not rated  (93.7% empty)</a:t>
            </a:r>
            <a:endParaRPr lang="en-US" sz="900" dirty="0"/>
          </a:p>
        </p:txBody>
      </p:sp>
      <p:sp>
        <p:nvSpPr>
          <p:cNvPr id="137" name="Text 135"/>
          <p:cNvSpPr/>
          <p:nvPr/>
        </p:nvSpPr>
        <p:spPr>
          <a:xfrm>
            <a:off x="365760" y="4434840"/>
            <a:ext cx="4023360" cy="274320"/>
          </a:xfrm>
          <a:prstGeom prst="rect">
            <a:avLst/>
          </a:prstGeom>
          <a:noFill/>
          <a:ln/>
        </p:spPr>
        <p:txBody>
          <a:bodyPr wrap="square" rtlCol="0" anchor="ctr"/>
          <a:lstStyle/>
          <a:p>
            <a:pPr indent="0" marL="0">
              <a:buNone/>
            </a:pPr>
            <a:r>
              <a:rPr lang="en-US" sz="1100" b="1" dirty="0">
                <a:solidFill>
                  <a:srgbClr val="516985"/>
                </a:solidFill>
                <a:latin typeface="Calibri" pitchFamily="34" charset="0"/>
                <a:ea typeface="Calibri" pitchFamily="34" charset="-122"/>
                <a:cs typeface="Calibri" pitchFamily="34" charset="-120"/>
              </a:rPr>
              <a:t>Rating Distribution</a:t>
            </a:r>
            <a:endParaRPr lang="en-US" sz="1100" dirty="0"/>
          </a:p>
        </p:txBody>
      </p:sp>
      <p:sp>
        <p:nvSpPr>
          <p:cNvPr id="138" name="Text 136"/>
          <p:cNvSpPr/>
          <p:nvPr/>
        </p:nvSpPr>
        <p:spPr>
          <a:xfrm>
            <a:off x="365760" y="4754880"/>
            <a:ext cx="365760" cy="64008"/>
          </a:xfrm>
          <a:prstGeom prst="rect">
            <a:avLst/>
          </a:prstGeom>
          <a:noFill/>
          <a:ln/>
        </p:spPr>
        <p:txBody>
          <a:bodyPr wrap="square" rtlCol="0" anchor="ctr"/>
          <a:lstStyle/>
          <a:p>
            <a:pPr indent="0" marL="0">
              <a:buNone/>
            </a:pPr>
            <a:r>
              <a:rPr lang="en-US" sz="700" dirty="0">
                <a:solidFill>
                  <a:srgbClr val="8BA3C0"/>
                </a:solidFill>
                <a:latin typeface="Calibri" pitchFamily="34" charset="0"/>
                <a:ea typeface="Calibri" pitchFamily="34" charset="-122"/>
                <a:cs typeface="Calibri" pitchFamily="34" charset="-120"/>
              </a:rPr>
              <a:t>1★</a:t>
            </a:r>
            <a:endParaRPr lang="en-US" sz="700" dirty="0"/>
          </a:p>
        </p:txBody>
      </p:sp>
      <p:sp>
        <p:nvSpPr>
          <p:cNvPr id="139" name="Shape 137"/>
          <p:cNvSpPr/>
          <p:nvPr/>
        </p:nvSpPr>
        <p:spPr>
          <a:xfrm>
            <a:off x="777240" y="4759452"/>
            <a:ext cx="576072" cy="50292"/>
          </a:xfrm>
          <a:prstGeom prst="rect">
            <a:avLst/>
          </a:prstGeom>
          <a:solidFill>
            <a:srgbClr val="C49A2E"/>
          </a:solidFill>
          <a:ln w="12700">
            <a:solidFill>
              <a:srgbClr val="C49A2E"/>
            </a:solidFill>
            <a:prstDash val="solid"/>
          </a:ln>
        </p:spPr>
      </p:sp>
      <p:sp>
        <p:nvSpPr>
          <p:cNvPr id="140" name="Text 138"/>
          <p:cNvSpPr/>
          <p:nvPr/>
        </p:nvSpPr>
        <p:spPr>
          <a:xfrm>
            <a:off x="1399032" y="4754880"/>
            <a:ext cx="640080" cy="64008"/>
          </a:xfrm>
          <a:prstGeom prst="rect">
            <a:avLst/>
          </a:prstGeom>
          <a:noFill/>
          <a:ln/>
        </p:spPr>
        <p:txBody>
          <a:bodyPr wrap="square" rtlCol="0" anchor="ctr"/>
          <a:lstStyle/>
          <a:p>
            <a:pPr indent="0" marL="0">
              <a:buNone/>
            </a:pPr>
            <a:r>
              <a:rPr lang="en-US" sz="700" dirty="0">
                <a:solidFill>
                  <a:srgbClr val="8BA3C0"/>
                </a:solidFill>
                <a:latin typeface="Calibri" pitchFamily="34" charset="0"/>
                <a:ea typeface="Calibri" pitchFamily="34" charset="-122"/>
                <a:cs typeface="Calibri" pitchFamily="34" charset="-120"/>
              </a:rPr>
              <a:t>6,110</a:t>
            </a:r>
            <a:endParaRPr lang="en-US" sz="700" dirty="0"/>
          </a:p>
        </p:txBody>
      </p:sp>
      <p:sp>
        <p:nvSpPr>
          <p:cNvPr id="141" name="Text 139"/>
          <p:cNvSpPr/>
          <p:nvPr/>
        </p:nvSpPr>
        <p:spPr>
          <a:xfrm>
            <a:off x="365760" y="4828032"/>
            <a:ext cx="365760" cy="64008"/>
          </a:xfrm>
          <a:prstGeom prst="rect">
            <a:avLst/>
          </a:prstGeom>
          <a:noFill/>
          <a:ln/>
        </p:spPr>
        <p:txBody>
          <a:bodyPr wrap="square" rtlCol="0" anchor="ctr"/>
          <a:lstStyle/>
          <a:p>
            <a:pPr indent="0" marL="0">
              <a:buNone/>
            </a:pPr>
            <a:r>
              <a:rPr lang="en-US" sz="700" dirty="0">
                <a:solidFill>
                  <a:srgbClr val="8BA3C0"/>
                </a:solidFill>
                <a:latin typeface="Calibri" pitchFamily="34" charset="0"/>
                <a:ea typeface="Calibri" pitchFamily="34" charset="-122"/>
                <a:cs typeface="Calibri" pitchFamily="34" charset="-120"/>
              </a:rPr>
              <a:t>2★</a:t>
            </a:r>
            <a:endParaRPr lang="en-US" sz="700" dirty="0"/>
          </a:p>
        </p:txBody>
      </p:sp>
      <p:sp>
        <p:nvSpPr>
          <p:cNvPr id="142" name="Shape 140"/>
          <p:cNvSpPr/>
          <p:nvPr/>
        </p:nvSpPr>
        <p:spPr>
          <a:xfrm>
            <a:off x="777240" y="4832604"/>
            <a:ext cx="1056132" cy="50292"/>
          </a:xfrm>
          <a:prstGeom prst="rect">
            <a:avLst/>
          </a:prstGeom>
          <a:solidFill>
            <a:srgbClr val="C49A2E"/>
          </a:solidFill>
          <a:ln w="12700">
            <a:solidFill>
              <a:srgbClr val="C49A2E"/>
            </a:solidFill>
            <a:prstDash val="solid"/>
          </a:ln>
        </p:spPr>
      </p:sp>
      <p:sp>
        <p:nvSpPr>
          <p:cNvPr id="143" name="Text 141"/>
          <p:cNvSpPr/>
          <p:nvPr/>
        </p:nvSpPr>
        <p:spPr>
          <a:xfrm>
            <a:off x="1879092" y="4828032"/>
            <a:ext cx="640080" cy="64008"/>
          </a:xfrm>
          <a:prstGeom prst="rect">
            <a:avLst/>
          </a:prstGeom>
          <a:noFill/>
          <a:ln/>
        </p:spPr>
        <p:txBody>
          <a:bodyPr wrap="square" rtlCol="0" anchor="ctr"/>
          <a:lstStyle/>
          <a:p>
            <a:pPr indent="0" marL="0">
              <a:buNone/>
            </a:pPr>
            <a:r>
              <a:rPr lang="en-US" sz="700" dirty="0">
                <a:solidFill>
                  <a:srgbClr val="8BA3C0"/>
                </a:solidFill>
                <a:latin typeface="Calibri" pitchFamily="34" charset="0"/>
                <a:ea typeface="Calibri" pitchFamily="34" charset="-122"/>
                <a:cs typeface="Calibri" pitchFamily="34" charset="-120"/>
              </a:rPr>
              <a:t>11,370</a:t>
            </a:r>
            <a:endParaRPr lang="en-US" sz="700" dirty="0"/>
          </a:p>
        </p:txBody>
      </p:sp>
      <p:sp>
        <p:nvSpPr>
          <p:cNvPr id="144" name="Text 142"/>
          <p:cNvSpPr/>
          <p:nvPr/>
        </p:nvSpPr>
        <p:spPr>
          <a:xfrm>
            <a:off x="365760" y="4901184"/>
            <a:ext cx="365760" cy="64008"/>
          </a:xfrm>
          <a:prstGeom prst="rect">
            <a:avLst/>
          </a:prstGeom>
          <a:noFill/>
          <a:ln/>
        </p:spPr>
        <p:txBody>
          <a:bodyPr wrap="square" rtlCol="0" anchor="ctr"/>
          <a:lstStyle/>
          <a:p>
            <a:pPr indent="0" marL="0">
              <a:buNone/>
            </a:pPr>
            <a:r>
              <a:rPr lang="en-US" sz="700" dirty="0">
                <a:solidFill>
                  <a:srgbClr val="8BA3C0"/>
                </a:solidFill>
                <a:latin typeface="Calibri" pitchFamily="34" charset="0"/>
                <a:ea typeface="Calibri" pitchFamily="34" charset="-122"/>
                <a:cs typeface="Calibri" pitchFamily="34" charset="-120"/>
              </a:rPr>
              <a:t>3★</a:t>
            </a:r>
            <a:endParaRPr lang="en-US" sz="700" dirty="0"/>
          </a:p>
        </p:txBody>
      </p:sp>
      <p:sp>
        <p:nvSpPr>
          <p:cNvPr id="145" name="Shape 143"/>
          <p:cNvSpPr/>
          <p:nvPr/>
        </p:nvSpPr>
        <p:spPr>
          <a:xfrm>
            <a:off x="777240" y="4905756"/>
            <a:ext cx="2528316" cy="50292"/>
          </a:xfrm>
          <a:prstGeom prst="rect">
            <a:avLst/>
          </a:prstGeom>
          <a:solidFill>
            <a:srgbClr val="E8B84B"/>
          </a:solidFill>
          <a:ln w="12700">
            <a:solidFill>
              <a:srgbClr val="E8B84B"/>
            </a:solidFill>
            <a:prstDash val="solid"/>
          </a:ln>
        </p:spPr>
      </p:sp>
      <p:sp>
        <p:nvSpPr>
          <p:cNvPr id="146" name="Text 144"/>
          <p:cNvSpPr/>
          <p:nvPr/>
        </p:nvSpPr>
        <p:spPr>
          <a:xfrm>
            <a:off x="3351276" y="4901184"/>
            <a:ext cx="640080" cy="64008"/>
          </a:xfrm>
          <a:prstGeom prst="rect">
            <a:avLst/>
          </a:prstGeom>
          <a:noFill/>
          <a:ln/>
        </p:spPr>
        <p:txBody>
          <a:bodyPr wrap="square" rtlCol="0" anchor="ctr"/>
          <a:lstStyle/>
          <a:p>
            <a:pPr indent="0" marL="0">
              <a:buNone/>
            </a:pPr>
            <a:r>
              <a:rPr lang="en-US" sz="700" dirty="0">
                <a:solidFill>
                  <a:srgbClr val="8BA3C0"/>
                </a:solidFill>
                <a:latin typeface="Calibri" pitchFamily="34" charset="0"/>
                <a:ea typeface="Calibri" pitchFamily="34" charset="-122"/>
                <a:cs typeface="Calibri" pitchFamily="34" charset="-120"/>
              </a:rPr>
              <a:t>27,145</a:t>
            </a:r>
            <a:endParaRPr lang="en-US" sz="700" dirty="0"/>
          </a:p>
        </p:txBody>
      </p:sp>
      <p:sp>
        <p:nvSpPr>
          <p:cNvPr id="147" name="Text 145"/>
          <p:cNvSpPr/>
          <p:nvPr/>
        </p:nvSpPr>
        <p:spPr>
          <a:xfrm>
            <a:off x="365760" y="4974336"/>
            <a:ext cx="365760" cy="64008"/>
          </a:xfrm>
          <a:prstGeom prst="rect">
            <a:avLst/>
          </a:prstGeom>
          <a:noFill/>
          <a:ln/>
        </p:spPr>
        <p:txBody>
          <a:bodyPr wrap="square" rtlCol="0" anchor="ctr"/>
          <a:lstStyle/>
          <a:p>
            <a:pPr indent="0" marL="0">
              <a:buNone/>
            </a:pPr>
            <a:r>
              <a:rPr lang="en-US" sz="700" dirty="0">
                <a:solidFill>
                  <a:srgbClr val="8BA3C0"/>
                </a:solidFill>
                <a:latin typeface="Calibri" pitchFamily="34" charset="0"/>
                <a:ea typeface="Calibri" pitchFamily="34" charset="-122"/>
                <a:cs typeface="Calibri" pitchFamily="34" charset="-120"/>
              </a:rPr>
              <a:t>4★</a:t>
            </a:r>
            <a:endParaRPr lang="en-US" sz="700" dirty="0"/>
          </a:p>
        </p:txBody>
      </p:sp>
      <p:sp>
        <p:nvSpPr>
          <p:cNvPr id="148" name="Shape 146"/>
          <p:cNvSpPr/>
          <p:nvPr/>
        </p:nvSpPr>
        <p:spPr>
          <a:xfrm>
            <a:off x="777240" y="4978908"/>
            <a:ext cx="3200400" cy="50292"/>
          </a:xfrm>
          <a:prstGeom prst="rect">
            <a:avLst/>
          </a:prstGeom>
          <a:solidFill>
            <a:srgbClr val="E8B84B"/>
          </a:solidFill>
          <a:ln w="12700">
            <a:solidFill>
              <a:srgbClr val="E8B84B"/>
            </a:solidFill>
            <a:prstDash val="solid"/>
          </a:ln>
        </p:spPr>
      </p:sp>
      <p:sp>
        <p:nvSpPr>
          <p:cNvPr id="149" name="Text 147"/>
          <p:cNvSpPr/>
          <p:nvPr/>
        </p:nvSpPr>
        <p:spPr>
          <a:xfrm>
            <a:off x="4023360" y="4974336"/>
            <a:ext cx="640080" cy="64008"/>
          </a:xfrm>
          <a:prstGeom prst="rect">
            <a:avLst/>
          </a:prstGeom>
          <a:noFill/>
          <a:ln/>
        </p:spPr>
        <p:txBody>
          <a:bodyPr wrap="square" rtlCol="0" anchor="ctr"/>
          <a:lstStyle/>
          <a:p>
            <a:pPr indent="0" marL="0">
              <a:buNone/>
            </a:pPr>
            <a:r>
              <a:rPr lang="en-US" sz="700" dirty="0">
                <a:solidFill>
                  <a:srgbClr val="8BA3C0"/>
                </a:solidFill>
                <a:latin typeface="Calibri" pitchFamily="34" charset="0"/>
                <a:ea typeface="Calibri" pitchFamily="34" charset="-122"/>
                <a:cs typeface="Calibri" pitchFamily="34" charset="-120"/>
              </a:rPr>
              <a:t>34,174</a:t>
            </a:r>
            <a:endParaRPr lang="en-US" sz="700" dirty="0"/>
          </a:p>
        </p:txBody>
      </p:sp>
      <p:sp>
        <p:nvSpPr>
          <p:cNvPr id="150" name="Text 148"/>
          <p:cNvSpPr/>
          <p:nvPr/>
        </p:nvSpPr>
        <p:spPr>
          <a:xfrm>
            <a:off x="365760" y="5047488"/>
            <a:ext cx="365760" cy="64008"/>
          </a:xfrm>
          <a:prstGeom prst="rect">
            <a:avLst/>
          </a:prstGeom>
          <a:noFill/>
          <a:ln/>
        </p:spPr>
        <p:txBody>
          <a:bodyPr wrap="square" rtlCol="0" anchor="ctr"/>
          <a:lstStyle/>
          <a:p>
            <a:pPr indent="0" marL="0">
              <a:buNone/>
            </a:pPr>
            <a:r>
              <a:rPr lang="en-US" sz="700" dirty="0">
                <a:solidFill>
                  <a:srgbClr val="8BA3C0"/>
                </a:solidFill>
                <a:latin typeface="Calibri" pitchFamily="34" charset="0"/>
                <a:ea typeface="Calibri" pitchFamily="34" charset="-122"/>
                <a:cs typeface="Calibri" pitchFamily="34" charset="-120"/>
              </a:rPr>
              <a:t>5★</a:t>
            </a:r>
            <a:endParaRPr lang="en-US" sz="700" dirty="0"/>
          </a:p>
        </p:txBody>
      </p:sp>
      <p:sp>
        <p:nvSpPr>
          <p:cNvPr id="151" name="Shape 149"/>
          <p:cNvSpPr/>
          <p:nvPr/>
        </p:nvSpPr>
        <p:spPr>
          <a:xfrm>
            <a:off x="777240" y="5052060"/>
            <a:ext cx="1984248" cy="50292"/>
          </a:xfrm>
          <a:prstGeom prst="rect">
            <a:avLst/>
          </a:prstGeom>
          <a:solidFill>
            <a:srgbClr val="E8B84B"/>
          </a:solidFill>
          <a:ln w="12700">
            <a:solidFill>
              <a:srgbClr val="E8B84B"/>
            </a:solidFill>
            <a:prstDash val="solid"/>
          </a:ln>
        </p:spPr>
      </p:sp>
      <p:sp>
        <p:nvSpPr>
          <p:cNvPr id="152" name="Text 150"/>
          <p:cNvSpPr/>
          <p:nvPr/>
        </p:nvSpPr>
        <p:spPr>
          <a:xfrm>
            <a:off x="2807208" y="5047488"/>
            <a:ext cx="640080" cy="64008"/>
          </a:xfrm>
          <a:prstGeom prst="rect">
            <a:avLst/>
          </a:prstGeom>
          <a:noFill/>
          <a:ln/>
        </p:spPr>
        <p:txBody>
          <a:bodyPr wrap="square" rtlCol="0" anchor="ctr"/>
          <a:lstStyle/>
          <a:p>
            <a:pPr indent="0" marL="0">
              <a:buNone/>
            </a:pPr>
            <a:r>
              <a:rPr lang="en-US" sz="700" dirty="0">
                <a:solidFill>
                  <a:srgbClr val="8BA3C0"/>
                </a:solidFill>
                <a:latin typeface="Calibri" pitchFamily="34" charset="0"/>
                <a:ea typeface="Calibri" pitchFamily="34" charset="-122"/>
                <a:cs typeface="Calibri" pitchFamily="34" charset="-120"/>
              </a:rPr>
              <a:t>21,201</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49A2E"/>
          </a:solidFill>
          <a:ln w="12700">
            <a:solidFill>
              <a:srgbClr val="C49A2E"/>
            </a:solidFill>
            <a:prstDash val="solid"/>
          </a:ln>
        </p:spPr>
      </p:sp>
      <p:sp>
        <p:nvSpPr>
          <p:cNvPr id="3" name="Text 1"/>
          <p:cNvSpPr/>
          <p:nvPr/>
        </p:nvSpPr>
        <p:spPr>
          <a:xfrm>
            <a:off x="365760" y="0"/>
            <a:ext cx="8229600" cy="68580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SYSTEM ARCHITECTURE</a:t>
            </a:r>
            <a:endParaRPr lang="en-US" sz="1400" dirty="0"/>
          </a:p>
        </p:txBody>
      </p:sp>
      <p:sp>
        <p:nvSpPr>
          <p:cNvPr id="4" name="Shape 2"/>
          <p:cNvSpPr/>
          <p:nvPr/>
        </p:nvSpPr>
        <p:spPr>
          <a:xfrm>
            <a:off x="365760" y="868680"/>
            <a:ext cx="2697480" cy="3886200"/>
          </a:xfrm>
          <a:prstGeom prst="rect">
            <a:avLst/>
          </a:prstGeom>
          <a:solidFill>
            <a:srgbClr val="0A1628"/>
          </a:solidFill>
          <a:ln w="12700">
            <a:solidFill>
              <a:srgbClr val="E8B84B"/>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65760" y="868680"/>
            <a:ext cx="2697480" cy="594360"/>
          </a:xfrm>
          <a:prstGeom prst="rect">
            <a:avLst/>
          </a:prstGeom>
          <a:solidFill>
            <a:srgbClr val="E8B84B"/>
          </a:solidFill>
          <a:ln w="12700">
            <a:solidFill>
              <a:srgbClr val="E8B84B"/>
            </a:solidFill>
            <a:prstDash val="solid"/>
          </a:ln>
        </p:spPr>
      </p:sp>
      <p:sp>
        <p:nvSpPr>
          <p:cNvPr id="6" name="Text 4"/>
          <p:cNvSpPr/>
          <p:nvPr/>
        </p:nvSpPr>
        <p:spPr>
          <a:xfrm>
            <a:off x="365760" y="868680"/>
            <a:ext cx="2697480"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Frontend</a:t>
            </a:r>
            <a:endParaRPr lang="en-US" sz="1400" dirty="0"/>
          </a:p>
        </p:txBody>
      </p:sp>
      <p:sp>
        <p:nvSpPr>
          <p:cNvPr id="7" name="Text 5"/>
          <p:cNvSpPr/>
          <p:nvPr/>
        </p:nvSpPr>
        <p:spPr>
          <a:xfrm>
            <a:off x="365760" y="1207008"/>
            <a:ext cx="2697480" cy="256032"/>
          </a:xfrm>
          <a:prstGeom prst="rect">
            <a:avLst/>
          </a:prstGeom>
          <a:noFill/>
          <a:ln/>
        </p:spPr>
        <p:txBody>
          <a:bodyPr wrap="square"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Streamlit</a:t>
            </a:r>
            <a:endParaRPr lang="en-US" sz="1000" dirty="0"/>
          </a:p>
        </p:txBody>
      </p:sp>
      <p:sp>
        <p:nvSpPr>
          <p:cNvPr id="8" name="Shape 6"/>
          <p:cNvSpPr/>
          <p:nvPr/>
        </p:nvSpPr>
        <p:spPr>
          <a:xfrm>
            <a:off x="502920" y="1627632"/>
            <a:ext cx="2423160" cy="621792"/>
          </a:xfrm>
          <a:prstGeom prst="rect">
            <a:avLst/>
          </a:prstGeom>
          <a:solidFill>
            <a:srgbClr val="0A1628"/>
          </a:solidFill>
          <a:ln w="12700">
            <a:solidFill>
              <a:srgbClr val="0F1F3D"/>
            </a:solidFill>
            <a:prstDash val="solid"/>
          </a:ln>
        </p:spPr>
      </p:sp>
      <p:sp>
        <p:nvSpPr>
          <p:cNvPr id="9" name="Text 7"/>
          <p:cNvSpPr/>
          <p:nvPr/>
        </p:nvSpPr>
        <p:spPr>
          <a:xfrm>
            <a:off x="548640" y="1664208"/>
            <a:ext cx="2331720" cy="548640"/>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User ID + Movie selector</a:t>
            </a:r>
            <a:endParaRPr lang="en-US" sz="1000" dirty="0"/>
          </a:p>
        </p:txBody>
      </p:sp>
      <p:sp>
        <p:nvSpPr>
          <p:cNvPr id="10" name="Shape 8"/>
          <p:cNvSpPr/>
          <p:nvPr/>
        </p:nvSpPr>
        <p:spPr>
          <a:xfrm>
            <a:off x="502920" y="2377440"/>
            <a:ext cx="2423160" cy="621792"/>
          </a:xfrm>
          <a:prstGeom prst="rect">
            <a:avLst/>
          </a:prstGeom>
          <a:solidFill>
            <a:srgbClr val="0A1628"/>
          </a:solidFill>
          <a:ln w="12700">
            <a:solidFill>
              <a:srgbClr val="0F1F3D"/>
            </a:solidFill>
            <a:prstDash val="solid"/>
          </a:ln>
        </p:spPr>
      </p:sp>
      <p:sp>
        <p:nvSpPr>
          <p:cNvPr id="11" name="Text 9"/>
          <p:cNvSpPr/>
          <p:nvPr/>
        </p:nvSpPr>
        <p:spPr>
          <a:xfrm>
            <a:off x="548640" y="2414016"/>
            <a:ext cx="2331720" cy="548640"/>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Poster grid with TMDB ratings</a:t>
            </a:r>
            <a:endParaRPr lang="en-US" sz="1000" dirty="0"/>
          </a:p>
        </p:txBody>
      </p:sp>
      <p:sp>
        <p:nvSpPr>
          <p:cNvPr id="12" name="Shape 10"/>
          <p:cNvSpPr/>
          <p:nvPr/>
        </p:nvSpPr>
        <p:spPr>
          <a:xfrm>
            <a:off x="502920" y="3127248"/>
            <a:ext cx="2423160" cy="621792"/>
          </a:xfrm>
          <a:prstGeom prst="rect">
            <a:avLst/>
          </a:prstGeom>
          <a:solidFill>
            <a:srgbClr val="0A1628"/>
          </a:solidFill>
          <a:ln w="12700">
            <a:solidFill>
              <a:srgbClr val="0F1F3D"/>
            </a:solidFill>
            <a:prstDash val="solid"/>
          </a:ln>
        </p:spPr>
      </p:sp>
      <p:sp>
        <p:nvSpPr>
          <p:cNvPr id="13" name="Text 11"/>
          <p:cNvSpPr/>
          <p:nvPr/>
        </p:nvSpPr>
        <p:spPr>
          <a:xfrm>
            <a:off x="548640" y="3163824"/>
            <a:ext cx="2331720" cy="548640"/>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Two modes: Recommend &amp; Similar</a:t>
            </a:r>
            <a:endParaRPr lang="en-US" sz="1000" dirty="0"/>
          </a:p>
        </p:txBody>
      </p:sp>
      <p:sp>
        <p:nvSpPr>
          <p:cNvPr id="14" name="Shape 12"/>
          <p:cNvSpPr/>
          <p:nvPr/>
        </p:nvSpPr>
        <p:spPr>
          <a:xfrm>
            <a:off x="502920" y="3877056"/>
            <a:ext cx="2423160" cy="621792"/>
          </a:xfrm>
          <a:prstGeom prst="rect">
            <a:avLst/>
          </a:prstGeom>
          <a:solidFill>
            <a:srgbClr val="0A1628"/>
          </a:solidFill>
          <a:ln w="12700">
            <a:solidFill>
              <a:srgbClr val="0F1F3D"/>
            </a:solidFill>
            <a:prstDash val="solid"/>
          </a:ln>
        </p:spPr>
      </p:sp>
      <p:sp>
        <p:nvSpPr>
          <p:cNvPr id="15" name="Text 13"/>
          <p:cNvSpPr/>
          <p:nvPr/>
        </p:nvSpPr>
        <p:spPr>
          <a:xfrm>
            <a:off x="548640" y="3913632"/>
            <a:ext cx="2331720" cy="548640"/>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Real-time HTTP requests to API</a:t>
            </a:r>
            <a:endParaRPr lang="en-US" sz="1000" dirty="0"/>
          </a:p>
        </p:txBody>
      </p:sp>
      <p:sp>
        <p:nvSpPr>
          <p:cNvPr id="16" name="Shape 14"/>
          <p:cNvSpPr/>
          <p:nvPr/>
        </p:nvSpPr>
        <p:spPr>
          <a:xfrm>
            <a:off x="3246120" y="868680"/>
            <a:ext cx="2697480" cy="3886200"/>
          </a:xfrm>
          <a:prstGeom prst="rect">
            <a:avLst/>
          </a:prstGeom>
          <a:solidFill>
            <a:srgbClr val="0A1628"/>
          </a:solidFill>
          <a:ln w="12700">
            <a:solidFill>
              <a:srgbClr val="E8B84B"/>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3246120" y="868680"/>
            <a:ext cx="2697480" cy="594360"/>
          </a:xfrm>
          <a:prstGeom prst="rect">
            <a:avLst/>
          </a:prstGeom>
          <a:solidFill>
            <a:srgbClr val="E8B84B"/>
          </a:solidFill>
          <a:ln w="12700">
            <a:solidFill>
              <a:srgbClr val="E8B84B"/>
            </a:solidFill>
            <a:prstDash val="solid"/>
          </a:ln>
        </p:spPr>
      </p:sp>
      <p:sp>
        <p:nvSpPr>
          <p:cNvPr id="18" name="Text 16"/>
          <p:cNvSpPr/>
          <p:nvPr/>
        </p:nvSpPr>
        <p:spPr>
          <a:xfrm>
            <a:off x="3246120" y="868680"/>
            <a:ext cx="2697480"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Backend</a:t>
            </a:r>
            <a:endParaRPr lang="en-US" sz="1400" dirty="0"/>
          </a:p>
        </p:txBody>
      </p:sp>
      <p:sp>
        <p:nvSpPr>
          <p:cNvPr id="19" name="Text 17"/>
          <p:cNvSpPr/>
          <p:nvPr/>
        </p:nvSpPr>
        <p:spPr>
          <a:xfrm>
            <a:off x="3246120" y="1207008"/>
            <a:ext cx="2697480" cy="256032"/>
          </a:xfrm>
          <a:prstGeom prst="rect">
            <a:avLst/>
          </a:prstGeom>
          <a:noFill/>
          <a:ln/>
        </p:spPr>
        <p:txBody>
          <a:bodyPr wrap="square"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FastAPI</a:t>
            </a:r>
            <a:endParaRPr lang="en-US" sz="1000" dirty="0"/>
          </a:p>
        </p:txBody>
      </p:sp>
      <p:sp>
        <p:nvSpPr>
          <p:cNvPr id="20" name="Shape 18"/>
          <p:cNvSpPr/>
          <p:nvPr/>
        </p:nvSpPr>
        <p:spPr>
          <a:xfrm>
            <a:off x="3383280" y="1627632"/>
            <a:ext cx="2423160" cy="621792"/>
          </a:xfrm>
          <a:prstGeom prst="rect">
            <a:avLst/>
          </a:prstGeom>
          <a:solidFill>
            <a:srgbClr val="0A1628"/>
          </a:solidFill>
          <a:ln w="12700">
            <a:solidFill>
              <a:srgbClr val="0F1F3D"/>
            </a:solidFill>
            <a:prstDash val="solid"/>
          </a:ln>
        </p:spPr>
      </p:sp>
      <p:sp>
        <p:nvSpPr>
          <p:cNvPr id="21" name="Text 19"/>
          <p:cNvSpPr/>
          <p:nvPr/>
        </p:nvSpPr>
        <p:spPr>
          <a:xfrm>
            <a:off x="3429000" y="1664208"/>
            <a:ext cx="2331720" cy="548640"/>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GET /recommend — hybrid output</a:t>
            </a:r>
            <a:endParaRPr lang="en-US" sz="1000" dirty="0"/>
          </a:p>
        </p:txBody>
      </p:sp>
      <p:sp>
        <p:nvSpPr>
          <p:cNvPr id="22" name="Shape 20"/>
          <p:cNvSpPr/>
          <p:nvPr/>
        </p:nvSpPr>
        <p:spPr>
          <a:xfrm>
            <a:off x="3383280" y="2377440"/>
            <a:ext cx="2423160" cy="621792"/>
          </a:xfrm>
          <a:prstGeom prst="rect">
            <a:avLst/>
          </a:prstGeom>
          <a:solidFill>
            <a:srgbClr val="0A1628"/>
          </a:solidFill>
          <a:ln w="12700">
            <a:solidFill>
              <a:srgbClr val="0F1F3D"/>
            </a:solidFill>
            <a:prstDash val="solid"/>
          </a:ln>
        </p:spPr>
      </p:sp>
      <p:sp>
        <p:nvSpPr>
          <p:cNvPr id="23" name="Text 21"/>
          <p:cNvSpPr/>
          <p:nvPr/>
        </p:nvSpPr>
        <p:spPr>
          <a:xfrm>
            <a:off x="3429000" y="2414016"/>
            <a:ext cx="2331720" cy="548640"/>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GET /similar — content-based</a:t>
            </a:r>
            <a:endParaRPr lang="en-US" sz="1000" dirty="0"/>
          </a:p>
        </p:txBody>
      </p:sp>
      <p:sp>
        <p:nvSpPr>
          <p:cNvPr id="24" name="Shape 22"/>
          <p:cNvSpPr/>
          <p:nvPr/>
        </p:nvSpPr>
        <p:spPr>
          <a:xfrm>
            <a:off x="3383280" y="3127248"/>
            <a:ext cx="2423160" cy="621792"/>
          </a:xfrm>
          <a:prstGeom prst="rect">
            <a:avLst/>
          </a:prstGeom>
          <a:solidFill>
            <a:srgbClr val="0A1628"/>
          </a:solidFill>
          <a:ln w="12700">
            <a:solidFill>
              <a:srgbClr val="0F1F3D"/>
            </a:solidFill>
            <a:prstDash val="solid"/>
          </a:ln>
        </p:spPr>
      </p:sp>
      <p:sp>
        <p:nvSpPr>
          <p:cNvPr id="25" name="Text 23"/>
          <p:cNvSpPr/>
          <p:nvPr/>
        </p:nvSpPr>
        <p:spPr>
          <a:xfrm>
            <a:off x="3429000" y="3163824"/>
            <a:ext cx="2331720" cy="548640"/>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GET / — health check</a:t>
            </a:r>
            <a:endParaRPr lang="en-US" sz="1000" dirty="0"/>
          </a:p>
        </p:txBody>
      </p:sp>
      <p:sp>
        <p:nvSpPr>
          <p:cNvPr id="26" name="Shape 24"/>
          <p:cNvSpPr/>
          <p:nvPr/>
        </p:nvSpPr>
        <p:spPr>
          <a:xfrm>
            <a:off x="3383280" y="3877056"/>
            <a:ext cx="2423160" cy="621792"/>
          </a:xfrm>
          <a:prstGeom prst="rect">
            <a:avLst/>
          </a:prstGeom>
          <a:solidFill>
            <a:srgbClr val="0A1628"/>
          </a:solidFill>
          <a:ln w="12700">
            <a:solidFill>
              <a:srgbClr val="0F1F3D"/>
            </a:solidFill>
            <a:prstDash val="solid"/>
          </a:ln>
        </p:spPr>
      </p:sp>
      <p:sp>
        <p:nvSpPr>
          <p:cNvPr id="27" name="Text 25"/>
          <p:cNvSpPr/>
          <p:nvPr/>
        </p:nvSpPr>
        <p:spPr>
          <a:xfrm>
            <a:off x="3429000" y="3913632"/>
            <a:ext cx="2331720" cy="548640"/>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Loads pickle models at startup</a:t>
            </a:r>
            <a:endParaRPr lang="en-US" sz="1000" dirty="0"/>
          </a:p>
        </p:txBody>
      </p:sp>
      <p:sp>
        <p:nvSpPr>
          <p:cNvPr id="28" name="Shape 26"/>
          <p:cNvSpPr/>
          <p:nvPr/>
        </p:nvSpPr>
        <p:spPr>
          <a:xfrm>
            <a:off x="6126480" y="868680"/>
            <a:ext cx="2697480" cy="3886200"/>
          </a:xfrm>
          <a:prstGeom prst="rect">
            <a:avLst/>
          </a:prstGeom>
          <a:solidFill>
            <a:srgbClr val="0A1628"/>
          </a:solidFill>
          <a:ln w="12700">
            <a:solidFill>
              <a:srgbClr val="E8B84B"/>
            </a:solidFill>
            <a:prstDash val="solid"/>
          </a:ln>
          <a:effectLst>
            <a:outerShdw sx="100000" sy="100000" kx="0" ky="0" algn="bl" rotWithShape="0" blurRad="101600" dist="38100" dir="8100000">
              <a:srgbClr val="000000">
                <a:alpha val="12000"/>
              </a:srgbClr>
            </a:outerShdw>
          </a:effectLst>
        </p:spPr>
      </p:sp>
      <p:sp>
        <p:nvSpPr>
          <p:cNvPr id="29" name="Shape 27"/>
          <p:cNvSpPr/>
          <p:nvPr/>
        </p:nvSpPr>
        <p:spPr>
          <a:xfrm>
            <a:off x="6126480" y="868680"/>
            <a:ext cx="2697480" cy="594360"/>
          </a:xfrm>
          <a:prstGeom prst="rect">
            <a:avLst/>
          </a:prstGeom>
          <a:solidFill>
            <a:srgbClr val="E8B84B"/>
          </a:solidFill>
          <a:ln w="12700">
            <a:solidFill>
              <a:srgbClr val="E8B84B"/>
            </a:solidFill>
            <a:prstDash val="solid"/>
          </a:ln>
        </p:spPr>
      </p:sp>
      <p:sp>
        <p:nvSpPr>
          <p:cNvPr id="30" name="Text 28"/>
          <p:cNvSpPr/>
          <p:nvPr/>
        </p:nvSpPr>
        <p:spPr>
          <a:xfrm>
            <a:off x="6126480" y="868680"/>
            <a:ext cx="2697480"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Data Layer</a:t>
            </a:r>
            <a:endParaRPr lang="en-US" sz="1400" dirty="0"/>
          </a:p>
        </p:txBody>
      </p:sp>
      <p:sp>
        <p:nvSpPr>
          <p:cNvPr id="31" name="Text 29"/>
          <p:cNvSpPr/>
          <p:nvPr/>
        </p:nvSpPr>
        <p:spPr>
          <a:xfrm>
            <a:off x="6126480" y="1207008"/>
            <a:ext cx="2697480" cy="256032"/>
          </a:xfrm>
          <a:prstGeom prst="rect">
            <a:avLst/>
          </a:prstGeom>
          <a:noFill/>
          <a:ln/>
        </p:spPr>
        <p:txBody>
          <a:bodyPr wrap="square"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Models + APIs</a:t>
            </a:r>
            <a:endParaRPr lang="en-US" sz="1000" dirty="0"/>
          </a:p>
        </p:txBody>
      </p:sp>
      <p:sp>
        <p:nvSpPr>
          <p:cNvPr id="32" name="Shape 30"/>
          <p:cNvSpPr/>
          <p:nvPr/>
        </p:nvSpPr>
        <p:spPr>
          <a:xfrm>
            <a:off x="6263640" y="1627632"/>
            <a:ext cx="2423160" cy="621792"/>
          </a:xfrm>
          <a:prstGeom prst="rect">
            <a:avLst/>
          </a:prstGeom>
          <a:solidFill>
            <a:srgbClr val="0A1628"/>
          </a:solidFill>
          <a:ln w="12700">
            <a:solidFill>
              <a:srgbClr val="0F1F3D"/>
            </a:solidFill>
            <a:prstDash val="solid"/>
          </a:ln>
        </p:spPr>
      </p:sp>
      <p:sp>
        <p:nvSpPr>
          <p:cNvPr id="33" name="Text 31"/>
          <p:cNvSpPr/>
          <p:nvPr/>
        </p:nvSpPr>
        <p:spPr>
          <a:xfrm>
            <a:off x="6309360" y="1664208"/>
            <a:ext cx="2331720" cy="548640"/>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cosine_sim.pkl (1682×1682)</a:t>
            </a:r>
            <a:endParaRPr lang="en-US" sz="1000" dirty="0"/>
          </a:p>
        </p:txBody>
      </p:sp>
      <p:sp>
        <p:nvSpPr>
          <p:cNvPr id="34" name="Shape 32"/>
          <p:cNvSpPr/>
          <p:nvPr/>
        </p:nvSpPr>
        <p:spPr>
          <a:xfrm>
            <a:off x="6263640" y="2377440"/>
            <a:ext cx="2423160" cy="621792"/>
          </a:xfrm>
          <a:prstGeom prst="rect">
            <a:avLst/>
          </a:prstGeom>
          <a:solidFill>
            <a:srgbClr val="0A1628"/>
          </a:solidFill>
          <a:ln w="12700">
            <a:solidFill>
              <a:srgbClr val="0F1F3D"/>
            </a:solidFill>
            <a:prstDash val="solid"/>
          </a:ln>
        </p:spPr>
      </p:sp>
      <p:sp>
        <p:nvSpPr>
          <p:cNvPr id="35" name="Text 33"/>
          <p:cNvSpPr/>
          <p:nvPr/>
        </p:nvSpPr>
        <p:spPr>
          <a:xfrm>
            <a:off x="6309360" y="2414016"/>
            <a:ext cx="2331720" cy="548640"/>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user_similarity_df.pkl (943×943)</a:t>
            </a:r>
            <a:endParaRPr lang="en-US" sz="1000" dirty="0"/>
          </a:p>
        </p:txBody>
      </p:sp>
      <p:sp>
        <p:nvSpPr>
          <p:cNvPr id="36" name="Shape 34"/>
          <p:cNvSpPr/>
          <p:nvPr/>
        </p:nvSpPr>
        <p:spPr>
          <a:xfrm>
            <a:off x="6263640" y="3127248"/>
            <a:ext cx="2423160" cy="621792"/>
          </a:xfrm>
          <a:prstGeom prst="rect">
            <a:avLst/>
          </a:prstGeom>
          <a:solidFill>
            <a:srgbClr val="0A1628"/>
          </a:solidFill>
          <a:ln w="12700">
            <a:solidFill>
              <a:srgbClr val="0F1F3D"/>
            </a:solidFill>
            <a:prstDash val="solid"/>
          </a:ln>
        </p:spPr>
      </p:sp>
      <p:sp>
        <p:nvSpPr>
          <p:cNvPr id="37" name="Text 35"/>
          <p:cNvSpPr/>
          <p:nvPr/>
        </p:nvSpPr>
        <p:spPr>
          <a:xfrm>
            <a:off x="6309360" y="3163824"/>
            <a:ext cx="2331720" cy="548640"/>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user_movie_matrix.pkl</a:t>
            </a:r>
            <a:endParaRPr lang="en-US" sz="1000" dirty="0"/>
          </a:p>
        </p:txBody>
      </p:sp>
      <p:sp>
        <p:nvSpPr>
          <p:cNvPr id="38" name="Shape 36"/>
          <p:cNvSpPr/>
          <p:nvPr/>
        </p:nvSpPr>
        <p:spPr>
          <a:xfrm>
            <a:off x="6263640" y="3877056"/>
            <a:ext cx="2423160" cy="621792"/>
          </a:xfrm>
          <a:prstGeom prst="rect">
            <a:avLst/>
          </a:prstGeom>
          <a:solidFill>
            <a:srgbClr val="0A1628"/>
          </a:solidFill>
          <a:ln w="12700">
            <a:solidFill>
              <a:srgbClr val="0F1F3D"/>
            </a:solidFill>
            <a:prstDash val="solid"/>
          </a:ln>
        </p:spPr>
      </p:sp>
      <p:sp>
        <p:nvSpPr>
          <p:cNvPr id="39" name="Text 37"/>
          <p:cNvSpPr/>
          <p:nvPr/>
        </p:nvSpPr>
        <p:spPr>
          <a:xfrm>
            <a:off x="6309360" y="3913632"/>
            <a:ext cx="2331720" cy="548640"/>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TMDB API for live posters</a:t>
            </a:r>
            <a:endParaRPr lang="en-US" sz="1000" dirty="0"/>
          </a:p>
        </p:txBody>
      </p:sp>
      <p:sp>
        <p:nvSpPr>
          <p:cNvPr id="40" name="Shape 38"/>
          <p:cNvSpPr/>
          <p:nvPr/>
        </p:nvSpPr>
        <p:spPr>
          <a:xfrm>
            <a:off x="3017520" y="2697480"/>
            <a:ext cx="182880" cy="54864"/>
          </a:xfrm>
          <a:prstGeom prst="rect">
            <a:avLst/>
          </a:prstGeom>
          <a:solidFill>
            <a:srgbClr val="E8B84B"/>
          </a:solidFill>
          <a:ln w="12700">
            <a:solidFill>
              <a:srgbClr val="E8B84B"/>
            </a:solidFill>
            <a:prstDash val="solid"/>
          </a:ln>
        </p:spPr>
      </p:sp>
      <p:sp>
        <p:nvSpPr>
          <p:cNvPr id="41" name="Text 39"/>
          <p:cNvSpPr/>
          <p:nvPr/>
        </p:nvSpPr>
        <p:spPr>
          <a:xfrm>
            <a:off x="2971800" y="2514600"/>
            <a:ext cx="365760" cy="411480"/>
          </a:xfrm>
          <a:prstGeom prst="rect">
            <a:avLst/>
          </a:prstGeom>
          <a:noFill/>
          <a:ln/>
        </p:spPr>
        <p:txBody>
          <a:bodyPr wrap="square" rtlCol="0" anchor="ctr"/>
          <a:lstStyle/>
          <a:p>
            <a:pPr algn="ctr" indent="0" marL="0">
              <a:buNone/>
            </a:pPr>
            <a:r>
              <a:rPr lang="en-US" sz="2000" dirty="0">
                <a:solidFill>
                  <a:srgbClr val="E8B84B"/>
                </a:solidFill>
                <a:latin typeface="Calibri" pitchFamily="34" charset="0"/>
                <a:ea typeface="Calibri" pitchFamily="34" charset="-122"/>
                <a:cs typeface="Calibri" pitchFamily="34" charset="-120"/>
              </a:rPr>
              <a:t>→</a:t>
            </a:r>
            <a:endParaRPr lang="en-US" sz="2000" dirty="0"/>
          </a:p>
        </p:txBody>
      </p:sp>
      <p:sp>
        <p:nvSpPr>
          <p:cNvPr id="42" name="Shape 40"/>
          <p:cNvSpPr/>
          <p:nvPr/>
        </p:nvSpPr>
        <p:spPr>
          <a:xfrm>
            <a:off x="5897880" y="2697480"/>
            <a:ext cx="182880" cy="54864"/>
          </a:xfrm>
          <a:prstGeom prst="rect">
            <a:avLst/>
          </a:prstGeom>
          <a:solidFill>
            <a:srgbClr val="E8B84B"/>
          </a:solidFill>
          <a:ln w="12700">
            <a:solidFill>
              <a:srgbClr val="E8B84B"/>
            </a:solidFill>
            <a:prstDash val="solid"/>
          </a:ln>
        </p:spPr>
      </p:sp>
      <p:sp>
        <p:nvSpPr>
          <p:cNvPr id="43" name="Text 41"/>
          <p:cNvSpPr/>
          <p:nvPr/>
        </p:nvSpPr>
        <p:spPr>
          <a:xfrm>
            <a:off x="5852160" y="2514600"/>
            <a:ext cx="365760" cy="411480"/>
          </a:xfrm>
          <a:prstGeom prst="rect">
            <a:avLst/>
          </a:prstGeom>
          <a:noFill/>
          <a:ln/>
        </p:spPr>
        <p:txBody>
          <a:bodyPr wrap="square" rtlCol="0" anchor="ctr"/>
          <a:lstStyle/>
          <a:p>
            <a:pPr algn="ctr" indent="0" marL="0">
              <a:buNone/>
            </a:pPr>
            <a:r>
              <a:rPr lang="en-US" sz="2000" dirty="0">
                <a:solidFill>
                  <a:srgbClr val="E8B84B"/>
                </a:solidFill>
                <a:latin typeface="Calibri" pitchFamily="34" charset="0"/>
                <a:ea typeface="Calibri" pitchFamily="34" charset="-122"/>
                <a:cs typeface="Calibri" pitchFamily="34" charset="-120"/>
              </a:rPr>
              <a:t>→</a:t>
            </a:r>
            <a:endParaRPr lang="en-US" sz="2000" dirty="0"/>
          </a:p>
        </p:txBody>
      </p:sp>
      <p:sp>
        <p:nvSpPr>
          <p:cNvPr id="44" name="Shape 42"/>
          <p:cNvSpPr/>
          <p:nvPr/>
        </p:nvSpPr>
        <p:spPr>
          <a:xfrm>
            <a:off x="0" y="4800600"/>
            <a:ext cx="9144000" cy="342900"/>
          </a:xfrm>
          <a:prstGeom prst="rect">
            <a:avLst/>
          </a:prstGeom>
          <a:solidFill>
            <a:srgbClr val="071020"/>
          </a:solidFill>
          <a:ln w="12700">
            <a:solidFill>
              <a:srgbClr val="071020"/>
            </a:solidFill>
            <a:prstDash val="solid"/>
          </a:ln>
        </p:spPr>
      </p:sp>
      <p:sp>
        <p:nvSpPr>
          <p:cNvPr id="45" name="Text 43"/>
          <p:cNvSpPr/>
          <p:nvPr/>
        </p:nvSpPr>
        <p:spPr>
          <a:xfrm>
            <a:off x="274320" y="4800600"/>
            <a:ext cx="8686800" cy="342900"/>
          </a:xfrm>
          <a:prstGeom prst="rect">
            <a:avLst/>
          </a:prstGeom>
          <a:noFill/>
          <a:ln/>
        </p:spPr>
        <p:txBody>
          <a:bodyPr wrap="square" rtlCol="0" anchor="ctr"/>
          <a:lstStyle/>
          <a:p>
            <a:pPr indent="0" marL="0">
              <a:buNone/>
            </a:pPr>
            <a:r>
              <a:rPr lang="en-US" sz="1000" spc="100" kern="0" dirty="0">
                <a:solidFill>
                  <a:srgbClr val="E8B84B"/>
                </a:solidFill>
                <a:latin typeface="Calibri" pitchFamily="34" charset="0"/>
                <a:ea typeface="Calibri" pitchFamily="34" charset="-122"/>
                <a:cs typeface="Calibri" pitchFamily="34" charset="-120"/>
              </a:rPr>
              <a:t>TECH STACK:  Python  ·  pandas  ·  NumPy  ·  scikit-learn  ·  SciPy  ·  FastAPI  ·  Streamlit  ·  TMDB API  ·  pickle  ·  Streamlit Cloud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w="12700">
            <a:solidFill>
              <a:srgbClr val="0A1628"/>
            </a:solidFill>
            <a:prstDash val="solid"/>
          </a:ln>
        </p:spPr>
      </p:sp>
      <p:sp>
        <p:nvSpPr>
          <p:cNvPr id="3" name="Text 1"/>
          <p:cNvSpPr/>
          <p:nvPr/>
        </p:nvSpPr>
        <p:spPr>
          <a:xfrm>
            <a:off x="365760" y="0"/>
            <a:ext cx="8229600" cy="685800"/>
          </a:xfrm>
          <a:prstGeom prst="rect">
            <a:avLst/>
          </a:prstGeom>
          <a:noFill/>
          <a:ln/>
        </p:spPr>
        <p:txBody>
          <a:bodyPr wrap="square" rtlCol="0" anchor="ctr"/>
          <a:lstStyle/>
          <a:p>
            <a:pPr indent="0" marL="0">
              <a:buNone/>
            </a:pPr>
            <a:r>
              <a:rPr lang="en-US" sz="1400" b="1" spc="200" kern="0" dirty="0">
                <a:solidFill>
                  <a:srgbClr val="FFFFFF"/>
                </a:solidFill>
                <a:latin typeface="Calibri" pitchFamily="34" charset="0"/>
                <a:ea typeface="Calibri" pitchFamily="34" charset="-122"/>
                <a:cs typeface="Calibri" pitchFamily="34" charset="-120"/>
              </a:rPr>
              <a:t>METHODOLOGY  —  Content-Based Filtering</a:t>
            </a:r>
            <a:endParaRPr lang="en-US" sz="1400" dirty="0"/>
          </a:p>
        </p:txBody>
      </p:sp>
      <p:sp>
        <p:nvSpPr>
          <p:cNvPr id="4" name="Shape 2"/>
          <p:cNvSpPr/>
          <p:nvPr/>
        </p:nvSpPr>
        <p:spPr>
          <a:xfrm>
            <a:off x="274320" y="822960"/>
            <a:ext cx="4206240" cy="4023360"/>
          </a:xfrm>
          <a:prstGeom prst="rect">
            <a:avLst/>
          </a:prstGeom>
          <a:solidFill>
            <a:srgbClr val="FFFFFF"/>
          </a:solidFill>
          <a:ln w="12700">
            <a:solidFill>
              <a:srgbClr val="EDE8DE"/>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411480" y="960120"/>
            <a:ext cx="640080" cy="256032"/>
          </a:xfrm>
          <a:prstGeom prst="rect">
            <a:avLst/>
          </a:prstGeom>
          <a:solidFill>
            <a:srgbClr val="E8B84B"/>
          </a:solidFill>
          <a:ln w="12700">
            <a:solidFill>
              <a:srgbClr val="E8B84B"/>
            </a:solidFill>
            <a:prstDash val="solid"/>
          </a:ln>
        </p:spPr>
      </p:sp>
      <p:sp>
        <p:nvSpPr>
          <p:cNvPr id="6" name="Text 4"/>
          <p:cNvSpPr/>
          <p:nvPr/>
        </p:nvSpPr>
        <p:spPr>
          <a:xfrm>
            <a:off x="411480" y="960120"/>
            <a:ext cx="640080"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Step 1</a:t>
            </a:r>
            <a:endParaRPr lang="en-US" sz="800" dirty="0"/>
          </a:p>
        </p:txBody>
      </p:sp>
      <p:sp>
        <p:nvSpPr>
          <p:cNvPr id="7" name="Text 5"/>
          <p:cNvSpPr/>
          <p:nvPr/>
        </p:nvSpPr>
        <p:spPr>
          <a:xfrm>
            <a:off x="1143000" y="960120"/>
            <a:ext cx="3200400" cy="274320"/>
          </a:xfrm>
          <a:prstGeom prst="rect">
            <a:avLst/>
          </a:prstGeom>
          <a:noFill/>
          <a:ln/>
        </p:spPr>
        <p:txBody>
          <a:bodyPr wrap="square" rtlCol="0" anchor="ctr"/>
          <a:lstStyle/>
          <a:p>
            <a:pPr indent="0" marL="0">
              <a:buNone/>
            </a:pPr>
            <a:r>
              <a:rPr lang="en-US" sz="1100" b="1" dirty="0">
                <a:solidFill>
                  <a:srgbClr val="516985"/>
                </a:solidFill>
                <a:latin typeface="Calibri" pitchFamily="34" charset="0"/>
                <a:ea typeface="Calibri" pitchFamily="34" charset="-122"/>
                <a:cs typeface="Calibri" pitchFamily="34" charset="-120"/>
              </a:rPr>
              <a:t>Binary Genre Vectors</a:t>
            </a:r>
            <a:endParaRPr lang="en-US" sz="1100" dirty="0"/>
          </a:p>
        </p:txBody>
      </p:sp>
      <p:sp>
        <p:nvSpPr>
          <p:cNvPr id="8" name="Text 6"/>
          <p:cNvSpPr/>
          <p:nvPr/>
        </p:nvSpPr>
        <p:spPr>
          <a:xfrm>
            <a:off x="1143000" y="1234440"/>
            <a:ext cx="3200400" cy="621792"/>
          </a:xfrm>
          <a:prstGeom prst="rect">
            <a:avLst/>
          </a:prstGeom>
          <a:noFill/>
          <a:ln/>
        </p:spPr>
        <p:txBody>
          <a:bodyPr wrap="square" rtlCol="0" anchor="ctr"/>
          <a:lstStyle/>
          <a:p>
            <a:pPr indent="0" marL="0">
              <a:buNone/>
            </a:pPr>
            <a:r>
              <a:rPr lang="en-US" sz="950" dirty="0">
                <a:solidFill>
                  <a:srgbClr val="8BA3C0"/>
                </a:solidFill>
                <a:latin typeface="Calibri" pitchFamily="34" charset="0"/>
                <a:ea typeface="Calibri" pitchFamily="34" charset="-122"/>
                <a:cs typeface="Calibri" pitchFamily="34" charset="-120"/>
              </a:rPr>
              <a:t>Each of the 1,682 movies is encoded as a binary vector across 19 genre categories (e.g. Action=1, Romance=0…).</a:t>
            </a:r>
            <a:endParaRPr lang="en-US" sz="950" dirty="0"/>
          </a:p>
        </p:txBody>
      </p:sp>
      <p:sp>
        <p:nvSpPr>
          <p:cNvPr id="9" name="Shape 7"/>
          <p:cNvSpPr/>
          <p:nvPr/>
        </p:nvSpPr>
        <p:spPr>
          <a:xfrm>
            <a:off x="411480" y="1920240"/>
            <a:ext cx="640080" cy="256032"/>
          </a:xfrm>
          <a:prstGeom prst="rect">
            <a:avLst/>
          </a:prstGeom>
          <a:solidFill>
            <a:srgbClr val="E8B84B"/>
          </a:solidFill>
          <a:ln w="12700">
            <a:solidFill>
              <a:srgbClr val="E8B84B"/>
            </a:solidFill>
            <a:prstDash val="solid"/>
          </a:ln>
        </p:spPr>
      </p:sp>
      <p:sp>
        <p:nvSpPr>
          <p:cNvPr id="10" name="Text 8"/>
          <p:cNvSpPr/>
          <p:nvPr/>
        </p:nvSpPr>
        <p:spPr>
          <a:xfrm>
            <a:off x="411480" y="1920240"/>
            <a:ext cx="640080"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Step 2</a:t>
            </a:r>
            <a:endParaRPr lang="en-US" sz="800" dirty="0"/>
          </a:p>
        </p:txBody>
      </p:sp>
      <p:sp>
        <p:nvSpPr>
          <p:cNvPr id="11" name="Text 9"/>
          <p:cNvSpPr/>
          <p:nvPr/>
        </p:nvSpPr>
        <p:spPr>
          <a:xfrm>
            <a:off x="1143000" y="1920240"/>
            <a:ext cx="3200400" cy="274320"/>
          </a:xfrm>
          <a:prstGeom prst="rect">
            <a:avLst/>
          </a:prstGeom>
          <a:noFill/>
          <a:ln/>
        </p:spPr>
        <p:txBody>
          <a:bodyPr wrap="square" rtlCol="0" anchor="ctr"/>
          <a:lstStyle/>
          <a:p>
            <a:pPr indent="0" marL="0">
              <a:buNone/>
            </a:pPr>
            <a:r>
              <a:rPr lang="en-US" sz="1100" b="1" dirty="0">
                <a:solidFill>
                  <a:srgbClr val="516985"/>
                </a:solidFill>
                <a:latin typeface="Calibri" pitchFamily="34" charset="0"/>
                <a:ea typeface="Calibri" pitchFamily="34" charset="-122"/>
                <a:cs typeface="Calibri" pitchFamily="34" charset="-120"/>
              </a:rPr>
              <a:t>Cosine Similarity Matrix</a:t>
            </a:r>
            <a:endParaRPr lang="en-US" sz="1100" dirty="0"/>
          </a:p>
        </p:txBody>
      </p:sp>
      <p:sp>
        <p:nvSpPr>
          <p:cNvPr id="12" name="Text 10"/>
          <p:cNvSpPr/>
          <p:nvPr/>
        </p:nvSpPr>
        <p:spPr>
          <a:xfrm>
            <a:off x="1143000" y="2194560"/>
            <a:ext cx="3200400" cy="621792"/>
          </a:xfrm>
          <a:prstGeom prst="rect">
            <a:avLst/>
          </a:prstGeom>
          <a:noFill/>
          <a:ln/>
        </p:spPr>
        <p:txBody>
          <a:bodyPr wrap="square" rtlCol="0" anchor="ctr"/>
          <a:lstStyle/>
          <a:p>
            <a:pPr indent="0" marL="0">
              <a:buNone/>
            </a:pPr>
            <a:r>
              <a:rPr lang="en-US" sz="950" dirty="0">
                <a:solidFill>
                  <a:srgbClr val="8BA3C0"/>
                </a:solidFill>
                <a:latin typeface="Calibri" pitchFamily="34" charset="0"/>
                <a:ea typeface="Calibri" pitchFamily="34" charset="-122"/>
                <a:cs typeface="Calibri" pitchFamily="34" charset="-120"/>
              </a:rPr>
              <a:t>Similarity is computed between all pairs of movie vectors → 1,682 × 1,682 matrix. Higher score = more genre overlap.</a:t>
            </a:r>
            <a:endParaRPr lang="en-US" sz="950" dirty="0"/>
          </a:p>
        </p:txBody>
      </p:sp>
      <p:sp>
        <p:nvSpPr>
          <p:cNvPr id="13" name="Shape 11"/>
          <p:cNvSpPr/>
          <p:nvPr/>
        </p:nvSpPr>
        <p:spPr>
          <a:xfrm>
            <a:off x="411480" y="2880360"/>
            <a:ext cx="640080" cy="256032"/>
          </a:xfrm>
          <a:prstGeom prst="rect">
            <a:avLst/>
          </a:prstGeom>
          <a:solidFill>
            <a:srgbClr val="E8B84B"/>
          </a:solidFill>
          <a:ln w="12700">
            <a:solidFill>
              <a:srgbClr val="E8B84B"/>
            </a:solidFill>
            <a:prstDash val="solid"/>
          </a:ln>
        </p:spPr>
      </p:sp>
      <p:sp>
        <p:nvSpPr>
          <p:cNvPr id="14" name="Text 12"/>
          <p:cNvSpPr/>
          <p:nvPr/>
        </p:nvSpPr>
        <p:spPr>
          <a:xfrm>
            <a:off x="411480" y="2880360"/>
            <a:ext cx="640080"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Step 3</a:t>
            </a:r>
            <a:endParaRPr lang="en-US" sz="800" dirty="0"/>
          </a:p>
        </p:txBody>
      </p:sp>
      <p:sp>
        <p:nvSpPr>
          <p:cNvPr id="15" name="Text 13"/>
          <p:cNvSpPr/>
          <p:nvPr/>
        </p:nvSpPr>
        <p:spPr>
          <a:xfrm>
            <a:off x="1143000" y="2880360"/>
            <a:ext cx="3200400" cy="274320"/>
          </a:xfrm>
          <a:prstGeom prst="rect">
            <a:avLst/>
          </a:prstGeom>
          <a:noFill/>
          <a:ln/>
        </p:spPr>
        <p:txBody>
          <a:bodyPr wrap="square" rtlCol="0" anchor="ctr"/>
          <a:lstStyle/>
          <a:p>
            <a:pPr indent="0" marL="0">
              <a:buNone/>
            </a:pPr>
            <a:r>
              <a:rPr lang="en-US" sz="1100" b="1" dirty="0">
                <a:solidFill>
                  <a:srgbClr val="516985"/>
                </a:solidFill>
                <a:latin typeface="Calibri" pitchFamily="34" charset="0"/>
                <a:ea typeface="Calibri" pitchFamily="34" charset="-122"/>
                <a:cs typeface="Calibri" pitchFamily="34" charset="-120"/>
              </a:rPr>
              <a:t>Top-K Retrieval</a:t>
            </a:r>
            <a:endParaRPr lang="en-US" sz="1100" dirty="0"/>
          </a:p>
        </p:txBody>
      </p:sp>
      <p:sp>
        <p:nvSpPr>
          <p:cNvPr id="16" name="Text 14"/>
          <p:cNvSpPr/>
          <p:nvPr/>
        </p:nvSpPr>
        <p:spPr>
          <a:xfrm>
            <a:off x="1143000" y="3154680"/>
            <a:ext cx="3200400" cy="621792"/>
          </a:xfrm>
          <a:prstGeom prst="rect">
            <a:avLst/>
          </a:prstGeom>
          <a:noFill/>
          <a:ln/>
        </p:spPr>
        <p:txBody>
          <a:bodyPr wrap="square" rtlCol="0" anchor="ctr"/>
          <a:lstStyle/>
          <a:p>
            <a:pPr indent="0" marL="0">
              <a:buNone/>
            </a:pPr>
            <a:r>
              <a:rPr lang="en-US" sz="950" dirty="0">
                <a:solidFill>
                  <a:srgbClr val="8BA3C0"/>
                </a:solidFill>
                <a:latin typeface="Calibri" pitchFamily="34" charset="0"/>
                <a:ea typeface="Calibri" pitchFamily="34" charset="-122"/>
                <a:cs typeface="Calibri" pitchFamily="34" charset="-120"/>
              </a:rPr>
              <a:t>Given a selected movie, its row in the matrix is retrieved, sorted descending, and the top matches are returned.</a:t>
            </a:r>
            <a:endParaRPr lang="en-US" sz="950" dirty="0"/>
          </a:p>
        </p:txBody>
      </p:sp>
      <p:sp>
        <p:nvSpPr>
          <p:cNvPr id="17" name="Shape 15"/>
          <p:cNvSpPr/>
          <p:nvPr/>
        </p:nvSpPr>
        <p:spPr>
          <a:xfrm>
            <a:off x="411480" y="3840480"/>
            <a:ext cx="640080" cy="256032"/>
          </a:xfrm>
          <a:prstGeom prst="rect">
            <a:avLst/>
          </a:prstGeom>
          <a:solidFill>
            <a:srgbClr val="E8B84B"/>
          </a:solidFill>
          <a:ln w="12700">
            <a:solidFill>
              <a:srgbClr val="E8B84B"/>
            </a:solidFill>
            <a:prstDash val="solid"/>
          </a:ln>
        </p:spPr>
      </p:sp>
      <p:sp>
        <p:nvSpPr>
          <p:cNvPr id="18" name="Text 16"/>
          <p:cNvSpPr/>
          <p:nvPr/>
        </p:nvSpPr>
        <p:spPr>
          <a:xfrm>
            <a:off x="411480" y="3840480"/>
            <a:ext cx="640080"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Note</a:t>
            </a:r>
            <a:endParaRPr lang="en-US" sz="800" dirty="0"/>
          </a:p>
        </p:txBody>
      </p:sp>
      <p:sp>
        <p:nvSpPr>
          <p:cNvPr id="19" name="Text 17"/>
          <p:cNvSpPr/>
          <p:nvPr/>
        </p:nvSpPr>
        <p:spPr>
          <a:xfrm>
            <a:off x="1143000" y="3840480"/>
            <a:ext cx="3200400" cy="274320"/>
          </a:xfrm>
          <a:prstGeom prst="rect">
            <a:avLst/>
          </a:prstGeom>
          <a:noFill/>
          <a:ln/>
        </p:spPr>
        <p:txBody>
          <a:bodyPr wrap="square" rtlCol="0" anchor="ctr"/>
          <a:lstStyle/>
          <a:p>
            <a:pPr indent="0" marL="0">
              <a:buNone/>
            </a:pPr>
            <a:r>
              <a:rPr lang="en-US" sz="1100" b="1" dirty="0">
                <a:solidFill>
                  <a:srgbClr val="516985"/>
                </a:solidFill>
                <a:latin typeface="Calibri" pitchFamily="34" charset="0"/>
                <a:ea typeface="Calibri" pitchFamily="34" charset="-122"/>
                <a:cs typeface="Calibri" pitchFamily="34" charset="-120"/>
              </a:rPr>
              <a:t>User-Agnostic</a:t>
            </a:r>
            <a:endParaRPr lang="en-US" sz="1100" dirty="0"/>
          </a:p>
        </p:txBody>
      </p:sp>
      <p:sp>
        <p:nvSpPr>
          <p:cNvPr id="20" name="Text 18"/>
          <p:cNvSpPr/>
          <p:nvPr/>
        </p:nvSpPr>
        <p:spPr>
          <a:xfrm>
            <a:off x="1143000" y="4114800"/>
            <a:ext cx="3200400" cy="621792"/>
          </a:xfrm>
          <a:prstGeom prst="rect">
            <a:avLst/>
          </a:prstGeom>
          <a:noFill/>
          <a:ln/>
        </p:spPr>
        <p:txBody>
          <a:bodyPr wrap="square" rtlCol="0" anchor="ctr"/>
          <a:lstStyle/>
          <a:p>
            <a:pPr indent="0" marL="0">
              <a:buNone/>
            </a:pPr>
            <a:r>
              <a:rPr lang="en-US" sz="950" dirty="0">
                <a:solidFill>
                  <a:srgbClr val="8BA3C0"/>
                </a:solidFill>
                <a:latin typeface="Calibri" pitchFamily="34" charset="0"/>
                <a:ea typeface="Calibri" pitchFamily="34" charset="-122"/>
                <a:cs typeface="Calibri" pitchFamily="34" charset="-120"/>
              </a:rPr>
              <a:t>Results are identical for all users selecting the same movie — no personalisation applied in this component.</a:t>
            </a:r>
            <a:endParaRPr lang="en-US" sz="950" dirty="0"/>
          </a:p>
        </p:txBody>
      </p:sp>
      <p:sp>
        <p:nvSpPr>
          <p:cNvPr id="21" name="Shape 19"/>
          <p:cNvSpPr/>
          <p:nvPr/>
        </p:nvSpPr>
        <p:spPr>
          <a:xfrm>
            <a:off x="4754880" y="822960"/>
            <a:ext cx="4114800" cy="1371600"/>
          </a:xfrm>
          <a:prstGeom prst="rect">
            <a:avLst/>
          </a:prstGeom>
          <a:solidFill>
            <a:srgbClr val="0A1628"/>
          </a:solidFill>
          <a:ln w="12700">
            <a:solidFill>
              <a:srgbClr val="E8B84B"/>
            </a:solidFill>
            <a:prstDash val="solid"/>
          </a:ln>
          <a:effectLst>
            <a:outerShdw sx="100000" sy="100000" kx="0" ky="0" algn="bl" rotWithShape="0" blurRad="101600" dist="38100" dir="8100000">
              <a:srgbClr val="000000">
                <a:alpha val="12000"/>
              </a:srgbClr>
            </a:outerShdw>
          </a:effectLst>
        </p:spPr>
      </p:sp>
      <p:sp>
        <p:nvSpPr>
          <p:cNvPr id="22" name="Text 20"/>
          <p:cNvSpPr/>
          <p:nvPr/>
        </p:nvSpPr>
        <p:spPr>
          <a:xfrm>
            <a:off x="4892040" y="868680"/>
            <a:ext cx="3840480" cy="320040"/>
          </a:xfrm>
          <a:prstGeom prst="rect">
            <a:avLst/>
          </a:prstGeom>
          <a:noFill/>
          <a:ln/>
        </p:spPr>
        <p:txBody>
          <a:bodyPr wrap="square" rtlCol="0" anchor="ctr"/>
          <a:lstStyle/>
          <a:p>
            <a:pPr indent="0" marL="0">
              <a:buNone/>
            </a:pPr>
            <a:r>
              <a:rPr lang="en-US" sz="1100" b="1" dirty="0">
                <a:solidFill>
                  <a:srgbClr val="E8B84B"/>
                </a:solidFill>
                <a:latin typeface="Calibri" pitchFamily="34" charset="0"/>
                <a:ea typeface="Calibri" pitchFamily="34" charset="-122"/>
                <a:cs typeface="Calibri" pitchFamily="34" charset="-120"/>
              </a:rPr>
              <a:t>Cosine Similarity Formula</a:t>
            </a:r>
            <a:endParaRPr lang="en-US" sz="1100" dirty="0"/>
          </a:p>
        </p:txBody>
      </p:sp>
      <p:sp>
        <p:nvSpPr>
          <p:cNvPr id="23" name="Text 21"/>
          <p:cNvSpPr/>
          <p:nvPr/>
        </p:nvSpPr>
        <p:spPr>
          <a:xfrm>
            <a:off x="4892040" y="1207008"/>
            <a:ext cx="384048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cos(A,B) = (A · B) / (||A|| × ||B||)</a:t>
            </a:r>
            <a:endParaRPr lang="en-US" sz="1400" dirty="0"/>
          </a:p>
        </p:txBody>
      </p:sp>
      <p:sp>
        <p:nvSpPr>
          <p:cNvPr id="24" name="Text 22"/>
          <p:cNvSpPr/>
          <p:nvPr/>
        </p:nvSpPr>
        <p:spPr>
          <a:xfrm>
            <a:off x="4892040" y="1600200"/>
            <a:ext cx="3840480" cy="274320"/>
          </a:xfrm>
          <a:prstGeom prst="rect">
            <a:avLst/>
          </a:prstGeom>
          <a:noFill/>
          <a:ln/>
        </p:spPr>
        <p:txBody>
          <a:bodyPr wrap="square" rtlCol="0" anchor="ctr"/>
          <a:lstStyle/>
          <a:p>
            <a:pPr algn="ctr" indent="0" marL="0">
              <a:buNone/>
            </a:pPr>
            <a:r>
              <a:rPr lang="en-US" sz="950" dirty="0">
                <a:solidFill>
                  <a:srgbClr val="8BA3C0"/>
                </a:solidFill>
                <a:latin typeface="Calibri" pitchFamily="34" charset="0"/>
                <a:ea typeface="Calibri" pitchFamily="34" charset="-122"/>
                <a:cs typeface="Calibri" pitchFamily="34" charset="-120"/>
              </a:rPr>
              <a:t>Range: 0 (no overlap) → 1 (identical genres)</a:t>
            </a:r>
            <a:endParaRPr lang="en-US" sz="950" dirty="0"/>
          </a:p>
        </p:txBody>
      </p:sp>
      <p:sp>
        <p:nvSpPr>
          <p:cNvPr id="25" name="Text 23"/>
          <p:cNvSpPr/>
          <p:nvPr/>
        </p:nvSpPr>
        <p:spPr>
          <a:xfrm>
            <a:off x="4754880" y="2331720"/>
            <a:ext cx="4114800" cy="320040"/>
          </a:xfrm>
          <a:prstGeom prst="rect">
            <a:avLst/>
          </a:prstGeom>
          <a:noFill/>
          <a:ln/>
        </p:spPr>
        <p:txBody>
          <a:bodyPr wrap="square" rtlCol="0" anchor="ctr"/>
          <a:lstStyle/>
          <a:p>
            <a:pPr indent="0" marL="0">
              <a:buNone/>
            </a:pPr>
            <a:r>
              <a:rPr lang="en-US" sz="1000" b="1" dirty="0">
                <a:solidFill>
                  <a:srgbClr val="516985"/>
                </a:solidFill>
                <a:latin typeface="Calibri" pitchFamily="34" charset="0"/>
                <a:ea typeface="Calibri" pitchFamily="34" charset="-122"/>
                <a:cs typeface="Calibri" pitchFamily="34" charset="-120"/>
              </a:rPr>
              <a:t>Example Output — Top Matches for Toy Story (1995)</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754880" y="2697480"/>
          <a:ext cx="4114800" cy="2103120"/>
        </p:xfrm>
        <a:graphic>
          <a:graphicData uri="http://schemas.openxmlformats.org/drawingml/2006/table">
            <a:tbl>
              <a:tblPr/>
              <a:tblGrid>
                <a:gridCol w="2926080"/>
                <a:gridCol w="1188720"/>
              </a:tblGrid>
              <a:tr h="347472">
                <a:tc>
                  <a:txBody>
                    <a:bodyPr/>
                    <a:lstStyle/>
                    <a:p>
                      <a:pPr indent="0" marL="0">
                        <a:buNone/>
                      </a:pPr>
                      <a:r>
                        <a:rPr lang="en-US" sz="1000" b="1" dirty="0">
                          <a:solidFill>
                            <a:srgbClr val="FFFFFF"/>
                          </a:solidFill>
                        </a:rPr>
                        <a:t>Movie Title</a:t>
                      </a:r>
                      <a:endParaRPr lang="en-US" sz="1000" dirty="0"/>
                    </a:p>
                  </a:txBody>
                  <a:tcPr marL="91440" marR="91440" marT="45720" marB="45720">
                    <a:lnL w="6350" cap="flat" cmpd="sng" algn="ctr">
                      <a:solidFill>
                        <a:srgbClr val="EDE8DE"/>
                      </a:solidFill>
                      <a:prstDash val="solid"/>
                      <a:round/>
                      <a:headEnd type="none" w="med" len="med"/>
                      <a:tailEnd type="none" w="med" len="med"/>
                    </a:lnL>
                    <a:lnR w="6350" cap="flat" cmpd="sng" algn="ctr">
                      <a:solidFill>
                        <a:srgbClr val="EDE8DE"/>
                      </a:solidFill>
                      <a:prstDash val="solid"/>
                      <a:round/>
                      <a:headEnd type="none" w="med" len="med"/>
                      <a:tailEnd type="none" w="med" len="med"/>
                    </a:lnR>
                    <a:lnT w="6350" cap="flat" cmpd="sng" algn="ctr">
                      <a:solidFill>
                        <a:srgbClr val="EDE8DE"/>
                      </a:solidFill>
                      <a:prstDash val="solid"/>
                      <a:round/>
                      <a:headEnd type="none" w="med" len="med"/>
                      <a:tailEnd type="none" w="med" len="med"/>
                    </a:lnT>
                    <a:lnB w="6350" cap="flat" cmpd="sng" algn="ctr">
                      <a:solidFill>
                        <a:srgbClr val="EDE8DE"/>
                      </a:solidFill>
                      <a:prstDash val="solid"/>
                      <a:round/>
                      <a:headEnd type="none" w="med" len="med"/>
                      <a:tailEnd type="none" w="med" len="med"/>
                    </a:lnB>
                    <a:solidFill>
                      <a:srgbClr val="E8B84B"/>
                    </a:solidFill>
                  </a:tcPr>
                </a:tc>
                <a:tc>
                  <a:txBody>
                    <a:bodyPr/>
                    <a:lstStyle/>
                    <a:p>
                      <a:pPr indent="0" marL="0">
                        <a:buNone/>
                      </a:pPr>
                      <a:r>
                        <a:rPr lang="en-US" sz="1000" b="1" dirty="0">
                          <a:solidFill>
                            <a:srgbClr val="FFFFFF"/>
                          </a:solidFill>
                        </a:rPr>
                        <a:t>Similarity Score</a:t>
                      </a:r>
                      <a:endParaRPr lang="en-US" sz="1000" dirty="0"/>
                    </a:p>
                  </a:txBody>
                  <a:tcPr marL="91440" marR="91440" marT="45720" marB="45720">
                    <a:lnL w="6350" cap="flat" cmpd="sng" algn="ctr">
                      <a:solidFill>
                        <a:srgbClr val="EDE8DE"/>
                      </a:solidFill>
                      <a:prstDash val="solid"/>
                      <a:round/>
                      <a:headEnd type="none" w="med" len="med"/>
                      <a:tailEnd type="none" w="med" len="med"/>
                    </a:lnL>
                    <a:lnR w="6350" cap="flat" cmpd="sng" algn="ctr">
                      <a:solidFill>
                        <a:srgbClr val="EDE8DE"/>
                      </a:solidFill>
                      <a:prstDash val="solid"/>
                      <a:round/>
                      <a:headEnd type="none" w="med" len="med"/>
                      <a:tailEnd type="none" w="med" len="med"/>
                    </a:lnR>
                    <a:lnT w="6350" cap="flat" cmpd="sng" algn="ctr">
                      <a:solidFill>
                        <a:srgbClr val="EDE8DE"/>
                      </a:solidFill>
                      <a:prstDash val="solid"/>
                      <a:round/>
                      <a:headEnd type="none" w="med" len="med"/>
                      <a:tailEnd type="none" w="med" len="med"/>
                    </a:lnT>
                    <a:lnB w="6350" cap="flat" cmpd="sng" algn="ctr">
                      <a:solidFill>
                        <a:srgbClr val="EDE8DE"/>
                      </a:solidFill>
                      <a:prstDash val="solid"/>
                      <a:round/>
                      <a:headEnd type="none" w="med" len="med"/>
                      <a:tailEnd type="none" w="med" len="med"/>
                    </a:lnB>
                    <a:solidFill>
                      <a:srgbClr val="E8B84B"/>
                    </a:solidFill>
                  </a:tcPr>
                </a:tc>
              </a:tr>
              <a:tr h="347472">
                <a:tc>
                  <a:txBody>
                    <a:bodyPr/>
                    <a:lstStyle/>
                    <a:p>
                      <a:pPr indent="0" marL="0">
                        <a:buNone/>
                      </a:pPr>
                      <a:r>
                        <a:rPr lang="en-US" sz="950" dirty="0">
                          <a:solidFill>
                            <a:srgbClr val="516985"/>
                          </a:solidFill>
                        </a:rPr>
                        <a:t>Aladdin (1992)</a:t>
                      </a:r>
                      <a:endParaRPr lang="en-US" sz="950" dirty="0"/>
                    </a:p>
                  </a:txBody>
                  <a:tcPr marL="91440" marR="91440" marT="45720" marB="45720">
                    <a:lnL w="6350" cap="flat" cmpd="sng" algn="ctr">
                      <a:solidFill>
                        <a:srgbClr val="EDE8DE"/>
                      </a:solidFill>
                      <a:prstDash val="solid"/>
                      <a:round/>
                      <a:headEnd type="none" w="med" len="med"/>
                      <a:tailEnd type="none" w="med" len="med"/>
                    </a:lnL>
                    <a:lnR w="6350" cap="flat" cmpd="sng" algn="ctr">
                      <a:solidFill>
                        <a:srgbClr val="EDE8DE"/>
                      </a:solidFill>
                      <a:prstDash val="solid"/>
                      <a:round/>
                      <a:headEnd type="none" w="med" len="med"/>
                      <a:tailEnd type="none" w="med" len="med"/>
                    </a:lnR>
                    <a:lnT w="6350" cap="flat" cmpd="sng" algn="ctr">
                      <a:solidFill>
                        <a:srgbClr val="EDE8DE"/>
                      </a:solidFill>
                      <a:prstDash val="solid"/>
                      <a:round/>
                      <a:headEnd type="none" w="med" len="med"/>
                      <a:tailEnd type="none" w="med" len="med"/>
                    </a:lnT>
                    <a:lnB w="6350" cap="flat" cmpd="sng" algn="ctr">
                      <a:solidFill>
                        <a:srgbClr val="EDE8DE"/>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E8B84B"/>
                          </a:solidFill>
                        </a:rPr>
                        <a:t>0.92</a:t>
                      </a:r>
                      <a:endParaRPr lang="en-US" sz="950" dirty="0"/>
                    </a:p>
                  </a:txBody>
                  <a:tcPr marL="91440" marR="91440" marT="45720" marB="45720">
                    <a:lnL w="6350" cap="flat" cmpd="sng" algn="ctr">
                      <a:solidFill>
                        <a:srgbClr val="EDE8DE"/>
                      </a:solidFill>
                      <a:prstDash val="solid"/>
                      <a:round/>
                      <a:headEnd type="none" w="med" len="med"/>
                      <a:tailEnd type="none" w="med" len="med"/>
                    </a:lnL>
                    <a:lnR w="6350" cap="flat" cmpd="sng" algn="ctr">
                      <a:solidFill>
                        <a:srgbClr val="EDE8DE"/>
                      </a:solidFill>
                      <a:prstDash val="solid"/>
                      <a:round/>
                      <a:headEnd type="none" w="med" len="med"/>
                      <a:tailEnd type="none" w="med" len="med"/>
                    </a:lnR>
                    <a:lnT w="6350" cap="flat" cmpd="sng" algn="ctr">
                      <a:solidFill>
                        <a:srgbClr val="EDE8DE"/>
                      </a:solidFill>
                      <a:prstDash val="solid"/>
                      <a:round/>
                      <a:headEnd type="none" w="med" len="med"/>
                      <a:tailEnd type="none" w="med" len="med"/>
                    </a:lnT>
                    <a:lnB w="6350" cap="flat" cmpd="sng" algn="ctr">
                      <a:solidFill>
                        <a:srgbClr val="EDE8DE"/>
                      </a:solidFill>
                      <a:prstDash val="solid"/>
                      <a:round/>
                      <a:headEnd type="none" w="med" len="med"/>
                      <a:tailEnd type="none" w="med" len="med"/>
                    </a:lnB>
                    <a:solidFill>
                      <a:srgbClr val="FFFFFF"/>
                    </a:solidFill>
                  </a:tcPr>
                </a:tc>
              </a:tr>
              <a:tr h="347472">
                <a:tc>
                  <a:txBody>
                    <a:bodyPr/>
                    <a:lstStyle/>
                    <a:p>
                      <a:pPr indent="0" marL="0">
                        <a:buNone/>
                      </a:pPr>
                      <a:r>
                        <a:rPr lang="en-US" sz="950" dirty="0">
                          <a:solidFill>
                            <a:srgbClr val="516985"/>
                          </a:solidFill>
                        </a:rPr>
                        <a:t>The Lion King (1994)</a:t>
                      </a:r>
                      <a:endParaRPr lang="en-US" sz="950" dirty="0"/>
                    </a:p>
                  </a:txBody>
                  <a:tcPr marL="91440" marR="91440" marT="45720" marB="45720">
                    <a:lnL w="6350" cap="flat" cmpd="sng" algn="ctr">
                      <a:solidFill>
                        <a:srgbClr val="EDE8DE"/>
                      </a:solidFill>
                      <a:prstDash val="solid"/>
                      <a:round/>
                      <a:headEnd type="none" w="med" len="med"/>
                      <a:tailEnd type="none" w="med" len="med"/>
                    </a:lnL>
                    <a:lnR w="6350" cap="flat" cmpd="sng" algn="ctr">
                      <a:solidFill>
                        <a:srgbClr val="EDE8DE"/>
                      </a:solidFill>
                      <a:prstDash val="solid"/>
                      <a:round/>
                      <a:headEnd type="none" w="med" len="med"/>
                      <a:tailEnd type="none" w="med" len="med"/>
                    </a:lnR>
                    <a:lnT w="6350" cap="flat" cmpd="sng" algn="ctr">
                      <a:solidFill>
                        <a:srgbClr val="EDE8DE"/>
                      </a:solidFill>
                      <a:prstDash val="solid"/>
                      <a:round/>
                      <a:headEnd type="none" w="med" len="med"/>
                      <a:tailEnd type="none" w="med" len="med"/>
                    </a:lnT>
                    <a:lnB w="6350" cap="flat" cmpd="sng" algn="ctr">
                      <a:solidFill>
                        <a:srgbClr val="EDE8DE"/>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E8B84B"/>
                          </a:solidFill>
                        </a:rPr>
                        <a:t>0.89</a:t>
                      </a:r>
                      <a:endParaRPr lang="en-US" sz="950" dirty="0"/>
                    </a:p>
                  </a:txBody>
                  <a:tcPr marL="91440" marR="91440" marT="45720" marB="45720">
                    <a:lnL w="6350" cap="flat" cmpd="sng" algn="ctr">
                      <a:solidFill>
                        <a:srgbClr val="EDE8DE"/>
                      </a:solidFill>
                      <a:prstDash val="solid"/>
                      <a:round/>
                      <a:headEnd type="none" w="med" len="med"/>
                      <a:tailEnd type="none" w="med" len="med"/>
                    </a:lnL>
                    <a:lnR w="6350" cap="flat" cmpd="sng" algn="ctr">
                      <a:solidFill>
                        <a:srgbClr val="EDE8DE"/>
                      </a:solidFill>
                      <a:prstDash val="solid"/>
                      <a:round/>
                      <a:headEnd type="none" w="med" len="med"/>
                      <a:tailEnd type="none" w="med" len="med"/>
                    </a:lnR>
                    <a:lnT w="6350" cap="flat" cmpd="sng" algn="ctr">
                      <a:solidFill>
                        <a:srgbClr val="EDE8DE"/>
                      </a:solidFill>
                      <a:prstDash val="solid"/>
                      <a:round/>
                      <a:headEnd type="none" w="med" len="med"/>
                      <a:tailEnd type="none" w="med" len="med"/>
                    </a:lnT>
                    <a:lnB w="6350" cap="flat" cmpd="sng" algn="ctr">
                      <a:solidFill>
                        <a:srgbClr val="EDE8DE"/>
                      </a:solidFill>
                      <a:prstDash val="solid"/>
                      <a:round/>
                      <a:headEnd type="none" w="med" len="med"/>
                      <a:tailEnd type="none" w="med" len="med"/>
                    </a:lnB>
                    <a:solidFill>
                      <a:srgbClr val="FFFFFF"/>
                    </a:solidFill>
                  </a:tcPr>
                </a:tc>
              </a:tr>
              <a:tr h="347472">
                <a:tc>
                  <a:txBody>
                    <a:bodyPr/>
                    <a:lstStyle/>
                    <a:p>
                      <a:pPr indent="0" marL="0">
                        <a:buNone/>
                      </a:pPr>
                      <a:r>
                        <a:rPr lang="en-US" sz="950" dirty="0">
                          <a:solidFill>
                            <a:srgbClr val="516985"/>
                          </a:solidFill>
                        </a:rPr>
                        <a:t>A Bug's Life (1998)</a:t>
                      </a:r>
                      <a:endParaRPr lang="en-US" sz="950" dirty="0"/>
                    </a:p>
                  </a:txBody>
                  <a:tcPr marL="91440" marR="91440" marT="45720" marB="45720">
                    <a:lnL w="6350" cap="flat" cmpd="sng" algn="ctr">
                      <a:solidFill>
                        <a:srgbClr val="EDE8DE"/>
                      </a:solidFill>
                      <a:prstDash val="solid"/>
                      <a:round/>
                      <a:headEnd type="none" w="med" len="med"/>
                      <a:tailEnd type="none" w="med" len="med"/>
                    </a:lnL>
                    <a:lnR w="6350" cap="flat" cmpd="sng" algn="ctr">
                      <a:solidFill>
                        <a:srgbClr val="EDE8DE"/>
                      </a:solidFill>
                      <a:prstDash val="solid"/>
                      <a:round/>
                      <a:headEnd type="none" w="med" len="med"/>
                      <a:tailEnd type="none" w="med" len="med"/>
                    </a:lnR>
                    <a:lnT w="6350" cap="flat" cmpd="sng" algn="ctr">
                      <a:solidFill>
                        <a:srgbClr val="EDE8DE"/>
                      </a:solidFill>
                      <a:prstDash val="solid"/>
                      <a:round/>
                      <a:headEnd type="none" w="med" len="med"/>
                      <a:tailEnd type="none" w="med" len="med"/>
                    </a:lnT>
                    <a:lnB w="6350" cap="flat" cmpd="sng" algn="ctr">
                      <a:solidFill>
                        <a:srgbClr val="EDE8DE"/>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E8B84B"/>
                          </a:solidFill>
                        </a:rPr>
                        <a:t>0.87</a:t>
                      </a:r>
                      <a:endParaRPr lang="en-US" sz="950" dirty="0"/>
                    </a:p>
                  </a:txBody>
                  <a:tcPr marL="91440" marR="91440" marT="45720" marB="45720">
                    <a:lnL w="6350" cap="flat" cmpd="sng" algn="ctr">
                      <a:solidFill>
                        <a:srgbClr val="EDE8DE"/>
                      </a:solidFill>
                      <a:prstDash val="solid"/>
                      <a:round/>
                      <a:headEnd type="none" w="med" len="med"/>
                      <a:tailEnd type="none" w="med" len="med"/>
                    </a:lnL>
                    <a:lnR w="6350" cap="flat" cmpd="sng" algn="ctr">
                      <a:solidFill>
                        <a:srgbClr val="EDE8DE"/>
                      </a:solidFill>
                      <a:prstDash val="solid"/>
                      <a:round/>
                      <a:headEnd type="none" w="med" len="med"/>
                      <a:tailEnd type="none" w="med" len="med"/>
                    </a:lnR>
                    <a:lnT w="6350" cap="flat" cmpd="sng" algn="ctr">
                      <a:solidFill>
                        <a:srgbClr val="EDE8DE"/>
                      </a:solidFill>
                      <a:prstDash val="solid"/>
                      <a:round/>
                      <a:headEnd type="none" w="med" len="med"/>
                      <a:tailEnd type="none" w="med" len="med"/>
                    </a:lnT>
                    <a:lnB w="6350" cap="flat" cmpd="sng" algn="ctr">
                      <a:solidFill>
                        <a:srgbClr val="EDE8DE"/>
                      </a:solidFill>
                      <a:prstDash val="solid"/>
                      <a:round/>
                      <a:headEnd type="none" w="med" len="med"/>
                      <a:tailEnd type="none" w="med" len="med"/>
                    </a:lnB>
                    <a:solidFill>
                      <a:srgbClr val="FFFFFF"/>
                    </a:solidFill>
                  </a:tcPr>
                </a:tc>
              </a:tr>
              <a:tr h="347472">
                <a:tc>
                  <a:txBody>
                    <a:bodyPr/>
                    <a:lstStyle/>
                    <a:p>
                      <a:pPr indent="0" marL="0">
                        <a:buNone/>
                      </a:pPr>
                      <a:r>
                        <a:rPr lang="en-US" sz="950" dirty="0">
                          <a:solidFill>
                            <a:srgbClr val="516985"/>
                          </a:solidFill>
                        </a:rPr>
                        <a:t>Dumbo (1941)</a:t>
                      </a:r>
                      <a:endParaRPr lang="en-US" sz="950" dirty="0"/>
                    </a:p>
                  </a:txBody>
                  <a:tcPr marL="91440" marR="91440" marT="45720" marB="45720">
                    <a:lnL w="6350" cap="flat" cmpd="sng" algn="ctr">
                      <a:solidFill>
                        <a:srgbClr val="EDE8DE"/>
                      </a:solidFill>
                      <a:prstDash val="solid"/>
                      <a:round/>
                      <a:headEnd type="none" w="med" len="med"/>
                      <a:tailEnd type="none" w="med" len="med"/>
                    </a:lnL>
                    <a:lnR w="6350" cap="flat" cmpd="sng" algn="ctr">
                      <a:solidFill>
                        <a:srgbClr val="EDE8DE"/>
                      </a:solidFill>
                      <a:prstDash val="solid"/>
                      <a:round/>
                      <a:headEnd type="none" w="med" len="med"/>
                      <a:tailEnd type="none" w="med" len="med"/>
                    </a:lnR>
                    <a:lnT w="6350" cap="flat" cmpd="sng" algn="ctr">
                      <a:solidFill>
                        <a:srgbClr val="EDE8DE"/>
                      </a:solidFill>
                      <a:prstDash val="solid"/>
                      <a:round/>
                      <a:headEnd type="none" w="med" len="med"/>
                      <a:tailEnd type="none" w="med" len="med"/>
                    </a:lnT>
                    <a:lnB w="6350" cap="flat" cmpd="sng" algn="ctr">
                      <a:solidFill>
                        <a:srgbClr val="EDE8DE"/>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E8B84B"/>
                          </a:solidFill>
                        </a:rPr>
                        <a:t>0.85</a:t>
                      </a:r>
                      <a:endParaRPr lang="en-US" sz="950" dirty="0"/>
                    </a:p>
                  </a:txBody>
                  <a:tcPr marL="91440" marR="91440" marT="45720" marB="45720">
                    <a:lnL w="6350" cap="flat" cmpd="sng" algn="ctr">
                      <a:solidFill>
                        <a:srgbClr val="EDE8DE"/>
                      </a:solidFill>
                      <a:prstDash val="solid"/>
                      <a:round/>
                      <a:headEnd type="none" w="med" len="med"/>
                      <a:tailEnd type="none" w="med" len="med"/>
                    </a:lnL>
                    <a:lnR w="6350" cap="flat" cmpd="sng" algn="ctr">
                      <a:solidFill>
                        <a:srgbClr val="EDE8DE"/>
                      </a:solidFill>
                      <a:prstDash val="solid"/>
                      <a:round/>
                      <a:headEnd type="none" w="med" len="med"/>
                      <a:tailEnd type="none" w="med" len="med"/>
                    </a:lnR>
                    <a:lnT w="6350" cap="flat" cmpd="sng" algn="ctr">
                      <a:solidFill>
                        <a:srgbClr val="EDE8DE"/>
                      </a:solidFill>
                      <a:prstDash val="solid"/>
                      <a:round/>
                      <a:headEnd type="none" w="med" len="med"/>
                      <a:tailEnd type="none" w="med" len="med"/>
                    </a:lnT>
                    <a:lnB w="6350" cap="flat" cmpd="sng" algn="ctr">
                      <a:solidFill>
                        <a:srgbClr val="EDE8DE"/>
                      </a:solidFill>
                      <a:prstDash val="solid"/>
                      <a:round/>
                      <a:headEnd type="none" w="med" len="med"/>
                      <a:tailEnd type="none" w="med" len="med"/>
                    </a:lnB>
                    <a:solidFill>
                      <a:srgbClr val="FFFFFF"/>
                    </a:solidFill>
                  </a:tcPr>
                </a:tc>
              </a:tr>
              <a:tr h="347472">
                <a:tc>
                  <a:txBody>
                    <a:bodyPr/>
                    <a:lstStyle/>
                    <a:p>
                      <a:pPr indent="0" marL="0">
                        <a:buNone/>
                      </a:pPr>
                      <a:r>
                        <a:rPr lang="en-US" sz="950" dirty="0">
                          <a:solidFill>
                            <a:srgbClr val="516985"/>
                          </a:solidFill>
                        </a:rPr>
                        <a:t>Fantasia (1940)</a:t>
                      </a:r>
                      <a:endParaRPr lang="en-US" sz="950" dirty="0"/>
                    </a:p>
                  </a:txBody>
                  <a:tcPr marL="91440" marR="91440" marT="45720" marB="45720">
                    <a:lnL w="6350" cap="flat" cmpd="sng" algn="ctr">
                      <a:solidFill>
                        <a:srgbClr val="EDE8DE"/>
                      </a:solidFill>
                      <a:prstDash val="solid"/>
                      <a:round/>
                      <a:headEnd type="none" w="med" len="med"/>
                      <a:tailEnd type="none" w="med" len="med"/>
                    </a:lnL>
                    <a:lnR w="6350" cap="flat" cmpd="sng" algn="ctr">
                      <a:solidFill>
                        <a:srgbClr val="EDE8DE"/>
                      </a:solidFill>
                      <a:prstDash val="solid"/>
                      <a:round/>
                      <a:headEnd type="none" w="med" len="med"/>
                      <a:tailEnd type="none" w="med" len="med"/>
                    </a:lnR>
                    <a:lnT w="6350" cap="flat" cmpd="sng" algn="ctr">
                      <a:solidFill>
                        <a:srgbClr val="EDE8DE"/>
                      </a:solidFill>
                      <a:prstDash val="solid"/>
                      <a:round/>
                      <a:headEnd type="none" w="med" len="med"/>
                      <a:tailEnd type="none" w="med" len="med"/>
                    </a:lnT>
                    <a:lnB w="6350" cap="flat" cmpd="sng" algn="ctr">
                      <a:solidFill>
                        <a:srgbClr val="EDE8DE"/>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E8B84B"/>
                          </a:solidFill>
                        </a:rPr>
                        <a:t>0.83</a:t>
                      </a:r>
                      <a:endParaRPr lang="en-US" sz="950" dirty="0"/>
                    </a:p>
                  </a:txBody>
                  <a:tcPr marL="91440" marR="91440" marT="45720" marB="45720">
                    <a:lnL w="6350" cap="flat" cmpd="sng" algn="ctr">
                      <a:solidFill>
                        <a:srgbClr val="EDE8DE"/>
                      </a:solidFill>
                      <a:prstDash val="solid"/>
                      <a:round/>
                      <a:headEnd type="none" w="med" len="med"/>
                      <a:tailEnd type="none" w="med" len="med"/>
                    </a:lnL>
                    <a:lnR w="6350" cap="flat" cmpd="sng" algn="ctr">
                      <a:solidFill>
                        <a:srgbClr val="EDE8DE"/>
                      </a:solidFill>
                      <a:prstDash val="solid"/>
                      <a:round/>
                      <a:headEnd type="none" w="med" len="med"/>
                      <a:tailEnd type="none" w="med" len="med"/>
                    </a:lnR>
                    <a:lnT w="6350" cap="flat" cmpd="sng" algn="ctr">
                      <a:solidFill>
                        <a:srgbClr val="EDE8DE"/>
                      </a:solidFill>
                      <a:prstDash val="solid"/>
                      <a:round/>
                      <a:headEnd type="none" w="med" len="med"/>
                      <a:tailEnd type="none" w="med" len="med"/>
                    </a:lnT>
                    <a:lnB w="6350" cap="flat" cmpd="sng" algn="ctr">
                      <a:solidFill>
                        <a:srgbClr val="EDE8D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w="12700">
            <a:solidFill>
              <a:srgbClr val="0A1628"/>
            </a:solidFill>
            <a:prstDash val="solid"/>
          </a:ln>
        </p:spPr>
      </p:sp>
      <p:sp>
        <p:nvSpPr>
          <p:cNvPr id="3" name="Text 1"/>
          <p:cNvSpPr/>
          <p:nvPr/>
        </p:nvSpPr>
        <p:spPr>
          <a:xfrm>
            <a:off x="365760" y="0"/>
            <a:ext cx="8229600" cy="685800"/>
          </a:xfrm>
          <a:prstGeom prst="rect">
            <a:avLst/>
          </a:prstGeom>
          <a:noFill/>
          <a:ln/>
        </p:spPr>
        <p:txBody>
          <a:bodyPr wrap="square" rtlCol="0" anchor="ctr"/>
          <a:lstStyle/>
          <a:p>
            <a:pPr indent="0" marL="0">
              <a:buNone/>
            </a:pPr>
            <a:r>
              <a:rPr lang="en-US" sz="1400" b="1" spc="200" kern="0" dirty="0">
                <a:solidFill>
                  <a:srgbClr val="FFFFFF"/>
                </a:solidFill>
                <a:latin typeface="Calibri" pitchFamily="34" charset="0"/>
                <a:ea typeface="Calibri" pitchFamily="34" charset="-122"/>
                <a:cs typeface="Calibri" pitchFamily="34" charset="-120"/>
              </a:rPr>
              <a:t>METHODOLOGY  —  Collaborative &amp; SVD Filtering</a:t>
            </a:r>
            <a:endParaRPr lang="en-US" sz="1400" dirty="0"/>
          </a:p>
        </p:txBody>
      </p:sp>
      <p:sp>
        <p:nvSpPr>
          <p:cNvPr id="4" name="Shape 2"/>
          <p:cNvSpPr/>
          <p:nvPr/>
        </p:nvSpPr>
        <p:spPr>
          <a:xfrm>
            <a:off x="320040" y="822960"/>
            <a:ext cx="4160520" cy="3977640"/>
          </a:xfrm>
          <a:prstGeom prst="rect">
            <a:avLst/>
          </a:prstGeom>
          <a:solidFill>
            <a:srgbClr val="FFFFFF"/>
          </a:solidFill>
          <a:ln w="12700">
            <a:solidFill>
              <a:srgbClr val="EDE8DE"/>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20040" y="822960"/>
            <a:ext cx="4160520" cy="457200"/>
          </a:xfrm>
          <a:prstGeom prst="rect">
            <a:avLst/>
          </a:prstGeom>
          <a:solidFill>
            <a:srgbClr val="E8B84B"/>
          </a:solidFill>
          <a:ln w="12700">
            <a:solidFill>
              <a:srgbClr val="E8B84B"/>
            </a:solidFill>
            <a:prstDash val="solid"/>
          </a:ln>
        </p:spPr>
      </p:sp>
      <p:sp>
        <p:nvSpPr>
          <p:cNvPr id="6" name="Text 4"/>
          <p:cNvSpPr/>
          <p:nvPr/>
        </p:nvSpPr>
        <p:spPr>
          <a:xfrm>
            <a:off x="320040" y="822960"/>
            <a:ext cx="416052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User-Based CF</a:t>
            </a:r>
            <a:endParaRPr lang="en-US" sz="1300" dirty="0"/>
          </a:p>
        </p:txBody>
      </p:sp>
      <p:sp>
        <p:nvSpPr>
          <p:cNvPr id="7" name="Shape 5"/>
          <p:cNvSpPr/>
          <p:nvPr/>
        </p:nvSpPr>
        <p:spPr>
          <a:xfrm>
            <a:off x="484632" y="1417320"/>
            <a:ext cx="292608" cy="292608"/>
          </a:xfrm>
          <a:prstGeom prst="ellipse">
            <a:avLst/>
          </a:prstGeom>
          <a:solidFill>
            <a:srgbClr val="E8B84B"/>
          </a:solidFill>
          <a:ln w="12700">
            <a:solidFill>
              <a:srgbClr val="E8B84B"/>
            </a:solidFill>
            <a:prstDash val="solid"/>
          </a:ln>
        </p:spPr>
      </p:sp>
      <p:sp>
        <p:nvSpPr>
          <p:cNvPr id="8" name="Text 6"/>
          <p:cNvSpPr/>
          <p:nvPr/>
        </p:nvSpPr>
        <p:spPr>
          <a:xfrm>
            <a:off x="484632" y="1417320"/>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 name="Text 7"/>
          <p:cNvSpPr/>
          <p:nvPr/>
        </p:nvSpPr>
        <p:spPr>
          <a:xfrm>
            <a:off x="886968" y="1399032"/>
            <a:ext cx="3474720" cy="585216"/>
          </a:xfrm>
          <a:prstGeom prst="rect">
            <a:avLst/>
          </a:prstGeom>
          <a:noFill/>
          <a:ln/>
        </p:spPr>
        <p:txBody>
          <a:bodyPr wrap="square" rtlCol="0" anchor="ctr"/>
          <a:lstStyle/>
          <a:p>
            <a:pPr indent="0" marL="0">
              <a:buNone/>
            </a:pPr>
            <a:r>
              <a:rPr lang="en-US" sz="950" dirty="0">
                <a:solidFill>
                  <a:srgbClr val="516985"/>
                </a:solidFill>
                <a:latin typeface="Calibri" pitchFamily="34" charset="0"/>
                <a:ea typeface="Calibri" pitchFamily="34" charset="-122"/>
                <a:cs typeface="Calibri" pitchFamily="34" charset="-120"/>
              </a:rPr>
              <a:t>Build user-movie pivot table (943 × 1,682). Fill missing with 0.</a:t>
            </a:r>
            <a:endParaRPr lang="en-US" sz="950" dirty="0"/>
          </a:p>
        </p:txBody>
      </p:sp>
      <p:sp>
        <p:nvSpPr>
          <p:cNvPr id="10" name="Shape 8"/>
          <p:cNvSpPr/>
          <p:nvPr/>
        </p:nvSpPr>
        <p:spPr>
          <a:xfrm>
            <a:off x="484632" y="2075688"/>
            <a:ext cx="292608" cy="292608"/>
          </a:xfrm>
          <a:prstGeom prst="ellipse">
            <a:avLst/>
          </a:prstGeom>
          <a:solidFill>
            <a:srgbClr val="E8B84B"/>
          </a:solidFill>
          <a:ln w="12700">
            <a:solidFill>
              <a:srgbClr val="E8B84B"/>
            </a:solidFill>
            <a:prstDash val="solid"/>
          </a:ln>
        </p:spPr>
      </p:sp>
      <p:sp>
        <p:nvSpPr>
          <p:cNvPr id="11" name="Text 9"/>
          <p:cNvSpPr/>
          <p:nvPr/>
        </p:nvSpPr>
        <p:spPr>
          <a:xfrm>
            <a:off x="484632" y="2075688"/>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2" name="Text 10"/>
          <p:cNvSpPr/>
          <p:nvPr/>
        </p:nvSpPr>
        <p:spPr>
          <a:xfrm>
            <a:off x="886968" y="2057400"/>
            <a:ext cx="3474720" cy="585216"/>
          </a:xfrm>
          <a:prstGeom prst="rect">
            <a:avLst/>
          </a:prstGeom>
          <a:noFill/>
          <a:ln/>
        </p:spPr>
        <p:txBody>
          <a:bodyPr wrap="square" rtlCol="0" anchor="ctr"/>
          <a:lstStyle/>
          <a:p>
            <a:pPr indent="0" marL="0">
              <a:buNone/>
            </a:pPr>
            <a:r>
              <a:rPr lang="en-US" sz="950" dirty="0">
                <a:solidFill>
                  <a:srgbClr val="516985"/>
                </a:solidFill>
                <a:latin typeface="Calibri" pitchFamily="34" charset="0"/>
                <a:ea typeface="Calibri" pitchFamily="34" charset="-122"/>
                <a:cs typeface="Calibri" pitchFamily="34" charset="-120"/>
              </a:rPr>
              <a:t>Compute 943 × 943 user-user cosine similarity matrix.</a:t>
            </a:r>
            <a:endParaRPr lang="en-US" sz="950" dirty="0"/>
          </a:p>
        </p:txBody>
      </p:sp>
      <p:sp>
        <p:nvSpPr>
          <p:cNvPr id="13" name="Shape 11"/>
          <p:cNvSpPr/>
          <p:nvPr/>
        </p:nvSpPr>
        <p:spPr>
          <a:xfrm>
            <a:off x="484632" y="2734056"/>
            <a:ext cx="292608" cy="292608"/>
          </a:xfrm>
          <a:prstGeom prst="ellipse">
            <a:avLst/>
          </a:prstGeom>
          <a:solidFill>
            <a:srgbClr val="E8B84B"/>
          </a:solidFill>
          <a:ln w="12700">
            <a:solidFill>
              <a:srgbClr val="E8B84B"/>
            </a:solidFill>
            <a:prstDash val="solid"/>
          </a:ln>
        </p:spPr>
      </p:sp>
      <p:sp>
        <p:nvSpPr>
          <p:cNvPr id="14" name="Text 12"/>
          <p:cNvSpPr/>
          <p:nvPr/>
        </p:nvSpPr>
        <p:spPr>
          <a:xfrm>
            <a:off x="484632" y="2734056"/>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5" name="Text 13"/>
          <p:cNvSpPr/>
          <p:nvPr/>
        </p:nvSpPr>
        <p:spPr>
          <a:xfrm>
            <a:off x="886968" y="2715768"/>
            <a:ext cx="3474720" cy="585216"/>
          </a:xfrm>
          <a:prstGeom prst="rect">
            <a:avLst/>
          </a:prstGeom>
          <a:noFill/>
          <a:ln/>
        </p:spPr>
        <p:txBody>
          <a:bodyPr wrap="square" rtlCol="0" anchor="ctr"/>
          <a:lstStyle/>
          <a:p>
            <a:pPr indent="0" marL="0">
              <a:buNone/>
            </a:pPr>
            <a:r>
              <a:rPr lang="en-US" sz="950" dirty="0">
                <a:solidFill>
                  <a:srgbClr val="516985"/>
                </a:solidFill>
                <a:latin typeface="Calibri" pitchFamily="34" charset="0"/>
                <a:ea typeface="Calibri" pitchFamily="34" charset="-122"/>
                <a:cs typeface="Calibri" pitchFamily="34" charset="-120"/>
              </a:rPr>
              <a:t>For a target user, find top 50 most similar users.</a:t>
            </a:r>
            <a:endParaRPr lang="en-US" sz="950" dirty="0"/>
          </a:p>
        </p:txBody>
      </p:sp>
      <p:sp>
        <p:nvSpPr>
          <p:cNvPr id="16" name="Shape 14"/>
          <p:cNvSpPr/>
          <p:nvPr/>
        </p:nvSpPr>
        <p:spPr>
          <a:xfrm>
            <a:off x="484632" y="3392424"/>
            <a:ext cx="292608" cy="292608"/>
          </a:xfrm>
          <a:prstGeom prst="ellipse">
            <a:avLst/>
          </a:prstGeom>
          <a:solidFill>
            <a:srgbClr val="E8B84B"/>
          </a:solidFill>
          <a:ln w="12700">
            <a:solidFill>
              <a:srgbClr val="E8B84B"/>
            </a:solidFill>
            <a:prstDash val="solid"/>
          </a:ln>
        </p:spPr>
      </p:sp>
      <p:sp>
        <p:nvSpPr>
          <p:cNvPr id="17" name="Text 15"/>
          <p:cNvSpPr/>
          <p:nvPr/>
        </p:nvSpPr>
        <p:spPr>
          <a:xfrm>
            <a:off x="484632" y="3392424"/>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8" name="Text 16"/>
          <p:cNvSpPr/>
          <p:nvPr/>
        </p:nvSpPr>
        <p:spPr>
          <a:xfrm>
            <a:off x="886968" y="3374136"/>
            <a:ext cx="3474720" cy="585216"/>
          </a:xfrm>
          <a:prstGeom prst="rect">
            <a:avLst/>
          </a:prstGeom>
          <a:noFill/>
          <a:ln/>
        </p:spPr>
        <p:txBody>
          <a:bodyPr wrap="square" rtlCol="0" anchor="ctr"/>
          <a:lstStyle/>
          <a:p>
            <a:pPr indent="0" marL="0">
              <a:buNone/>
            </a:pPr>
            <a:r>
              <a:rPr lang="en-US" sz="950" dirty="0">
                <a:solidFill>
                  <a:srgbClr val="516985"/>
                </a:solidFill>
                <a:latin typeface="Calibri" pitchFamily="34" charset="0"/>
                <a:ea typeface="Calibri" pitchFamily="34" charset="-122"/>
                <a:cs typeface="Calibri" pitchFamily="34" charset="-120"/>
              </a:rPr>
              <a:t>Collect movies rated ≥ 4 by similar users that target hasn't seen.</a:t>
            </a:r>
            <a:endParaRPr lang="en-US" sz="950" dirty="0"/>
          </a:p>
        </p:txBody>
      </p:sp>
      <p:sp>
        <p:nvSpPr>
          <p:cNvPr id="19" name="Shape 17"/>
          <p:cNvSpPr/>
          <p:nvPr/>
        </p:nvSpPr>
        <p:spPr>
          <a:xfrm>
            <a:off x="484632" y="4050792"/>
            <a:ext cx="292608" cy="292608"/>
          </a:xfrm>
          <a:prstGeom prst="ellipse">
            <a:avLst/>
          </a:prstGeom>
          <a:solidFill>
            <a:srgbClr val="E8B84B"/>
          </a:solidFill>
          <a:ln w="12700">
            <a:solidFill>
              <a:srgbClr val="E8B84B"/>
            </a:solidFill>
            <a:prstDash val="solid"/>
          </a:ln>
        </p:spPr>
      </p:sp>
      <p:sp>
        <p:nvSpPr>
          <p:cNvPr id="20" name="Text 18"/>
          <p:cNvSpPr/>
          <p:nvPr/>
        </p:nvSpPr>
        <p:spPr>
          <a:xfrm>
            <a:off x="484632" y="4050792"/>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1" name="Text 19"/>
          <p:cNvSpPr/>
          <p:nvPr/>
        </p:nvSpPr>
        <p:spPr>
          <a:xfrm>
            <a:off x="886968" y="4032504"/>
            <a:ext cx="3474720" cy="585216"/>
          </a:xfrm>
          <a:prstGeom prst="rect">
            <a:avLst/>
          </a:prstGeom>
          <a:noFill/>
          <a:ln/>
        </p:spPr>
        <p:txBody>
          <a:bodyPr wrap="square" rtlCol="0" anchor="ctr"/>
          <a:lstStyle/>
          <a:p>
            <a:pPr indent="0" marL="0">
              <a:buNone/>
            </a:pPr>
            <a:r>
              <a:rPr lang="en-US" sz="950" dirty="0">
                <a:solidFill>
                  <a:srgbClr val="516985"/>
                </a:solidFill>
                <a:latin typeface="Calibri" pitchFamily="34" charset="0"/>
                <a:ea typeface="Calibri" pitchFamily="34" charset="-122"/>
                <a:cs typeface="Calibri" pitchFamily="34" charset="-120"/>
              </a:rPr>
              <a:t>Score each candidate: Σ (similarity × rating) across similar users.</a:t>
            </a:r>
            <a:endParaRPr lang="en-US" sz="950" dirty="0"/>
          </a:p>
        </p:txBody>
      </p:sp>
      <p:sp>
        <p:nvSpPr>
          <p:cNvPr id="22" name="Shape 20"/>
          <p:cNvSpPr/>
          <p:nvPr/>
        </p:nvSpPr>
        <p:spPr>
          <a:xfrm>
            <a:off x="4754880" y="822960"/>
            <a:ext cx="4160520" cy="3977640"/>
          </a:xfrm>
          <a:prstGeom prst="rect">
            <a:avLst/>
          </a:prstGeom>
          <a:solidFill>
            <a:srgbClr val="FFFFFF"/>
          </a:solidFill>
          <a:ln w="12700">
            <a:solidFill>
              <a:srgbClr val="EDE8DE"/>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4754880" y="822960"/>
            <a:ext cx="4160520" cy="457200"/>
          </a:xfrm>
          <a:prstGeom prst="rect">
            <a:avLst/>
          </a:prstGeom>
          <a:solidFill>
            <a:srgbClr val="E8B84B"/>
          </a:solidFill>
          <a:ln w="12700">
            <a:solidFill>
              <a:srgbClr val="E8B84B"/>
            </a:solidFill>
            <a:prstDash val="solid"/>
          </a:ln>
        </p:spPr>
      </p:sp>
      <p:sp>
        <p:nvSpPr>
          <p:cNvPr id="24" name="Text 22"/>
          <p:cNvSpPr/>
          <p:nvPr/>
        </p:nvSpPr>
        <p:spPr>
          <a:xfrm>
            <a:off x="4754880" y="822960"/>
            <a:ext cx="416052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SVD (Matrix Factorization)</a:t>
            </a:r>
            <a:endParaRPr lang="en-US" sz="1300" dirty="0"/>
          </a:p>
        </p:txBody>
      </p:sp>
      <p:sp>
        <p:nvSpPr>
          <p:cNvPr id="25" name="Shape 23"/>
          <p:cNvSpPr/>
          <p:nvPr/>
        </p:nvSpPr>
        <p:spPr>
          <a:xfrm>
            <a:off x="4919472" y="1417320"/>
            <a:ext cx="292608" cy="292608"/>
          </a:xfrm>
          <a:prstGeom prst="ellipse">
            <a:avLst/>
          </a:prstGeom>
          <a:solidFill>
            <a:srgbClr val="E8B84B"/>
          </a:solidFill>
          <a:ln w="12700">
            <a:solidFill>
              <a:srgbClr val="E8B84B"/>
            </a:solidFill>
            <a:prstDash val="solid"/>
          </a:ln>
        </p:spPr>
      </p:sp>
      <p:sp>
        <p:nvSpPr>
          <p:cNvPr id="26" name="Text 24"/>
          <p:cNvSpPr/>
          <p:nvPr/>
        </p:nvSpPr>
        <p:spPr>
          <a:xfrm>
            <a:off x="4919472" y="1417320"/>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7" name="Text 25"/>
          <p:cNvSpPr/>
          <p:nvPr/>
        </p:nvSpPr>
        <p:spPr>
          <a:xfrm>
            <a:off x="5321808" y="1399032"/>
            <a:ext cx="3474720" cy="585216"/>
          </a:xfrm>
          <a:prstGeom prst="rect">
            <a:avLst/>
          </a:prstGeom>
          <a:noFill/>
          <a:ln/>
        </p:spPr>
        <p:txBody>
          <a:bodyPr wrap="square" rtlCol="0" anchor="ctr"/>
          <a:lstStyle/>
          <a:p>
            <a:pPr indent="0" marL="0">
              <a:buNone/>
            </a:pPr>
            <a:r>
              <a:rPr lang="en-US" sz="950" dirty="0">
                <a:solidFill>
                  <a:srgbClr val="516985"/>
                </a:solidFill>
                <a:latin typeface="Calibri" pitchFamily="34" charset="0"/>
                <a:ea typeface="Calibri" pitchFamily="34" charset="-122"/>
                <a:cs typeface="Calibri" pitchFamily="34" charset="-120"/>
              </a:rPr>
              <a:t>Apply SVD to the filled user-movie matrix using k=50 latent factors.</a:t>
            </a:r>
            <a:endParaRPr lang="en-US" sz="950" dirty="0"/>
          </a:p>
        </p:txBody>
      </p:sp>
      <p:sp>
        <p:nvSpPr>
          <p:cNvPr id="28" name="Shape 26"/>
          <p:cNvSpPr/>
          <p:nvPr/>
        </p:nvSpPr>
        <p:spPr>
          <a:xfrm>
            <a:off x="4919472" y="2075688"/>
            <a:ext cx="292608" cy="292608"/>
          </a:xfrm>
          <a:prstGeom prst="ellipse">
            <a:avLst/>
          </a:prstGeom>
          <a:solidFill>
            <a:srgbClr val="E8B84B"/>
          </a:solidFill>
          <a:ln w="12700">
            <a:solidFill>
              <a:srgbClr val="E8B84B"/>
            </a:solidFill>
            <a:prstDash val="solid"/>
          </a:ln>
        </p:spPr>
      </p:sp>
      <p:sp>
        <p:nvSpPr>
          <p:cNvPr id="29" name="Text 27"/>
          <p:cNvSpPr/>
          <p:nvPr/>
        </p:nvSpPr>
        <p:spPr>
          <a:xfrm>
            <a:off x="4919472" y="2075688"/>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0" name="Text 28"/>
          <p:cNvSpPr/>
          <p:nvPr/>
        </p:nvSpPr>
        <p:spPr>
          <a:xfrm>
            <a:off x="5321808" y="2057400"/>
            <a:ext cx="3474720" cy="585216"/>
          </a:xfrm>
          <a:prstGeom prst="rect">
            <a:avLst/>
          </a:prstGeom>
          <a:noFill/>
          <a:ln/>
        </p:spPr>
        <p:txBody>
          <a:bodyPr wrap="square" rtlCol="0" anchor="ctr"/>
          <a:lstStyle/>
          <a:p>
            <a:pPr indent="0" marL="0">
              <a:buNone/>
            </a:pPr>
            <a:r>
              <a:rPr lang="en-US" sz="950" dirty="0">
                <a:solidFill>
                  <a:srgbClr val="516985"/>
                </a:solidFill>
                <a:latin typeface="Calibri" pitchFamily="34" charset="0"/>
                <a:ea typeface="Calibri" pitchFamily="34" charset="-122"/>
                <a:cs typeface="Calibri" pitchFamily="34" charset="-120"/>
              </a:rPr>
              <a:t>Decompose into three matrices: U, Σ, Vt via scipy.sparse.linalg.svds.</a:t>
            </a:r>
            <a:endParaRPr lang="en-US" sz="950" dirty="0"/>
          </a:p>
        </p:txBody>
      </p:sp>
      <p:sp>
        <p:nvSpPr>
          <p:cNvPr id="31" name="Shape 29"/>
          <p:cNvSpPr/>
          <p:nvPr/>
        </p:nvSpPr>
        <p:spPr>
          <a:xfrm>
            <a:off x="4919472" y="2734056"/>
            <a:ext cx="292608" cy="292608"/>
          </a:xfrm>
          <a:prstGeom prst="ellipse">
            <a:avLst/>
          </a:prstGeom>
          <a:solidFill>
            <a:srgbClr val="E8B84B"/>
          </a:solidFill>
          <a:ln w="12700">
            <a:solidFill>
              <a:srgbClr val="E8B84B"/>
            </a:solidFill>
            <a:prstDash val="solid"/>
          </a:ln>
        </p:spPr>
      </p:sp>
      <p:sp>
        <p:nvSpPr>
          <p:cNvPr id="32" name="Text 30"/>
          <p:cNvSpPr/>
          <p:nvPr/>
        </p:nvSpPr>
        <p:spPr>
          <a:xfrm>
            <a:off x="4919472" y="2734056"/>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3" name="Text 31"/>
          <p:cNvSpPr/>
          <p:nvPr/>
        </p:nvSpPr>
        <p:spPr>
          <a:xfrm>
            <a:off x="5321808" y="2715768"/>
            <a:ext cx="3474720" cy="585216"/>
          </a:xfrm>
          <a:prstGeom prst="rect">
            <a:avLst/>
          </a:prstGeom>
          <a:noFill/>
          <a:ln/>
        </p:spPr>
        <p:txBody>
          <a:bodyPr wrap="square" rtlCol="0" anchor="ctr"/>
          <a:lstStyle/>
          <a:p>
            <a:pPr indent="0" marL="0">
              <a:buNone/>
            </a:pPr>
            <a:r>
              <a:rPr lang="en-US" sz="950" dirty="0">
                <a:solidFill>
                  <a:srgbClr val="516985"/>
                </a:solidFill>
                <a:latin typeface="Calibri" pitchFamily="34" charset="0"/>
                <a:ea typeface="Calibri" pitchFamily="34" charset="-122"/>
                <a:cs typeface="Calibri" pitchFamily="34" charset="-120"/>
              </a:rPr>
              <a:t>Reconstruct dense predicted rating matrix (943 × 1,682).</a:t>
            </a:r>
            <a:endParaRPr lang="en-US" sz="950" dirty="0"/>
          </a:p>
        </p:txBody>
      </p:sp>
      <p:sp>
        <p:nvSpPr>
          <p:cNvPr id="34" name="Shape 32"/>
          <p:cNvSpPr/>
          <p:nvPr/>
        </p:nvSpPr>
        <p:spPr>
          <a:xfrm>
            <a:off x="4919472" y="3392424"/>
            <a:ext cx="292608" cy="292608"/>
          </a:xfrm>
          <a:prstGeom prst="ellipse">
            <a:avLst/>
          </a:prstGeom>
          <a:solidFill>
            <a:srgbClr val="E8B84B"/>
          </a:solidFill>
          <a:ln w="12700">
            <a:solidFill>
              <a:srgbClr val="E8B84B"/>
            </a:solidFill>
            <a:prstDash val="solid"/>
          </a:ln>
        </p:spPr>
      </p:sp>
      <p:sp>
        <p:nvSpPr>
          <p:cNvPr id="35" name="Text 33"/>
          <p:cNvSpPr/>
          <p:nvPr/>
        </p:nvSpPr>
        <p:spPr>
          <a:xfrm>
            <a:off x="4919472" y="3392424"/>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6" name="Text 34"/>
          <p:cNvSpPr/>
          <p:nvPr/>
        </p:nvSpPr>
        <p:spPr>
          <a:xfrm>
            <a:off x="5321808" y="3374136"/>
            <a:ext cx="3474720" cy="585216"/>
          </a:xfrm>
          <a:prstGeom prst="rect">
            <a:avLst/>
          </a:prstGeom>
          <a:noFill/>
          <a:ln/>
        </p:spPr>
        <p:txBody>
          <a:bodyPr wrap="square" rtlCol="0" anchor="ctr"/>
          <a:lstStyle/>
          <a:p>
            <a:pPr indent="0" marL="0">
              <a:buNone/>
            </a:pPr>
            <a:r>
              <a:rPr lang="en-US" sz="950" dirty="0">
                <a:solidFill>
                  <a:srgbClr val="516985"/>
                </a:solidFill>
                <a:latin typeface="Calibri" pitchFamily="34" charset="0"/>
                <a:ea typeface="Calibri" pitchFamily="34" charset="-122"/>
                <a:cs typeface="Calibri" pitchFamily="34" charset="-120"/>
              </a:rPr>
              <a:t>For any user, rank unseen movies by predicted rating descending.</a:t>
            </a:r>
            <a:endParaRPr lang="en-US" sz="950" dirty="0"/>
          </a:p>
        </p:txBody>
      </p:sp>
      <p:sp>
        <p:nvSpPr>
          <p:cNvPr id="37" name="Shape 35"/>
          <p:cNvSpPr/>
          <p:nvPr/>
        </p:nvSpPr>
        <p:spPr>
          <a:xfrm>
            <a:off x="4919472" y="4050792"/>
            <a:ext cx="292608" cy="292608"/>
          </a:xfrm>
          <a:prstGeom prst="ellipse">
            <a:avLst/>
          </a:prstGeom>
          <a:solidFill>
            <a:srgbClr val="E8B84B"/>
          </a:solidFill>
          <a:ln w="12700">
            <a:solidFill>
              <a:srgbClr val="E8B84B"/>
            </a:solidFill>
            <a:prstDash val="solid"/>
          </a:ln>
        </p:spPr>
      </p:sp>
      <p:sp>
        <p:nvSpPr>
          <p:cNvPr id="38" name="Text 36"/>
          <p:cNvSpPr/>
          <p:nvPr/>
        </p:nvSpPr>
        <p:spPr>
          <a:xfrm>
            <a:off x="4919472" y="4050792"/>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9" name="Text 37"/>
          <p:cNvSpPr/>
          <p:nvPr/>
        </p:nvSpPr>
        <p:spPr>
          <a:xfrm>
            <a:off x="5321808" y="4032504"/>
            <a:ext cx="3474720" cy="585216"/>
          </a:xfrm>
          <a:prstGeom prst="rect">
            <a:avLst/>
          </a:prstGeom>
          <a:noFill/>
          <a:ln/>
        </p:spPr>
        <p:txBody>
          <a:bodyPr wrap="square" rtlCol="0" anchor="ctr"/>
          <a:lstStyle/>
          <a:p>
            <a:pPr indent="0" marL="0">
              <a:buNone/>
            </a:pPr>
            <a:r>
              <a:rPr lang="en-US" sz="950" dirty="0">
                <a:solidFill>
                  <a:srgbClr val="516985"/>
                </a:solidFill>
                <a:latin typeface="Calibri" pitchFamily="34" charset="0"/>
                <a:ea typeface="Calibri" pitchFamily="34" charset="-122"/>
                <a:cs typeface="Calibri" pitchFamily="34" charset="-120"/>
              </a:rPr>
              <a:t>Returns 10 top predicted-rating movies not yet seen by the user.</a:t>
            </a:r>
            <a:endParaRPr lang="en-US" sz="950" dirty="0"/>
          </a:p>
        </p:txBody>
      </p:sp>
      <p:sp>
        <p:nvSpPr>
          <p:cNvPr id="40" name="Shape 38"/>
          <p:cNvSpPr/>
          <p:nvPr/>
        </p:nvSpPr>
        <p:spPr>
          <a:xfrm>
            <a:off x="320040" y="4828032"/>
            <a:ext cx="8549640" cy="256032"/>
          </a:xfrm>
          <a:prstGeom prst="rect">
            <a:avLst/>
          </a:prstGeom>
          <a:solidFill>
            <a:srgbClr val="F5F0E8"/>
          </a:solidFill>
          <a:ln w="12700">
            <a:solidFill>
              <a:srgbClr val="E8E2D4"/>
            </a:solidFill>
            <a:prstDash val="solid"/>
          </a:ln>
        </p:spPr>
      </p:sp>
      <p:sp>
        <p:nvSpPr>
          <p:cNvPr id="41" name="Text 39"/>
          <p:cNvSpPr/>
          <p:nvPr/>
        </p:nvSpPr>
        <p:spPr>
          <a:xfrm>
            <a:off x="457200" y="4828032"/>
            <a:ext cx="8321040" cy="256032"/>
          </a:xfrm>
          <a:prstGeom prst="rect">
            <a:avLst/>
          </a:prstGeom>
          <a:noFill/>
          <a:ln/>
        </p:spPr>
        <p:txBody>
          <a:bodyPr wrap="square" rtlCol="0" anchor="ctr"/>
          <a:lstStyle/>
          <a:p>
            <a:pPr indent="0" marL="0">
              <a:buNone/>
            </a:pPr>
            <a:r>
              <a:rPr lang="en-US" sz="900" dirty="0">
                <a:solidFill>
                  <a:srgbClr val="8BA3C0"/>
                </a:solidFill>
                <a:latin typeface="Calibri" pitchFamily="34" charset="0"/>
                <a:ea typeface="Calibri" pitchFamily="34" charset="-122"/>
                <a:cs typeface="Calibri" pitchFamily="34" charset="-120"/>
              </a:rPr>
              <a:t>Item-Based CF (also implemented): Transposes the matrix → computes movie-movie similarity → scores candidates as Σ(similarity × user's own ratings)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49A2E"/>
          </a:solidFill>
          <a:ln w="12700">
            <a:solidFill>
              <a:srgbClr val="C49A2E"/>
            </a:solidFill>
            <a:prstDash val="solid"/>
          </a:ln>
        </p:spPr>
      </p:sp>
      <p:sp>
        <p:nvSpPr>
          <p:cNvPr id="3" name="Text 1"/>
          <p:cNvSpPr/>
          <p:nvPr/>
        </p:nvSpPr>
        <p:spPr>
          <a:xfrm>
            <a:off x="365760" y="0"/>
            <a:ext cx="8229600" cy="685800"/>
          </a:xfrm>
          <a:prstGeom prst="rect">
            <a:avLst/>
          </a:prstGeom>
          <a:noFill/>
          <a:ln/>
        </p:spPr>
        <p:txBody>
          <a:bodyPr wrap="square" rtlCol="0" anchor="ctr"/>
          <a:lstStyle/>
          <a:p>
            <a:pPr indent="0" marL="0">
              <a:buNone/>
            </a:pPr>
            <a:r>
              <a:rPr lang="en-US" sz="1400" b="1" spc="300" kern="0" dirty="0">
                <a:solidFill>
                  <a:srgbClr val="FFFFFF"/>
                </a:solidFill>
                <a:latin typeface="Calibri" pitchFamily="34" charset="0"/>
                <a:ea typeface="Calibri" pitchFamily="34" charset="-122"/>
                <a:cs typeface="Calibri" pitchFamily="34" charset="-120"/>
              </a:rPr>
              <a:t>METHODOLOGY  —  The Hybrid Model</a:t>
            </a:r>
            <a:endParaRPr lang="en-US" sz="1400" dirty="0"/>
          </a:p>
        </p:txBody>
      </p:sp>
      <p:sp>
        <p:nvSpPr>
          <p:cNvPr id="4" name="Shape 2"/>
          <p:cNvSpPr/>
          <p:nvPr/>
        </p:nvSpPr>
        <p:spPr>
          <a:xfrm>
            <a:off x="1371600" y="868680"/>
            <a:ext cx="6400800" cy="1234440"/>
          </a:xfrm>
          <a:prstGeom prst="rect">
            <a:avLst/>
          </a:prstGeom>
          <a:solidFill>
            <a:srgbClr val="0A1628"/>
          </a:solidFill>
          <a:ln w="12700">
            <a:solidFill>
              <a:srgbClr val="E8B84B"/>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1371600" y="960120"/>
            <a:ext cx="6400800" cy="5943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Hybrid Score  =  0.6 × CF Score  +  0.4 × Content Score</a:t>
            </a:r>
            <a:endParaRPr lang="en-US" sz="2000" dirty="0"/>
          </a:p>
        </p:txBody>
      </p:sp>
      <p:sp>
        <p:nvSpPr>
          <p:cNvPr id="6" name="Text 4"/>
          <p:cNvSpPr/>
          <p:nvPr/>
        </p:nvSpPr>
        <p:spPr>
          <a:xfrm>
            <a:off x="1371600" y="1572768"/>
            <a:ext cx="6400800" cy="320040"/>
          </a:xfrm>
          <a:prstGeom prst="rect">
            <a:avLst/>
          </a:prstGeom>
          <a:noFill/>
          <a:ln/>
        </p:spPr>
        <p:txBody>
          <a:bodyPr wrap="square" rtlCol="0" anchor="ctr"/>
          <a:lstStyle/>
          <a:p>
            <a:pPr algn="ctr" indent="0" marL="0">
              <a:buNone/>
            </a:pPr>
            <a:r>
              <a:rPr lang="en-US" sz="1000" dirty="0">
                <a:solidFill>
                  <a:srgbClr val="8BA3C0"/>
                </a:solidFill>
                <a:latin typeface="Calibri" pitchFamily="34" charset="0"/>
                <a:ea typeface="Calibri" pitchFamily="34" charset="-122"/>
                <a:cs typeface="Calibri" pitchFamily="34" charset="-120"/>
              </a:rPr>
              <a:t>Both score sets are normalised to [0,1] via Min-Max Scaling before combining</a:t>
            </a:r>
            <a:endParaRPr lang="en-US" sz="1000" dirty="0"/>
          </a:p>
        </p:txBody>
      </p:sp>
      <p:sp>
        <p:nvSpPr>
          <p:cNvPr id="7" name="Shape 5"/>
          <p:cNvSpPr/>
          <p:nvPr/>
        </p:nvSpPr>
        <p:spPr>
          <a:xfrm>
            <a:off x="365760" y="2331720"/>
            <a:ext cx="5047488" cy="548640"/>
          </a:xfrm>
          <a:prstGeom prst="rect">
            <a:avLst/>
          </a:prstGeom>
          <a:solidFill>
            <a:srgbClr val="E8B84B"/>
          </a:solidFill>
          <a:ln w="12700">
            <a:solidFill>
              <a:srgbClr val="E8B84B"/>
            </a:solidFill>
            <a:prstDash val="solid"/>
          </a:ln>
        </p:spPr>
      </p:sp>
      <p:sp>
        <p:nvSpPr>
          <p:cNvPr id="8" name="Shape 6"/>
          <p:cNvSpPr/>
          <p:nvPr/>
        </p:nvSpPr>
        <p:spPr>
          <a:xfrm>
            <a:off x="5413248" y="2331720"/>
            <a:ext cx="3364992" cy="548640"/>
          </a:xfrm>
          <a:prstGeom prst="rect">
            <a:avLst/>
          </a:prstGeom>
          <a:solidFill>
            <a:srgbClr val="E8B84B"/>
          </a:solidFill>
          <a:ln w="12700">
            <a:solidFill>
              <a:srgbClr val="E8B84B"/>
            </a:solidFill>
            <a:prstDash val="solid"/>
          </a:ln>
        </p:spPr>
      </p:sp>
      <p:sp>
        <p:nvSpPr>
          <p:cNvPr id="9" name="Text 7"/>
          <p:cNvSpPr/>
          <p:nvPr/>
        </p:nvSpPr>
        <p:spPr>
          <a:xfrm>
            <a:off x="365760" y="2331720"/>
            <a:ext cx="5047488" cy="5486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Collaborative Filtering  60%</a:t>
            </a:r>
            <a:endParaRPr lang="en-US" sz="1200" dirty="0"/>
          </a:p>
        </p:txBody>
      </p:sp>
      <p:sp>
        <p:nvSpPr>
          <p:cNvPr id="10" name="Text 8"/>
          <p:cNvSpPr/>
          <p:nvPr/>
        </p:nvSpPr>
        <p:spPr>
          <a:xfrm>
            <a:off x="5413248" y="2331720"/>
            <a:ext cx="3364992" cy="548640"/>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Content-Based  40%</a:t>
            </a:r>
            <a:endParaRPr lang="en-US" sz="1200" dirty="0"/>
          </a:p>
        </p:txBody>
      </p:sp>
      <p:sp>
        <p:nvSpPr>
          <p:cNvPr id="11" name="Shape 9"/>
          <p:cNvSpPr/>
          <p:nvPr/>
        </p:nvSpPr>
        <p:spPr>
          <a:xfrm>
            <a:off x="365760" y="3063240"/>
            <a:ext cx="4114800" cy="896112"/>
          </a:xfrm>
          <a:prstGeom prst="rect">
            <a:avLst/>
          </a:prstGeom>
          <a:solidFill>
            <a:srgbClr val="0A1628"/>
          </a:solidFill>
          <a:ln w="12700">
            <a:solidFill>
              <a:srgbClr val="0F1F3D"/>
            </a:solidFill>
            <a:prstDash val="solid"/>
          </a:ln>
        </p:spPr>
      </p:sp>
      <p:sp>
        <p:nvSpPr>
          <p:cNvPr id="12" name="Shape 10"/>
          <p:cNvSpPr/>
          <p:nvPr/>
        </p:nvSpPr>
        <p:spPr>
          <a:xfrm>
            <a:off x="365760" y="3063240"/>
            <a:ext cx="54864" cy="896112"/>
          </a:xfrm>
          <a:prstGeom prst="rect">
            <a:avLst/>
          </a:prstGeom>
          <a:solidFill>
            <a:srgbClr val="E8B84B"/>
          </a:solidFill>
          <a:ln w="12700">
            <a:solidFill>
              <a:srgbClr val="E8B84B"/>
            </a:solidFill>
            <a:prstDash val="solid"/>
          </a:ln>
        </p:spPr>
      </p:sp>
      <p:sp>
        <p:nvSpPr>
          <p:cNvPr id="13" name="Text 11"/>
          <p:cNvSpPr/>
          <p:nvPr/>
        </p:nvSpPr>
        <p:spPr>
          <a:xfrm>
            <a:off x="530352" y="3118104"/>
            <a:ext cx="384048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60% CF?</a:t>
            </a:r>
            <a:endParaRPr lang="en-US" sz="1100" dirty="0"/>
          </a:p>
        </p:txBody>
      </p:sp>
      <p:sp>
        <p:nvSpPr>
          <p:cNvPr id="14" name="Text 12"/>
          <p:cNvSpPr/>
          <p:nvPr/>
        </p:nvSpPr>
        <p:spPr>
          <a:xfrm>
            <a:off x="530352" y="3410712"/>
            <a:ext cx="3840480" cy="493776"/>
          </a:xfrm>
          <a:prstGeom prst="rect">
            <a:avLst/>
          </a:prstGeom>
          <a:noFill/>
          <a:ln/>
        </p:spPr>
        <p:txBody>
          <a:bodyPr wrap="square" rtlCol="0" anchor="ctr"/>
          <a:lstStyle/>
          <a:p>
            <a:pPr indent="0" marL="0">
              <a:buNone/>
            </a:pPr>
            <a:r>
              <a:rPr lang="en-US" sz="950" dirty="0">
                <a:solidFill>
                  <a:srgbClr val="8BA3C0"/>
                </a:solidFill>
                <a:latin typeface="Calibri" pitchFamily="34" charset="0"/>
                <a:ea typeface="Calibri" pitchFamily="34" charset="-122"/>
                <a:cs typeface="Calibri" pitchFamily="34" charset="-120"/>
              </a:rPr>
              <a:t>Collaborative filtering captures real user behaviour and taste patterns. It's the stronger signal when rating history exists.</a:t>
            </a:r>
            <a:endParaRPr lang="en-US" sz="950" dirty="0"/>
          </a:p>
        </p:txBody>
      </p:sp>
      <p:sp>
        <p:nvSpPr>
          <p:cNvPr id="15" name="Shape 13"/>
          <p:cNvSpPr/>
          <p:nvPr/>
        </p:nvSpPr>
        <p:spPr>
          <a:xfrm>
            <a:off x="4754880" y="3063240"/>
            <a:ext cx="4114800" cy="896112"/>
          </a:xfrm>
          <a:prstGeom prst="rect">
            <a:avLst/>
          </a:prstGeom>
          <a:solidFill>
            <a:srgbClr val="0A1628"/>
          </a:solidFill>
          <a:ln w="12700">
            <a:solidFill>
              <a:srgbClr val="0F1F3D"/>
            </a:solidFill>
            <a:prstDash val="solid"/>
          </a:ln>
        </p:spPr>
      </p:sp>
      <p:sp>
        <p:nvSpPr>
          <p:cNvPr id="16" name="Shape 14"/>
          <p:cNvSpPr/>
          <p:nvPr/>
        </p:nvSpPr>
        <p:spPr>
          <a:xfrm>
            <a:off x="4754880" y="3063240"/>
            <a:ext cx="54864" cy="896112"/>
          </a:xfrm>
          <a:prstGeom prst="rect">
            <a:avLst/>
          </a:prstGeom>
          <a:solidFill>
            <a:srgbClr val="E8B84B"/>
          </a:solidFill>
          <a:ln w="12700">
            <a:solidFill>
              <a:srgbClr val="E8B84B"/>
            </a:solidFill>
            <a:prstDash val="solid"/>
          </a:ln>
        </p:spPr>
      </p:sp>
      <p:sp>
        <p:nvSpPr>
          <p:cNvPr id="17" name="Text 15"/>
          <p:cNvSpPr/>
          <p:nvPr/>
        </p:nvSpPr>
        <p:spPr>
          <a:xfrm>
            <a:off x="4919472" y="3118104"/>
            <a:ext cx="384048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40% Content?</a:t>
            </a:r>
            <a:endParaRPr lang="en-US" sz="1100" dirty="0"/>
          </a:p>
        </p:txBody>
      </p:sp>
      <p:sp>
        <p:nvSpPr>
          <p:cNvPr id="18" name="Text 16"/>
          <p:cNvSpPr/>
          <p:nvPr/>
        </p:nvSpPr>
        <p:spPr>
          <a:xfrm>
            <a:off x="4919472" y="3410712"/>
            <a:ext cx="3840480" cy="493776"/>
          </a:xfrm>
          <a:prstGeom prst="rect">
            <a:avLst/>
          </a:prstGeom>
          <a:noFill/>
          <a:ln/>
        </p:spPr>
        <p:txBody>
          <a:bodyPr wrap="square" rtlCol="0" anchor="ctr"/>
          <a:lstStyle/>
          <a:p>
            <a:pPr indent="0" marL="0">
              <a:buNone/>
            </a:pPr>
            <a:r>
              <a:rPr lang="en-US" sz="950" dirty="0">
                <a:solidFill>
                  <a:srgbClr val="8BA3C0"/>
                </a:solidFill>
                <a:latin typeface="Calibri" pitchFamily="34" charset="0"/>
                <a:ea typeface="Calibri" pitchFamily="34" charset="-122"/>
                <a:cs typeface="Calibri" pitchFamily="34" charset="-120"/>
              </a:rPr>
              <a:t>Genre vectors act as a fallback when CF signal is weak — e.g. for less-rated movies or users with sparse histories.</a:t>
            </a:r>
            <a:endParaRPr lang="en-US" sz="950" dirty="0"/>
          </a:p>
        </p:txBody>
      </p:sp>
      <p:sp>
        <p:nvSpPr>
          <p:cNvPr id="19" name="Shape 17"/>
          <p:cNvSpPr/>
          <p:nvPr/>
        </p:nvSpPr>
        <p:spPr>
          <a:xfrm>
            <a:off x="365760" y="4069080"/>
            <a:ext cx="4114800" cy="896112"/>
          </a:xfrm>
          <a:prstGeom prst="rect">
            <a:avLst/>
          </a:prstGeom>
          <a:solidFill>
            <a:srgbClr val="0A1628"/>
          </a:solidFill>
          <a:ln w="12700">
            <a:solidFill>
              <a:srgbClr val="0F1F3D"/>
            </a:solidFill>
            <a:prstDash val="solid"/>
          </a:ln>
        </p:spPr>
      </p:sp>
      <p:sp>
        <p:nvSpPr>
          <p:cNvPr id="20" name="Shape 18"/>
          <p:cNvSpPr/>
          <p:nvPr/>
        </p:nvSpPr>
        <p:spPr>
          <a:xfrm>
            <a:off x="365760" y="4069080"/>
            <a:ext cx="54864" cy="896112"/>
          </a:xfrm>
          <a:prstGeom prst="rect">
            <a:avLst/>
          </a:prstGeom>
          <a:solidFill>
            <a:srgbClr val="E8B84B"/>
          </a:solidFill>
          <a:ln w="12700">
            <a:solidFill>
              <a:srgbClr val="E8B84B"/>
            </a:solidFill>
            <a:prstDash val="solid"/>
          </a:ln>
        </p:spPr>
      </p:sp>
      <p:sp>
        <p:nvSpPr>
          <p:cNvPr id="21" name="Text 19"/>
          <p:cNvSpPr/>
          <p:nvPr/>
        </p:nvSpPr>
        <p:spPr>
          <a:xfrm>
            <a:off x="530352" y="4123944"/>
            <a:ext cx="384048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Exclusion Rule</a:t>
            </a:r>
            <a:endParaRPr lang="en-US" sz="1100" dirty="0"/>
          </a:p>
        </p:txBody>
      </p:sp>
      <p:sp>
        <p:nvSpPr>
          <p:cNvPr id="22" name="Text 20"/>
          <p:cNvSpPr/>
          <p:nvPr/>
        </p:nvSpPr>
        <p:spPr>
          <a:xfrm>
            <a:off x="530352" y="4416552"/>
            <a:ext cx="3840480" cy="493776"/>
          </a:xfrm>
          <a:prstGeom prst="rect">
            <a:avLst/>
          </a:prstGeom>
          <a:noFill/>
          <a:ln/>
        </p:spPr>
        <p:txBody>
          <a:bodyPr wrap="square" rtlCol="0" anchor="ctr"/>
          <a:lstStyle/>
          <a:p>
            <a:pPr indent="0" marL="0">
              <a:buNone/>
            </a:pPr>
            <a:r>
              <a:rPr lang="en-US" sz="950" dirty="0">
                <a:solidFill>
                  <a:srgbClr val="8BA3C0"/>
                </a:solidFill>
                <a:latin typeface="Calibri" pitchFamily="34" charset="0"/>
                <a:ea typeface="Calibri" pitchFamily="34" charset="-122"/>
                <a:cs typeface="Calibri" pitchFamily="34" charset="-120"/>
              </a:rPr>
              <a:t>Movies already rated by the target user are excluded from all output. Only genuinely unseen films are recommended.</a:t>
            </a:r>
            <a:endParaRPr lang="en-US" sz="950" dirty="0"/>
          </a:p>
        </p:txBody>
      </p:sp>
      <p:sp>
        <p:nvSpPr>
          <p:cNvPr id="23" name="Shape 21"/>
          <p:cNvSpPr/>
          <p:nvPr/>
        </p:nvSpPr>
        <p:spPr>
          <a:xfrm>
            <a:off x="4754880" y="4069080"/>
            <a:ext cx="4114800" cy="896112"/>
          </a:xfrm>
          <a:prstGeom prst="rect">
            <a:avLst/>
          </a:prstGeom>
          <a:solidFill>
            <a:srgbClr val="0A1628"/>
          </a:solidFill>
          <a:ln w="12700">
            <a:solidFill>
              <a:srgbClr val="0F1F3D"/>
            </a:solidFill>
            <a:prstDash val="solid"/>
          </a:ln>
        </p:spPr>
      </p:sp>
      <p:sp>
        <p:nvSpPr>
          <p:cNvPr id="24" name="Shape 22"/>
          <p:cNvSpPr/>
          <p:nvPr/>
        </p:nvSpPr>
        <p:spPr>
          <a:xfrm>
            <a:off x="4754880" y="4069080"/>
            <a:ext cx="54864" cy="896112"/>
          </a:xfrm>
          <a:prstGeom prst="rect">
            <a:avLst/>
          </a:prstGeom>
          <a:solidFill>
            <a:srgbClr val="E8B84B"/>
          </a:solidFill>
          <a:ln w="12700">
            <a:solidFill>
              <a:srgbClr val="E8B84B"/>
            </a:solidFill>
            <a:prstDash val="solid"/>
          </a:ln>
        </p:spPr>
      </p:sp>
      <p:sp>
        <p:nvSpPr>
          <p:cNvPr id="25" name="Text 23"/>
          <p:cNvSpPr/>
          <p:nvPr/>
        </p:nvSpPr>
        <p:spPr>
          <a:xfrm>
            <a:off x="4919472" y="4123944"/>
            <a:ext cx="384048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Output</a:t>
            </a:r>
            <a:endParaRPr lang="en-US" sz="1100" dirty="0"/>
          </a:p>
        </p:txBody>
      </p:sp>
      <p:sp>
        <p:nvSpPr>
          <p:cNvPr id="26" name="Text 24"/>
          <p:cNvSpPr/>
          <p:nvPr/>
        </p:nvSpPr>
        <p:spPr>
          <a:xfrm>
            <a:off x="4919472" y="4416552"/>
            <a:ext cx="3840480" cy="493776"/>
          </a:xfrm>
          <a:prstGeom prst="rect">
            <a:avLst/>
          </a:prstGeom>
          <a:noFill/>
          <a:ln/>
        </p:spPr>
        <p:txBody>
          <a:bodyPr wrap="square" rtlCol="0" anchor="ctr"/>
          <a:lstStyle/>
          <a:p>
            <a:pPr indent="0" marL="0">
              <a:buNone/>
            </a:pPr>
            <a:r>
              <a:rPr lang="en-US" sz="950" dirty="0">
                <a:solidFill>
                  <a:srgbClr val="8BA3C0"/>
                </a:solidFill>
                <a:latin typeface="Calibri" pitchFamily="34" charset="0"/>
                <a:ea typeface="Calibri" pitchFamily="34" charset="-122"/>
                <a:cs typeface="Calibri" pitchFamily="34" charset="-120"/>
              </a:rPr>
              <a:t>Top 10 scoring candidate movies are returned, enriched with TMDB poster art and live ratings for display.</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w="12700">
            <a:solidFill>
              <a:srgbClr val="0A1628"/>
            </a:solidFill>
            <a:prstDash val="solid"/>
          </a:ln>
        </p:spPr>
      </p:sp>
      <p:sp>
        <p:nvSpPr>
          <p:cNvPr id="3" name="Text 1"/>
          <p:cNvSpPr/>
          <p:nvPr/>
        </p:nvSpPr>
        <p:spPr>
          <a:xfrm>
            <a:off x="365760" y="0"/>
            <a:ext cx="8229600" cy="68580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EVALUATION &amp; RESULTS</a:t>
            </a:r>
            <a:endParaRPr lang="en-US" sz="1400" dirty="0"/>
          </a:p>
        </p:txBody>
      </p:sp>
      <p:sp>
        <p:nvSpPr>
          <p:cNvPr id="4" name="Shape 2"/>
          <p:cNvSpPr/>
          <p:nvPr/>
        </p:nvSpPr>
        <p:spPr>
          <a:xfrm>
            <a:off x="320040" y="822960"/>
            <a:ext cx="1965960" cy="1828800"/>
          </a:xfrm>
          <a:prstGeom prst="rect">
            <a:avLst/>
          </a:prstGeom>
          <a:solidFill>
            <a:srgbClr val="FFFFFF"/>
          </a:solidFill>
          <a:ln w="12700">
            <a:solidFill>
              <a:srgbClr val="EDE8DE"/>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20040" y="822960"/>
            <a:ext cx="1965960" cy="54864"/>
          </a:xfrm>
          <a:prstGeom prst="rect">
            <a:avLst/>
          </a:prstGeom>
          <a:solidFill>
            <a:srgbClr val="E8B84B"/>
          </a:solidFill>
          <a:ln w="12700">
            <a:solidFill>
              <a:srgbClr val="E8B84B"/>
            </a:solidFill>
            <a:prstDash val="solid"/>
          </a:ln>
        </p:spPr>
      </p:sp>
      <p:sp>
        <p:nvSpPr>
          <p:cNvPr id="6" name="Text 4"/>
          <p:cNvSpPr/>
          <p:nvPr/>
        </p:nvSpPr>
        <p:spPr>
          <a:xfrm>
            <a:off x="320040" y="896112"/>
            <a:ext cx="1965960" cy="365760"/>
          </a:xfrm>
          <a:prstGeom prst="rect">
            <a:avLst/>
          </a:prstGeom>
          <a:noFill/>
          <a:ln/>
        </p:spPr>
        <p:txBody>
          <a:bodyPr wrap="square" rtlCol="0" anchor="ctr"/>
          <a:lstStyle/>
          <a:p>
            <a:pPr algn="ctr" indent="0" marL="0">
              <a:buNone/>
            </a:pPr>
            <a:r>
              <a:rPr lang="en-US" sz="1200" b="1" dirty="0">
                <a:solidFill>
                  <a:srgbClr val="516985"/>
                </a:solidFill>
                <a:latin typeface="Calibri" pitchFamily="34" charset="0"/>
                <a:ea typeface="Calibri" pitchFamily="34" charset="-122"/>
                <a:cs typeface="Calibri" pitchFamily="34" charset="-120"/>
              </a:rPr>
              <a:t>RMSE</a:t>
            </a:r>
            <a:endParaRPr lang="en-US" sz="1200" dirty="0"/>
          </a:p>
        </p:txBody>
      </p:sp>
      <p:sp>
        <p:nvSpPr>
          <p:cNvPr id="7" name="Text 5"/>
          <p:cNvSpPr/>
          <p:nvPr/>
        </p:nvSpPr>
        <p:spPr>
          <a:xfrm>
            <a:off x="320040" y="1280160"/>
            <a:ext cx="1965960" cy="640080"/>
          </a:xfrm>
          <a:prstGeom prst="rect">
            <a:avLst/>
          </a:prstGeom>
          <a:noFill/>
          <a:ln/>
        </p:spPr>
        <p:txBody>
          <a:bodyPr wrap="square" rtlCol="0" anchor="ctr"/>
          <a:lstStyle/>
          <a:p>
            <a:pPr algn="ctr" indent="0" marL="0">
              <a:buNone/>
            </a:pPr>
            <a:r>
              <a:rPr lang="en-US" sz="3400" b="1" dirty="0">
                <a:solidFill>
                  <a:srgbClr val="E8B84B"/>
                </a:solidFill>
                <a:latin typeface="Calibri" pitchFamily="34" charset="0"/>
                <a:ea typeface="Calibri" pitchFamily="34" charset="-122"/>
                <a:cs typeface="Calibri" pitchFamily="34" charset="-120"/>
              </a:rPr>
              <a:t>1.0305</a:t>
            </a:r>
            <a:endParaRPr lang="en-US" sz="3400" dirty="0"/>
          </a:p>
        </p:txBody>
      </p:sp>
      <p:sp>
        <p:nvSpPr>
          <p:cNvPr id="8" name="Text 6"/>
          <p:cNvSpPr/>
          <p:nvPr/>
        </p:nvSpPr>
        <p:spPr>
          <a:xfrm>
            <a:off x="320040" y="1938528"/>
            <a:ext cx="1965960" cy="274320"/>
          </a:xfrm>
          <a:prstGeom prst="rect">
            <a:avLst/>
          </a:prstGeom>
          <a:noFill/>
          <a:ln/>
        </p:spPr>
        <p:txBody>
          <a:bodyPr wrap="square" rtlCol="0" anchor="ctr"/>
          <a:lstStyle/>
          <a:p>
            <a:pPr algn="ctr" indent="0" marL="0">
              <a:buNone/>
            </a:pPr>
            <a:r>
              <a:rPr lang="en-US" sz="950" dirty="0">
                <a:solidFill>
                  <a:srgbClr val="8BA3C0"/>
                </a:solidFill>
                <a:latin typeface="Calibri" pitchFamily="34" charset="0"/>
                <a:ea typeface="Calibri" pitchFamily="34" charset="-122"/>
                <a:cs typeface="Calibri" pitchFamily="34" charset="-120"/>
              </a:rPr>
              <a:t>Target: ≤ 1.10</a:t>
            </a:r>
            <a:endParaRPr lang="en-US" sz="950" dirty="0"/>
          </a:p>
        </p:txBody>
      </p:sp>
      <p:sp>
        <p:nvSpPr>
          <p:cNvPr id="9" name="Text 7"/>
          <p:cNvSpPr/>
          <p:nvPr/>
        </p:nvSpPr>
        <p:spPr>
          <a:xfrm>
            <a:off x="320040" y="2231136"/>
            <a:ext cx="1965960" cy="274320"/>
          </a:xfrm>
          <a:prstGeom prst="rect">
            <a:avLst/>
          </a:prstGeom>
          <a:noFill/>
          <a:ln/>
        </p:spPr>
        <p:txBody>
          <a:bodyPr wrap="square" rtlCol="0" anchor="ctr"/>
          <a:lstStyle/>
          <a:p>
            <a:pPr algn="ctr" indent="0" marL="0">
              <a:buNone/>
            </a:pPr>
            <a:r>
              <a:rPr lang="en-US" sz="1000" b="1" dirty="0">
                <a:solidFill>
                  <a:srgbClr val="E8B84B"/>
                </a:solidFill>
                <a:latin typeface="Calibri" pitchFamily="34" charset="0"/>
                <a:ea typeface="Calibri" pitchFamily="34" charset="-122"/>
                <a:cs typeface="Calibri" pitchFamily="34" charset="-120"/>
              </a:rPr>
              <a:t>✓  MET</a:t>
            </a:r>
            <a:endParaRPr lang="en-US" sz="1000" dirty="0"/>
          </a:p>
        </p:txBody>
      </p:sp>
      <p:sp>
        <p:nvSpPr>
          <p:cNvPr id="10" name="Shape 8"/>
          <p:cNvSpPr/>
          <p:nvPr/>
        </p:nvSpPr>
        <p:spPr>
          <a:xfrm>
            <a:off x="2468880" y="822960"/>
            <a:ext cx="1965960" cy="1828800"/>
          </a:xfrm>
          <a:prstGeom prst="rect">
            <a:avLst/>
          </a:prstGeom>
          <a:solidFill>
            <a:srgbClr val="FFFFFF"/>
          </a:solidFill>
          <a:ln w="12700">
            <a:solidFill>
              <a:srgbClr val="EDE8DE"/>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2468880" y="822960"/>
            <a:ext cx="1965960" cy="54864"/>
          </a:xfrm>
          <a:prstGeom prst="rect">
            <a:avLst/>
          </a:prstGeom>
          <a:solidFill>
            <a:srgbClr val="E8B84B"/>
          </a:solidFill>
          <a:ln w="12700">
            <a:solidFill>
              <a:srgbClr val="E8B84B"/>
            </a:solidFill>
            <a:prstDash val="solid"/>
          </a:ln>
        </p:spPr>
      </p:sp>
      <p:sp>
        <p:nvSpPr>
          <p:cNvPr id="12" name="Text 10"/>
          <p:cNvSpPr/>
          <p:nvPr/>
        </p:nvSpPr>
        <p:spPr>
          <a:xfrm>
            <a:off x="2468880" y="896112"/>
            <a:ext cx="1965960" cy="365760"/>
          </a:xfrm>
          <a:prstGeom prst="rect">
            <a:avLst/>
          </a:prstGeom>
          <a:noFill/>
          <a:ln/>
        </p:spPr>
        <p:txBody>
          <a:bodyPr wrap="square" rtlCol="0" anchor="ctr"/>
          <a:lstStyle/>
          <a:p>
            <a:pPr algn="ctr" indent="0" marL="0">
              <a:buNone/>
            </a:pPr>
            <a:r>
              <a:rPr lang="en-US" sz="1200" b="1" dirty="0">
                <a:solidFill>
                  <a:srgbClr val="516985"/>
                </a:solidFill>
                <a:latin typeface="Calibri" pitchFamily="34" charset="0"/>
                <a:ea typeface="Calibri" pitchFamily="34" charset="-122"/>
                <a:cs typeface="Calibri" pitchFamily="34" charset="-120"/>
              </a:rPr>
              <a:t>MAE</a:t>
            </a:r>
            <a:endParaRPr lang="en-US" sz="1200" dirty="0"/>
          </a:p>
        </p:txBody>
      </p:sp>
      <p:sp>
        <p:nvSpPr>
          <p:cNvPr id="13" name="Text 11"/>
          <p:cNvSpPr/>
          <p:nvPr/>
        </p:nvSpPr>
        <p:spPr>
          <a:xfrm>
            <a:off x="2468880" y="1280160"/>
            <a:ext cx="1965960" cy="640080"/>
          </a:xfrm>
          <a:prstGeom prst="rect">
            <a:avLst/>
          </a:prstGeom>
          <a:noFill/>
          <a:ln/>
        </p:spPr>
        <p:txBody>
          <a:bodyPr wrap="square" rtlCol="0" anchor="ctr"/>
          <a:lstStyle/>
          <a:p>
            <a:pPr algn="ctr" indent="0" marL="0">
              <a:buNone/>
            </a:pPr>
            <a:r>
              <a:rPr lang="en-US" sz="3400" b="1" dirty="0">
                <a:solidFill>
                  <a:srgbClr val="E8B84B"/>
                </a:solidFill>
                <a:latin typeface="Calibri" pitchFamily="34" charset="0"/>
                <a:ea typeface="Calibri" pitchFamily="34" charset="-122"/>
                <a:cs typeface="Calibri" pitchFamily="34" charset="-120"/>
              </a:rPr>
              <a:t>0.8518</a:t>
            </a:r>
            <a:endParaRPr lang="en-US" sz="3400" dirty="0"/>
          </a:p>
        </p:txBody>
      </p:sp>
      <p:sp>
        <p:nvSpPr>
          <p:cNvPr id="14" name="Text 12"/>
          <p:cNvSpPr/>
          <p:nvPr/>
        </p:nvSpPr>
        <p:spPr>
          <a:xfrm>
            <a:off x="2468880" y="1938528"/>
            <a:ext cx="1965960" cy="274320"/>
          </a:xfrm>
          <a:prstGeom prst="rect">
            <a:avLst/>
          </a:prstGeom>
          <a:noFill/>
          <a:ln/>
        </p:spPr>
        <p:txBody>
          <a:bodyPr wrap="square" rtlCol="0" anchor="ctr"/>
          <a:lstStyle/>
          <a:p>
            <a:pPr algn="ctr" indent="0" marL="0">
              <a:buNone/>
            </a:pPr>
            <a:r>
              <a:rPr lang="en-US" sz="950" dirty="0">
                <a:solidFill>
                  <a:srgbClr val="8BA3C0"/>
                </a:solidFill>
                <a:latin typeface="Calibri" pitchFamily="34" charset="0"/>
                <a:ea typeface="Calibri" pitchFamily="34" charset="-122"/>
                <a:cs typeface="Calibri" pitchFamily="34" charset="-120"/>
              </a:rPr>
              <a:t>Target: ≤ 0.90</a:t>
            </a:r>
            <a:endParaRPr lang="en-US" sz="950" dirty="0"/>
          </a:p>
        </p:txBody>
      </p:sp>
      <p:sp>
        <p:nvSpPr>
          <p:cNvPr id="15" name="Text 13"/>
          <p:cNvSpPr/>
          <p:nvPr/>
        </p:nvSpPr>
        <p:spPr>
          <a:xfrm>
            <a:off x="2468880" y="2231136"/>
            <a:ext cx="1965960" cy="274320"/>
          </a:xfrm>
          <a:prstGeom prst="rect">
            <a:avLst/>
          </a:prstGeom>
          <a:noFill/>
          <a:ln/>
        </p:spPr>
        <p:txBody>
          <a:bodyPr wrap="square" rtlCol="0" anchor="ctr"/>
          <a:lstStyle/>
          <a:p>
            <a:pPr algn="ctr" indent="0" marL="0">
              <a:buNone/>
            </a:pPr>
            <a:r>
              <a:rPr lang="en-US" sz="1000" b="1" dirty="0">
                <a:solidFill>
                  <a:srgbClr val="E8B84B"/>
                </a:solidFill>
                <a:latin typeface="Calibri" pitchFamily="34" charset="0"/>
                <a:ea typeface="Calibri" pitchFamily="34" charset="-122"/>
                <a:cs typeface="Calibri" pitchFamily="34" charset="-120"/>
              </a:rPr>
              <a:t>✓  MET</a:t>
            </a:r>
            <a:endParaRPr lang="en-US" sz="1000" dirty="0"/>
          </a:p>
        </p:txBody>
      </p:sp>
      <p:sp>
        <p:nvSpPr>
          <p:cNvPr id="16" name="Shape 14"/>
          <p:cNvSpPr/>
          <p:nvPr/>
        </p:nvSpPr>
        <p:spPr>
          <a:xfrm>
            <a:off x="4617720" y="822960"/>
            <a:ext cx="1965960" cy="1828800"/>
          </a:xfrm>
          <a:prstGeom prst="rect">
            <a:avLst/>
          </a:prstGeom>
          <a:solidFill>
            <a:srgbClr val="FFFFFF"/>
          </a:solidFill>
          <a:ln w="12700">
            <a:solidFill>
              <a:srgbClr val="EDE8DE"/>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4617720" y="822960"/>
            <a:ext cx="1965960" cy="54864"/>
          </a:xfrm>
          <a:prstGeom prst="rect">
            <a:avLst/>
          </a:prstGeom>
          <a:solidFill>
            <a:srgbClr val="E8B84B"/>
          </a:solidFill>
          <a:ln w="12700">
            <a:solidFill>
              <a:srgbClr val="E8B84B"/>
            </a:solidFill>
            <a:prstDash val="solid"/>
          </a:ln>
        </p:spPr>
      </p:sp>
      <p:sp>
        <p:nvSpPr>
          <p:cNvPr id="18" name="Text 16"/>
          <p:cNvSpPr/>
          <p:nvPr/>
        </p:nvSpPr>
        <p:spPr>
          <a:xfrm>
            <a:off x="4617720" y="896112"/>
            <a:ext cx="1965960" cy="365760"/>
          </a:xfrm>
          <a:prstGeom prst="rect">
            <a:avLst/>
          </a:prstGeom>
          <a:noFill/>
          <a:ln/>
        </p:spPr>
        <p:txBody>
          <a:bodyPr wrap="square" rtlCol="0" anchor="ctr"/>
          <a:lstStyle/>
          <a:p>
            <a:pPr algn="ctr" indent="0" marL="0">
              <a:buNone/>
            </a:pPr>
            <a:r>
              <a:rPr lang="en-US" sz="1200" b="1" dirty="0">
                <a:solidFill>
                  <a:srgbClr val="516985"/>
                </a:solidFill>
                <a:latin typeface="Calibri" pitchFamily="34" charset="0"/>
                <a:ea typeface="Calibri" pitchFamily="34" charset="-122"/>
                <a:cs typeface="Calibri" pitchFamily="34" charset="-120"/>
              </a:rPr>
              <a:t>Precision@10</a:t>
            </a:r>
            <a:endParaRPr lang="en-US" sz="1200" dirty="0"/>
          </a:p>
        </p:txBody>
      </p:sp>
      <p:sp>
        <p:nvSpPr>
          <p:cNvPr id="19" name="Text 17"/>
          <p:cNvSpPr/>
          <p:nvPr/>
        </p:nvSpPr>
        <p:spPr>
          <a:xfrm>
            <a:off x="4617720" y="1280160"/>
            <a:ext cx="1965960" cy="640080"/>
          </a:xfrm>
          <a:prstGeom prst="rect">
            <a:avLst/>
          </a:prstGeom>
          <a:noFill/>
          <a:ln/>
        </p:spPr>
        <p:txBody>
          <a:bodyPr wrap="square" rtlCol="0" anchor="ctr"/>
          <a:lstStyle/>
          <a:p>
            <a:pPr algn="ctr" indent="0" marL="0">
              <a:buNone/>
            </a:pPr>
            <a:r>
              <a:rPr lang="en-US" sz="3400" b="1" dirty="0">
                <a:solidFill>
                  <a:srgbClr val="E8B84B"/>
                </a:solidFill>
                <a:latin typeface="Calibri" pitchFamily="34" charset="0"/>
                <a:ea typeface="Calibri" pitchFamily="34" charset="-122"/>
                <a:cs typeface="Calibri" pitchFamily="34" charset="-120"/>
              </a:rPr>
              <a:t>0.5040</a:t>
            </a:r>
            <a:endParaRPr lang="en-US" sz="3400" dirty="0"/>
          </a:p>
        </p:txBody>
      </p:sp>
      <p:sp>
        <p:nvSpPr>
          <p:cNvPr id="20" name="Text 18"/>
          <p:cNvSpPr/>
          <p:nvPr/>
        </p:nvSpPr>
        <p:spPr>
          <a:xfrm>
            <a:off x="4617720" y="1938528"/>
            <a:ext cx="1965960" cy="274320"/>
          </a:xfrm>
          <a:prstGeom prst="rect">
            <a:avLst/>
          </a:prstGeom>
          <a:noFill/>
          <a:ln/>
        </p:spPr>
        <p:txBody>
          <a:bodyPr wrap="square" rtlCol="0" anchor="ctr"/>
          <a:lstStyle/>
          <a:p>
            <a:pPr algn="ctr" indent="0" marL="0">
              <a:buNone/>
            </a:pPr>
            <a:r>
              <a:rPr lang="en-US" sz="950" dirty="0">
                <a:solidFill>
                  <a:srgbClr val="8BA3C0"/>
                </a:solidFill>
                <a:latin typeface="Calibri" pitchFamily="34" charset="0"/>
                <a:ea typeface="Calibri" pitchFamily="34" charset="-122"/>
                <a:cs typeface="Calibri" pitchFamily="34" charset="-120"/>
              </a:rPr>
              <a:t>Target: ≥ 0.50</a:t>
            </a:r>
            <a:endParaRPr lang="en-US" sz="950" dirty="0"/>
          </a:p>
        </p:txBody>
      </p:sp>
      <p:sp>
        <p:nvSpPr>
          <p:cNvPr id="21" name="Text 19"/>
          <p:cNvSpPr/>
          <p:nvPr/>
        </p:nvSpPr>
        <p:spPr>
          <a:xfrm>
            <a:off x="4617720" y="2231136"/>
            <a:ext cx="1965960" cy="274320"/>
          </a:xfrm>
          <a:prstGeom prst="rect">
            <a:avLst/>
          </a:prstGeom>
          <a:noFill/>
          <a:ln/>
        </p:spPr>
        <p:txBody>
          <a:bodyPr wrap="square" rtlCol="0" anchor="ctr"/>
          <a:lstStyle/>
          <a:p>
            <a:pPr algn="ctr" indent="0" marL="0">
              <a:buNone/>
            </a:pPr>
            <a:r>
              <a:rPr lang="en-US" sz="1000" b="1" dirty="0">
                <a:solidFill>
                  <a:srgbClr val="E8B84B"/>
                </a:solidFill>
                <a:latin typeface="Calibri" pitchFamily="34" charset="0"/>
                <a:ea typeface="Calibri" pitchFamily="34" charset="-122"/>
                <a:cs typeface="Calibri" pitchFamily="34" charset="-120"/>
              </a:rPr>
              <a:t>✓  MET</a:t>
            </a:r>
            <a:endParaRPr lang="en-US" sz="1000" dirty="0"/>
          </a:p>
        </p:txBody>
      </p:sp>
      <p:sp>
        <p:nvSpPr>
          <p:cNvPr id="22" name="Shape 20"/>
          <p:cNvSpPr/>
          <p:nvPr/>
        </p:nvSpPr>
        <p:spPr>
          <a:xfrm>
            <a:off x="6766560" y="822960"/>
            <a:ext cx="1965960" cy="1828800"/>
          </a:xfrm>
          <a:prstGeom prst="rect">
            <a:avLst/>
          </a:prstGeom>
          <a:solidFill>
            <a:srgbClr val="FFFFFF"/>
          </a:solidFill>
          <a:ln w="12700">
            <a:solidFill>
              <a:srgbClr val="EDE8DE"/>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6766560" y="822960"/>
            <a:ext cx="1965960" cy="54864"/>
          </a:xfrm>
          <a:prstGeom prst="rect">
            <a:avLst/>
          </a:prstGeom>
          <a:solidFill>
            <a:srgbClr val="E8B84B"/>
          </a:solidFill>
          <a:ln w="12700">
            <a:solidFill>
              <a:srgbClr val="E8B84B"/>
            </a:solidFill>
            <a:prstDash val="solid"/>
          </a:ln>
        </p:spPr>
      </p:sp>
      <p:sp>
        <p:nvSpPr>
          <p:cNvPr id="24" name="Text 22"/>
          <p:cNvSpPr/>
          <p:nvPr/>
        </p:nvSpPr>
        <p:spPr>
          <a:xfrm>
            <a:off x="6766560" y="896112"/>
            <a:ext cx="1965960" cy="365760"/>
          </a:xfrm>
          <a:prstGeom prst="rect">
            <a:avLst/>
          </a:prstGeom>
          <a:noFill/>
          <a:ln/>
        </p:spPr>
        <p:txBody>
          <a:bodyPr wrap="square" rtlCol="0" anchor="ctr"/>
          <a:lstStyle/>
          <a:p>
            <a:pPr algn="ctr" indent="0" marL="0">
              <a:buNone/>
            </a:pPr>
            <a:r>
              <a:rPr lang="en-US" sz="1200" b="1" dirty="0">
                <a:solidFill>
                  <a:srgbClr val="516985"/>
                </a:solidFill>
                <a:latin typeface="Calibri" pitchFamily="34" charset="0"/>
                <a:ea typeface="Calibri" pitchFamily="34" charset="-122"/>
                <a:cs typeface="Calibri" pitchFamily="34" charset="-120"/>
              </a:rPr>
              <a:t>Recall@10</a:t>
            </a:r>
            <a:endParaRPr lang="en-US" sz="1200" dirty="0"/>
          </a:p>
        </p:txBody>
      </p:sp>
      <p:sp>
        <p:nvSpPr>
          <p:cNvPr id="25" name="Text 23"/>
          <p:cNvSpPr/>
          <p:nvPr/>
        </p:nvSpPr>
        <p:spPr>
          <a:xfrm>
            <a:off x="6766560" y="1280160"/>
            <a:ext cx="1965960" cy="640080"/>
          </a:xfrm>
          <a:prstGeom prst="rect">
            <a:avLst/>
          </a:prstGeom>
          <a:noFill/>
          <a:ln/>
        </p:spPr>
        <p:txBody>
          <a:bodyPr wrap="square" rtlCol="0" anchor="ctr"/>
          <a:lstStyle/>
          <a:p>
            <a:pPr algn="ctr" indent="0" marL="0">
              <a:buNone/>
            </a:pPr>
            <a:r>
              <a:rPr lang="en-US" sz="3400" b="1" dirty="0">
                <a:solidFill>
                  <a:srgbClr val="E8B84B"/>
                </a:solidFill>
                <a:latin typeface="Calibri" pitchFamily="34" charset="0"/>
                <a:ea typeface="Calibri" pitchFamily="34" charset="-122"/>
                <a:cs typeface="Calibri" pitchFamily="34" charset="-120"/>
              </a:rPr>
              <a:t>0.4901</a:t>
            </a:r>
            <a:endParaRPr lang="en-US" sz="3400" dirty="0"/>
          </a:p>
        </p:txBody>
      </p:sp>
      <p:sp>
        <p:nvSpPr>
          <p:cNvPr id="26" name="Text 24"/>
          <p:cNvSpPr/>
          <p:nvPr/>
        </p:nvSpPr>
        <p:spPr>
          <a:xfrm>
            <a:off x="6766560" y="1938528"/>
            <a:ext cx="1965960" cy="274320"/>
          </a:xfrm>
          <a:prstGeom prst="rect">
            <a:avLst/>
          </a:prstGeom>
          <a:noFill/>
          <a:ln/>
        </p:spPr>
        <p:txBody>
          <a:bodyPr wrap="square" rtlCol="0" anchor="ctr"/>
          <a:lstStyle/>
          <a:p>
            <a:pPr algn="ctr" indent="0" marL="0">
              <a:buNone/>
            </a:pPr>
            <a:r>
              <a:rPr lang="en-US" sz="950" dirty="0">
                <a:solidFill>
                  <a:srgbClr val="8BA3C0"/>
                </a:solidFill>
                <a:latin typeface="Calibri" pitchFamily="34" charset="0"/>
                <a:ea typeface="Calibri" pitchFamily="34" charset="-122"/>
                <a:cs typeface="Calibri" pitchFamily="34" charset="-120"/>
              </a:rPr>
              <a:t>Target: ≥ 0.45</a:t>
            </a:r>
            <a:endParaRPr lang="en-US" sz="950" dirty="0"/>
          </a:p>
        </p:txBody>
      </p:sp>
      <p:sp>
        <p:nvSpPr>
          <p:cNvPr id="27" name="Text 25"/>
          <p:cNvSpPr/>
          <p:nvPr/>
        </p:nvSpPr>
        <p:spPr>
          <a:xfrm>
            <a:off x="6766560" y="2231136"/>
            <a:ext cx="1965960" cy="274320"/>
          </a:xfrm>
          <a:prstGeom prst="rect">
            <a:avLst/>
          </a:prstGeom>
          <a:noFill/>
          <a:ln/>
        </p:spPr>
        <p:txBody>
          <a:bodyPr wrap="square" rtlCol="0" anchor="ctr"/>
          <a:lstStyle/>
          <a:p>
            <a:pPr algn="ctr" indent="0" marL="0">
              <a:buNone/>
            </a:pPr>
            <a:r>
              <a:rPr lang="en-US" sz="1000" b="1" dirty="0">
                <a:solidFill>
                  <a:srgbClr val="E8B84B"/>
                </a:solidFill>
                <a:latin typeface="Calibri" pitchFamily="34" charset="0"/>
                <a:ea typeface="Calibri" pitchFamily="34" charset="-122"/>
                <a:cs typeface="Calibri" pitchFamily="34" charset="-120"/>
              </a:rPr>
              <a:t>✓  MET</a:t>
            </a:r>
            <a:endParaRPr lang="en-US" sz="1000" dirty="0"/>
          </a:p>
        </p:txBody>
      </p:sp>
      <p:sp>
        <p:nvSpPr>
          <p:cNvPr id="28" name="Text 26"/>
          <p:cNvSpPr/>
          <p:nvPr/>
        </p:nvSpPr>
        <p:spPr>
          <a:xfrm>
            <a:off x="320040" y="2834640"/>
            <a:ext cx="4937760" cy="347472"/>
          </a:xfrm>
          <a:prstGeom prst="rect">
            <a:avLst/>
          </a:prstGeom>
          <a:noFill/>
          <a:ln/>
        </p:spPr>
        <p:txBody>
          <a:bodyPr wrap="square" rtlCol="0" anchor="ctr"/>
          <a:lstStyle/>
          <a:p>
            <a:pPr indent="0" marL="0">
              <a:buNone/>
            </a:pPr>
            <a:r>
              <a:rPr lang="en-US" sz="1100" b="1" dirty="0">
                <a:solidFill>
                  <a:srgbClr val="516985"/>
                </a:solidFill>
                <a:latin typeface="Calibri" pitchFamily="34" charset="0"/>
                <a:ea typeface="Calibri" pitchFamily="34" charset="-122"/>
                <a:cs typeface="Calibri" pitchFamily="34" charset="-120"/>
              </a:rPr>
              <a:t>Hyperparameter Tuning — K (Neighbours) vs RMSE</a:t>
            </a:r>
            <a:endParaRPr lang="en-US" sz="1100" dirty="0"/>
          </a:p>
        </p:txBody>
      </p:sp>
      <p:sp>
        <p:nvSpPr>
          <p:cNvPr id="30" name="Shape 27"/>
          <p:cNvSpPr/>
          <p:nvPr/>
        </p:nvSpPr>
        <p:spPr>
          <a:xfrm>
            <a:off x="5486400" y="2834640"/>
            <a:ext cx="3383280" cy="2148840"/>
          </a:xfrm>
          <a:prstGeom prst="rect">
            <a:avLst/>
          </a:prstGeom>
          <a:solidFill>
            <a:srgbClr val="FFFFFF"/>
          </a:solidFill>
          <a:ln w="12700">
            <a:solidFill>
              <a:srgbClr val="EDE8DE"/>
            </a:solidFill>
            <a:prstDash val="solid"/>
          </a:ln>
          <a:effectLst>
            <a:outerShdw sx="100000" sy="100000" kx="0" ky="0" algn="bl" rotWithShape="0" blurRad="101600" dist="38100" dir="8100000">
              <a:srgbClr val="000000">
                <a:alpha val="12000"/>
              </a:srgbClr>
            </a:outerShdw>
          </a:effectLst>
        </p:spPr>
      </p:sp>
      <p:sp>
        <p:nvSpPr>
          <p:cNvPr id="31" name="Text 28"/>
          <p:cNvSpPr/>
          <p:nvPr/>
        </p:nvSpPr>
        <p:spPr>
          <a:xfrm>
            <a:off x="5623560" y="2907792"/>
            <a:ext cx="3108960" cy="320040"/>
          </a:xfrm>
          <a:prstGeom prst="rect">
            <a:avLst/>
          </a:prstGeom>
          <a:noFill/>
          <a:ln/>
        </p:spPr>
        <p:txBody>
          <a:bodyPr wrap="square" rtlCol="0" anchor="ctr"/>
          <a:lstStyle/>
          <a:p>
            <a:pPr indent="0" marL="0">
              <a:buNone/>
            </a:pPr>
            <a:r>
              <a:rPr lang="en-US" sz="1100" b="1" dirty="0">
                <a:solidFill>
                  <a:srgbClr val="516985"/>
                </a:solidFill>
                <a:latin typeface="Calibri" pitchFamily="34" charset="0"/>
                <a:ea typeface="Calibri" pitchFamily="34" charset="-122"/>
                <a:cs typeface="Calibri" pitchFamily="34" charset="-120"/>
              </a:rPr>
              <a:t>Evaluation Approach</a:t>
            </a:r>
            <a:endParaRPr lang="en-US" sz="1100" dirty="0"/>
          </a:p>
        </p:txBody>
      </p:sp>
      <p:sp>
        <p:nvSpPr>
          <p:cNvPr id="32" name="Text 29"/>
          <p:cNvSpPr/>
          <p:nvPr/>
        </p:nvSpPr>
        <p:spPr>
          <a:xfrm>
            <a:off x="5623560" y="3273552"/>
            <a:ext cx="3108960" cy="530352"/>
          </a:xfrm>
          <a:prstGeom prst="rect">
            <a:avLst/>
          </a:prstGeom>
          <a:noFill/>
          <a:ln/>
        </p:spPr>
        <p:txBody>
          <a:bodyPr wrap="square" rtlCol="0" anchor="ctr"/>
          <a:lstStyle/>
          <a:p>
            <a:pPr marL="342900" indent="-342900">
              <a:buSzPct val="100000"/>
              <a:buChar char="•"/>
            </a:pPr>
            <a:r>
              <a:rPr lang="en-US" sz="950" dirty="0">
                <a:solidFill>
                  <a:srgbClr val="8BA3C0"/>
                </a:solidFill>
                <a:latin typeface="Calibri" pitchFamily="34" charset="0"/>
                <a:ea typeface="Calibri" pitchFamily="34" charset="-122"/>
                <a:cs typeface="Calibri" pitchFamily="34" charset="-120"/>
              </a:rPr>
              <a:t>RMSE/MAE: Ratings hidden for active users (≥20 ratings); predictions generated from remaining data</a:t>
            </a:r>
            <a:endParaRPr lang="en-US" sz="950" dirty="0"/>
          </a:p>
        </p:txBody>
      </p:sp>
      <p:sp>
        <p:nvSpPr>
          <p:cNvPr id="33" name="Text 30"/>
          <p:cNvSpPr/>
          <p:nvPr/>
        </p:nvSpPr>
        <p:spPr>
          <a:xfrm>
            <a:off x="5623560" y="3822192"/>
            <a:ext cx="3108960" cy="530352"/>
          </a:xfrm>
          <a:prstGeom prst="rect">
            <a:avLst/>
          </a:prstGeom>
          <a:noFill/>
          <a:ln/>
        </p:spPr>
        <p:txBody>
          <a:bodyPr wrap="square" rtlCol="0" anchor="ctr"/>
          <a:lstStyle/>
          <a:p>
            <a:pPr marL="342900" indent="-342900">
              <a:buSzPct val="100000"/>
              <a:buChar char="•"/>
            </a:pPr>
            <a:r>
              <a:rPr lang="en-US" sz="950" dirty="0">
                <a:solidFill>
                  <a:srgbClr val="8BA3C0"/>
                </a:solidFill>
                <a:latin typeface="Calibri" pitchFamily="34" charset="0"/>
                <a:ea typeface="Calibri" pitchFamily="34" charset="-122"/>
                <a:cs typeface="Calibri" pitchFamily="34" charset="-120"/>
              </a:rPr>
              <a:t>Precision/Recall: 20% held-out per user; movies rated ≥4 treated as ground truth; top-K recommendations checked against set</a:t>
            </a:r>
            <a:endParaRPr lang="en-US" sz="950" dirty="0"/>
          </a:p>
        </p:txBody>
      </p:sp>
      <p:sp>
        <p:nvSpPr>
          <p:cNvPr id="34" name="Text 31"/>
          <p:cNvSpPr/>
          <p:nvPr/>
        </p:nvSpPr>
        <p:spPr>
          <a:xfrm>
            <a:off x="5623560" y="4370832"/>
            <a:ext cx="3108960" cy="530352"/>
          </a:xfrm>
          <a:prstGeom prst="rect">
            <a:avLst/>
          </a:prstGeom>
          <a:noFill/>
          <a:ln/>
        </p:spPr>
        <p:txBody>
          <a:bodyPr wrap="square" rtlCol="0" anchor="ctr"/>
          <a:lstStyle/>
          <a:p>
            <a:pPr marL="342900" indent="-342900">
              <a:buSzPct val="100000"/>
              <a:buChar char="•"/>
            </a:pPr>
            <a:r>
              <a:rPr lang="en-US" sz="950" dirty="0">
                <a:solidFill>
                  <a:srgbClr val="8BA3C0"/>
                </a:solidFill>
                <a:latin typeface="Calibri" pitchFamily="34" charset="0"/>
                <a:ea typeface="Calibri" pitchFamily="34" charset="-122"/>
                <a:cs typeface="Calibri" pitchFamily="34" charset="-120"/>
              </a:rPr>
              <a:t>Best K=50 selected from grid search over K ∈ {5,10,20,30,50} on first 30 active users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49A2E"/>
          </a:solidFill>
          <a:ln w="12700">
            <a:solidFill>
              <a:srgbClr val="C49A2E"/>
            </a:solidFill>
            <a:prstDash val="solid"/>
          </a:ln>
        </p:spPr>
      </p:sp>
      <p:sp>
        <p:nvSpPr>
          <p:cNvPr id="3" name="Text 1"/>
          <p:cNvSpPr/>
          <p:nvPr/>
        </p:nvSpPr>
        <p:spPr>
          <a:xfrm>
            <a:off x="365760" y="0"/>
            <a:ext cx="8229600" cy="685800"/>
          </a:xfrm>
          <a:prstGeom prst="rect">
            <a:avLst/>
          </a:prstGeom>
          <a:noFill/>
          <a:ln/>
        </p:spPr>
        <p:txBody>
          <a:bodyPr wrap="square" rtlCol="0" anchor="ctr"/>
          <a:lstStyle/>
          <a:p>
            <a:pPr indent="0" marL="0">
              <a:buNone/>
            </a:pPr>
            <a:r>
              <a:rPr lang="en-US" sz="1400" b="1" spc="300" kern="0" dirty="0">
                <a:solidFill>
                  <a:srgbClr val="FFFFFF"/>
                </a:solidFill>
                <a:latin typeface="Calibri" pitchFamily="34" charset="0"/>
                <a:ea typeface="Calibri" pitchFamily="34" charset="-122"/>
                <a:cs typeface="Calibri" pitchFamily="34" charset="-120"/>
              </a:rPr>
              <a:t>APPLICATION FEATURES  —  Streamlit Frontend</a:t>
            </a:r>
            <a:endParaRPr lang="en-US" sz="1400" dirty="0"/>
          </a:p>
        </p:txBody>
      </p:sp>
      <p:sp>
        <p:nvSpPr>
          <p:cNvPr id="4" name="Shape 2"/>
          <p:cNvSpPr/>
          <p:nvPr/>
        </p:nvSpPr>
        <p:spPr>
          <a:xfrm>
            <a:off x="320040" y="822960"/>
            <a:ext cx="4160520" cy="3977640"/>
          </a:xfrm>
          <a:prstGeom prst="rect">
            <a:avLst/>
          </a:prstGeom>
          <a:solidFill>
            <a:srgbClr val="0A1628"/>
          </a:solidFill>
          <a:ln w="12700">
            <a:solidFill>
              <a:srgbClr val="E8B84B"/>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20040" y="822960"/>
            <a:ext cx="4160520" cy="685800"/>
          </a:xfrm>
          <a:prstGeom prst="rect">
            <a:avLst/>
          </a:prstGeom>
          <a:solidFill>
            <a:srgbClr val="E8B84B"/>
          </a:solidFill>
          <a:ln w="12700">
            <a:solidFill>
              <a:srgbClr val="E8B84B"/>
            </a:solidFill>
            <a:prstDash val="solid"/>
          </a:ln>
        </p:spPr>
      </p:sp>
      <p:sp>
        <p:nvSpPr>
          <p:cNvPr id="6" name="Text 4"/>
          <p:cNvSpPr/>
          <p:nvPr/>
        </p:nvSpPr>
        <p:spPr>
          <a:xfrm>
            <a:off x="320040" y="822960"/>
            <a:ext cx="4160520" cy="274320"/>
          </a:xfrm>
          <a:prstGeom prst="rect">
            <a:avLst/>
          </a:prstGeom>
          <a:noFill/>
          <a:ln/>
        </p:spPr>
        <p:txBody>
          <a:bodyPr wrap="square" rtlCol="0" anchor="ctr"/>
          <a:lstStyle/>
          <a:p>
            <a:pPr algn="ctr" indent="0" marL="0">
              <a:buNone/>
            </a:pPr>
            <a:r>
              <a:rPr lang="en-US" sz="900" b="1" spc="300" kern="0" dirty="0">
                <a:solidFill>
                  <a:srgbClr val="FFFFFF"/>
                </a:solidFill>
                <a:latin typeface="Calibri" pitchFamily="34" charset="0"/>
                <a:ea typeface="Calibri" pitchFamily="34" charset="-122"/>
                <a:cs typeface="Calibri" pitchFamily="34" charset="-120"/>
              </a:rPr>
              <a:t>Mode 1</a:t>
            </a:r>
            <a:endParaRPr lang="en-US" sz="900" dirty="0"/>
          </a:p>
        </p:txBody>
      </p:sp>
      <p:sp>
        <p:nvSpPr>
          <p:cNvPr id="7" name="Text 5"/>
          <p:cNvSpPr/>
          <p:nvPr/>
        </p:nvSpPr>
        <p:spPr>
          <a:xfrm>
            <a:off x="320040" y="1078992"/>
            <a:ext cx="416052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Get Recommendations</a:t>
            </a:r>
            <a:endParaRPr lang="en-US" sz="1400" dirty="0"/>
          </a:p>
        </p:txBody>
      </p:sp>
      <p:sp>
        <p:nvSpPr>
          <p:cNvPr id="8" name="Text 6"/>
          <p:cNvSpPr/>
          <p:nvPr/>
        </p:nvSpPr>
        <p:spPr>
          <a:xfrm>
            <a:off x="320040" y="1389888"/>
            <a:ext cx="4160520" cy="228600"/>
          </a:xfrm>
          <a:prstGeom prst="rect">
            <a:avLst/>
          </a:prstGeom>
          <a:noFill/>
          <a:ln/>
        </p:spPr>
        <p:txBody>
          <a:bodyPr wrap="square" rtlCol="0" anchor="ctr"/>
          <a:lstStyle/>
          <a:p>
            <a:pPr algn="ctr" indent="0" marL="0">
              <a:buNone/>
            </a:pPr>
            <a:r>
              <a:rPr lang="en-US" sz="950" i="1" dirty="0">
                <a:solidFill>
                  <a:srgbClr val="FDF3D8"/>
                </a:solidFill>
                <a:latin typeface="Calibri" pitchFamily="34" charset="0"/>
                <a:ea typeface="Calibri" pitchFamily="34" charset="-122"/>
                <a:cs typeface="Calibri" pitchFamily="34" charset="-120"/>
              </a:rPr>
              <a:t>Personalised hybrid output</a:t>
            </a:r>
            <a:endParaRPr lang="en-US" sz="950" dirty="0"/>
          </a:p>
        </p:txBody>
      </p:sp>
      <p:sp>
        <p:nvSpPr>
          <p:cNvPr id="9" name="Shape 7"/>
          <p:cNvSpPr/>
          <p:nvPr/>
        </p:nvSpPr>
        <p:spPr>
          <a:xfrm>
            <a:off x="502920" y="1737360"/>
            <a:ext cx="3794760" cy="548640"/>
          </a:xfrm>
          <a:prstGeom prst="rect">
            <a:avLst/>
          </a:prstGeom>
          <a:solidFill>
            <a:srgbClr val="0A1628"/>
          </a:solidFill>
          <a:ln w="12700">
            <a:solidFill>
              <a:srgbClr val="0F1F3D"/>
            </a:solidFill>
            <a:prstDash val="solid"/>
          </a:ln>
        </p:spPr>
      </p:sp>
      <p:sp>
        <p:nvSpPr>
          <p:cNvPr id="10" name="Shape 8"/>
          <p:cNvSpPr/>
          <p:nvPr/>
        </p:nvSpPr>
        <p:spPr>
          <a:xfrm>
            <a:off x="502920" y="1737360"/>
            <a:ext cx="45720" cy="548640"/>
          </a:xfrm>
          <a:prstGeom prst="rect">
            <a:avLst/>
          </a:prstGeom>
          <a:solidFill>
            <a:srgbClr val="E8B84B"/>
          </a:solidFill>
          <a:ln w="12700">
            <a:solidFill>
              <a:srgbClr val="E8B84B"/>
            </a:solidFill>
            <a:prstDash val="solid"/>
          </a:ln>
        </p:spPr>
      </p:sp>
      <p:sp>
        <p:nvSpPr>
          <p:cNvPr id="11" name="Text 9"/>
          <p:cNvSpPr/>
          <p:nvPr/>
        </p:nvSpPr>
        <p:spPr>
          <a:xfrm>
            <a:off x="640080" y="1764792"/>
            <a:ext cx="3611880" cy="493776"/>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User enters their User ID (1–943)</a:t>
            </a:r>
            <a:endParaRPr lang="en-US" sz="1000" dirty="0"/>
          </a:p>
        </p:txBody>
      </p:sp>
      <p:sp>
        <p:nvSpPr>
          <p:cNvPr id="12" name="Shape 10"/>
          <p:cNvSpPr/>
          <p:nvPr/>
        </p:nvSpPr>
        <p:spPr>
          <a:xfrm>
            <a:off x="502920" y="2359152"/>
            <a:ext cx="3794760" cy="548640"/>
          </a:xfrm>
          <a:prstGeom prst="rect">
            <a:avLst/>
          </a:prstGeom>
          <a:solidFill>
            <a:srgbClr val="0A1628"/>
          </a:solidFill>
          <a:ln w="12700">
            <a:solidFill>
              <a:srgbClr val="0F1F3D"/>
            </a:solidFill>
            <a:prstDash val="solid"/>
          </a:ln>
        </p:spPr>
      </p:sp>
      <p:sp>
        <p:nvSpPr>
          <p:cNvPr id="13" name="Shape 11"/>
          <p:cNvSpPr/>
          <p:nvPr/>
        </p:nvSpPr>
        <p:spPr>
          <a:xfrm>
            <a:off x="502920" y="2359152"/>
            <a:ext cx="45720" cy="548640"/>
          </a:xfrm>
          <a:prstGeom prst="rect">
            <a:avLst/>
          </a:prstGeom>
          <a:solidFill>
            <a:srgbClr val="E8B84B"/>
          </a:solidFill>
          <a:ln w="12700">
            <a:solidFill>
              <a:srgbClr val="E8B84B"/>
            </a:solidFill>
            <a:prstDash val="solid"/>
          </a:ln>
        </p:spPr>
      </p:sp>
      <p:sp>
        <p:nvSpPr>
          <p:cNvPr id="14" name="Text 12"/>
          <p:cNvSpPr/>
          <p:nvPr/>
        </p:nvSpPr>
        <p:spPr>
          <a:xfrm>
            <a:off x="640080" y="2386584"/>
            <a:ext cx="3611880" cy="493776"/>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Selects a movie they like from 1,682 titles</a:t>
            </a:r>
            <a:endParaRPr lang="en-US" sz="1000" dirty="0"/>
          </a:p>
        </p:txBody>
      </p:sp>
      <p:sp>
        <p:nvSpPr>
          <p:cNvPr id="15" name="Shape 13"/>
          <p:cNvSpPr/>
          <p:nvPr/>
        </p:nvSpPr>
        <p:spPr>
          <a:xfrm>
            <a:off x="502920" y="2980944"/>
            <a:ext cx="3794760" cy="548640"/>
          </a:xfrm>
          <a:prstGeom prst="rect">
            <a:avLst/>
          </a:prstGeom>
          <a:solidFill>
            <a:srgbClr val="0A1628"/>
          </a:solidFill>
          <a:ln w="12700">
            <a:solidFill>
              <a:srgbClr val="0F1F3D"/>
            </a:solidFill>
            <a:prstDash val="solid"/>
          </a:ln>
        </p:spPr>
      </p:sp>
      <p:sp>
        <p:nvSpPr>
          <p:cNvPr id="16" name="Shape 14"/>
          <p:cNvSpPr/>
          <p:nvPr/>
        </p:nvSpPr>
        <p:spPr>
          <a:xfrm>
            <a:off x="502920" y="2980944"/>
            <a:ext cx="45720" cy="548640"/>
          </a:xfrm>
          <a:prstGeom prst="rect">
            <a:avLst/>
          </a:prstGeom>
          <a:solidFill>
            <a:srgbClr val="E8B84B"/>
          </a:solidFill>
          <a:ln w="12700">
            <a:solidFill>
              <a:srgbClr val="E8B84B"/>
            </a:solidFill>
            <a:prstDash val="solid"/>
          </a:ln>
        </p:spPr>
      </p:sp>
      <p:sp>
        <p:nvSpPr>
          <p:cNvPr id="17" name="Text 15"/>
          <p:cNvSpPr/>
          <p:nvPr/>
        </p:nvSpPr>
        <p:spPr>
          <a:xfrm>
            <a:off x="640080" y="3008376"/>
            <a:ext cx="3611880" cy="493776"/>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Hybrid model (60% CF + 40% Content) runs</a:t>
            </a:r>
            <a:endParaRPr lang="en-US" sz="1000" dirty="0"/>
          </a:p>
        </p:txBody>
      </p:sp>
      <p:sp>
        <p:nvSpPr>
          <p:cNvPr id="18" name="Shape 16"/>
          <p:cNvSpPr/>
          <p:nvPr/>
        </p:nvSpPr>
        <p:spPr>
          <a:xfrm>
            <a:off x="502920" y="3602736"/>
            <a:ext cx="3794760" cy="548640"/>
          </a:xfrm>
          <a:prstGeom prst="rect">
            <a:avLst/>
          </a:prstGeom>
          <a:solidFill>
            <a:srgbClr val="0A1628"/>
          </a:solidFill>
          <a:ln w="12700">
            <a:solidFill>
              <a:srgbClr val="0F1F3D"/>
            </a:solidFill>
            <a:prstDash val="solid"/>
          </a:ln>
        </p:spPr>
      </p:sp>
      <p:sp>
        <p:nvSpPr>
          <p:cNvPr id="19" name="Shape 17"/>
          <p:cNvSpPr/>
          <p:nvPr/>
        </p:nvSpPr>
        <p:spPr>
          <a:xfrm>
            <a:off x="502920" y="3602736"/>
            <a:ext cx="45720" cy="548640"/>
          </a:xfrm>
          <a:prstGeom prst="rect">
            <a:avLst/>
          </a:prstGeom>
          <a:solidFill>
            <a:srgbClr val="E8B84B"/>
          </a:solidFill>
          <a:ln w="12700">
            <a:solidFill>
              <a:srgbClr val="E8B84B"/>
            </a:solidFill>
            <a:prstDash val="solid"/>
          </a:ln>
        </p:spPr>
      </p:sp>
      <p:sp>
        <p:nvSpPr>
          <p:cNvPr id="20" name="Text 18"/>
          <p:cNvSpPr/>
          <p:nvPr/>
        </p:nvSpPr>
        <p:spPr>
          <a:xfrm>
            <a:off x="640080" y="3630168"/>
            <a:ext cx="3611880" cy="493776"/>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Returns 10 unseen movies the user will likely enjoy</a:t>
            </a:r>
            <a:endParaRPr lang="en-US" sz="1000" dirty="0"/>
          </a:p>
        </p:txBody>
      </p:sp>
      <p:sp>
        <p:nvSpPr>
          <p:cNvPr id="21" name="Shape 19"/>
          <p:cNvSpPr/>
          <p:nvPr/>
        </p:nvSpPr>
        <p:spPr>
          <a:xfrm>
            <a:off x="502920" y="4224528"/>
            <a:ext cx="3794760" cy="548640"/>
          </a:xfrm>
          <a:prstGeom prst="rect">
            <a:avLst/>
          </a:prstGeom>
          <a:solidFill>
            <a:srgbClr val="0A1628"/>
          </a:solidFill>
          <a:ln w="12700">
            <a:solidFill>
              <a:srgbClr val="0F1F3D"/>
            </a:solidFill>
            <a:prstDash val="solid"/>
          </a:ln>
        </p:spPr>
      </p:sp>
      <p:sp>
        <p:nvSpPr>
          <p:cNvPr id="22" name="Shape 20"/>
          <p:cNvSpPr/>
          <p:nvPr/>
        </p:nvSpPr>
        <p:spPr>
          <a:xfrm>
            <a:off x="502920" y="4224528"/>
            <a:ext cx="45720" cy="548640"/>
          </a:xfrm>
          <a:prstGeom prst="rect">
            <a:avLst/>
          </a:prstGeom>
          <a:solidFill>
            <a:srgbClr val="E8B84B"/>
          </a:solidFill>
          <a:ln w="12700">
            <a:solidFill>
              <a:srgbClr val="E8B84B"/>
            </a:solidFill>
            <a:prstDash val="solid"/>
          </a:ln>
        </p:spPr>
      </p:sp>
      <p:sp>
        <p:nvSpPr>
          <p:cNvPr id="23" name="Text 21"/>
          <p:cNvSpPr/>
          <p:nvPr/>
        </p:nvSpPr>
        <p:spPr>
          <a:xfrm>
            <a:off x="640080" y="4251960"/>
            <a:ext cx="3611880" cy="493776"/>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Results shown as poster grid with TMDB star ratings</a:t>
            </a:r>
            <a:endParaRPr lang="en-US" sz="1000" dirty="0"/>
          </a:p>
        </p:txBody>
      </p:sp>
      <p:sp>
        <p:nvSpPr>
          <p:cNvPr id="24" name="Shape 22"/>
          <p:cNvSpPr/>
          <p:nvPr/>
        </p:nvSpPr>
        <p:spPr>
          <a:xfrm>
            <a:off x="4754880" y="822960"/>
            <a:ext cx="4160520" cy="3977640"/>
          </a:xfrm>
          <a:prstGeom prst="rect">
            <a:avLst/>
          </a:prstGeom>
          <a:solidFill>
            <a:srgbClr val="0A1628"/>
          </a:solidFill>
          <a:ln w="12700">
            <a:solidFill>
              <a:srgbClr val="E8B84B"/>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4754880" y="822960"/>
            <a:ext cx="4160520" cy="685800"/>
          </a:xfrm>
          <a:prstGeom prst="rect">
            <a:avLst/>
          </a:prstGeom>
          <a:solidFill>
            <a:srgbClr val="E8B84B"/>
          </a:solidFill>
          <a:ln w="12700">
            <a:solidFill>
              <a:srgbClr val="E8B84B"/>
            </a:solidFill>
            <a:prstDash val="solid"/>
          </a:ln>
        </p:spPr>
      </p:sp>
      <p:sp>
        <p:nvSpPr>
          <p:cNvPr id="26" name="Text 24"/>
          <p:cNvSpPr/>
          <p:nvPr/>
        </p:nvSpPr>
        <p:spPr>
          <a:xfrm>
            <a:off x="4754880" y="822960"/>
            <a:ext cx="4160520" cy="274320"/>
          </a:xfrm>
          <a:prstGeom prst="rect">
            <a:avLst/>
          </a:prstGeom>
          <a:noFill/>
          <a:ln/>
        </p:spPr>
        <p:txBody>
          <a:bodyPr wrap="square" rtlCol="0" anchor="ctr"/>
          <a:lstStyle/>
          <a:p>
            <a:pPr algn="ctr" indent="0" marL="0">
              <a:buNone/>
            </a:pPr>
            <a:r>
              <a:rPr lang="en-US" sz="900" b="1" spc="300" kern="0" dirty="0">
                <a:solidFill>
                  <a:srgbClr val="0A1628"/>
                </a:solidFill>
                <a:latin typeface="Calibri" pitchFamily="34" charset="0"/>
                <a:ea typeface="Calibri" pitchFamily="34" charset="-122"/>
                <a:cs typeface="Calibri" pitchFamily="34" charset="-120"/>
              </a:rPr>
              <a:t>Mode 2</a:t>
            </a:r>
            <a:endParaRPr lang="en-US" sz="900" dirty="0"/>
          </a:p>
        </p:txBody>
      </p:sp>
      <p:sp>
        <p:nvSpPr>
          <p:cNvPr id="27" name="Text 25"/>
          <p:cNvSpPr/>
          <p:nvPr/>
        </p:nvSpPr>
        <p:spPr>
          <a:xfrm>
            <a:off x="4754880" y="1078992"/>
            <a:ext cx="4160520" cy="320040"/>
          </a:xfrm>
          <a:prstGeom prst="rect">
            <a:avLst/>
          </a:prstGeom>
          <a:noFill/>
          <a:ln/>
        </p:spPr>
        <p:txBody>
          <a:bodyPr wrap="square"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Find Similar Movies</a:t>
            </a:r>
            <a:endParaRPr lang="en-US" sz="1400" dirty="0"/>
          </a:p>
        </p:txBody>
      </p:sp>
      <p:sp>
        <p:nvSpPr>
          <p:cNvPr id="28" name="Text 26"/>
          <p:cNvSpPr/>
          <p:nvPr/>
        </p:nvSpPr>
        <p:spPr>
          <a:xfrm>
            <a:off x="4754880" y="1389888"/>
            <a:ext cx="4160520" cy="228600"/>
          </a:xfrm>
          <a:prstGeom prst="rect">
            <a:avLst/>
          </a:prstGeom>
          <a:noFill/>
          <a:ln/>
        </p:spPr>
        <p:txBody>
          <a:bodyPr wrap="square" rtlCol="0" anchor="ctr"/>
          <a:lstStyle/>
          <a:p>
            <a:pPr algn="ctr" indent="0" marL="0">
              <a:buNone/>
            </a:pPr>
            <a:r>
              <a:rPr lang="en-US" sz="950" i="1" dirty="0">
                <a:solidFill>
                  <a:srgbClr val="0A1628"/>
                </a:solidFill>
                <a:latin typeface="Calibri" pitchFamily="34" charset="0"/>
                <a:ea typeface="Calibri" pitchFamily="34" charset="-122"/>
                <a:cs typeface="Calibri" pitchFamily="34" charset="-120"/>
              </a:rPr>
              <a:t>Genre-based content similarity</a:t>
            </a:r>
            <a:endParaRPr lang="en-US" sz="950" dirty="0"/>
          </a:p>
        </p:txBody>
      </p:sp>
      <p:sp>
        <p:nvSpPr>
          <p:cNvPr id="29" name="Shape 27"/>
          <p:cNvSpPr/>
          <p:nvPr/>
        </p:nvSpPr>
        <p:spPr>
          <a:xfrm>
            <a:off x="4937760" y="1737360"/>
            <a:ext cx="3794760" cy="548640"/>
          </a:xfrm>
          <a:prstGeom prst="rect">
            <a:avLst/>
          </a:prstGeom>
          <a:solidFill>
            <a:srgbClr val="0A1628"/>
          </a:solidFill>
          <a:ln w="12700">
            <a:solidFill>
              <a:srgbClr val="0F1F3D"/>
            </a:solidFill>
            <a:prstDash val="solid"/>
          </a:ln>
        </p:spPr>
      </p:sp>
      <p:sp>
        <p:nvSpPr>
          <p:cNvPr id="30" name="Shape 28"/>
          <p:cNvSpPr/>
          <p:nvPr/>
        </p:nvSpPr>
        <p:spPr>
          <a:xfrm>
            <a:off x="4937760" y="1737360"/>
            <a:ext cx="45720" cy="548640"/>
          </a:xfrm>
          <a:prstGeom prst="rect">
            <a:avLst/>
          </a:prstGeom>
          <a:solidFill>
            <a:srgbClr val="E8B84B"/>
          </a:solidFill>
          <a:ln w="12700">
            <a:solidFill>
              <a:srgbClr val="E8B84B"/>
            </a:solidFill>
            <a:prstDash val="solid"/>
          </a:ln>
        </p:spPr>
      </p:sp>
      <p:sp>
        <p:nvSpPr>
          <p:cNvPr id="31" name="Text 29"/>
          <p:cNvSpPr/>
          <p:nvPr/>
        </p:nvSpPr>
        <p:spPr>
          <a:xfrm>
            <a:off x="5074920" y="1764792"/>
            <a:ext cx="3611880" cy="493776"/>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User selects any movie from the dropdown</a:t>
            </a:r>
            <a:endParaRPr lang="en-US" sz="1000" dirty="0"/>
          </a:p>
        </p:txBody>
      </p:sp>
      <p:sp>
        <p:nvSpPr>
          <p:cNvPr id="32" name="Shape 30"/>
          <p:cNvSpPr/>
          <p:nvPr/>
        </p:nvSpPr>
        <p:spPr>
          <a:xfrm>
            <a:off x="4937760" y="2359152"/>
            <a:ext cx="3794760" cy="548640"/>
          </a:xfrm>
          <a:prstGeom prst="rect">
            <a:avLst/>
          </a:prstGeom>
          <a:solidFill>
            <a:srgbClr val="0A1628"/>
          </a:solidFill>
          <a:ln w="12700">
            <a:solidFill>
              <a:srgbClr val="0F1F3D"/>
            </a:solidFill>
            <a:prstDash val="solid"/>
          </a:ln>
        </p:spPr>
      </p:sp>
      <p:sp>
        <p:nvSpPr>
          <p:cNvPr id="33" name="Shape 31"/>
          <p:cNvSpPr/>
          <p:nvPr/>
        </p:nvSpPr>
        <p:spPr>
          <a:xfrm>
            <a:off x="4937760" y="2359152"/>
            <a:ext cx="45720" cy="548640"/>
          </a:xfrm>
          <a:prstGeom prst="rect">
            <a:avLst/>
          </a:prstGeom>
          <a:solidFill>
            <a:srgbClr val="E8B84B"/>
          </a:solidFill>
          <a:ln w="12700">
            <a:solidFill>
              <a:srgbClr val="E8B84B"/>
            </a:solidFill>
            <a:prstDash val="solid"/>
          </a:ln>
        </p:spPr>
      </p:sp>
      <p:sp>
        <p:nvSpPr>
          <p:cNvPr id="34" name="Text 32"/>
          <p:cNvSpPr/>
          <p:nvPr/>
        </p:nvSpPr>
        <p:spPr>
          <a:xfrm>
            <a:off x="5074920" y="2386584"/>
            <a:ext cx="3611880" cy="493776"/>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Content-based engine retrieves genre vector</a:t>
            </a:r>
            <a:endParaRPr lang="en-US" sz="1000" dirty="0"/>
          </a:p>
        </p:txBody>
      </p:sp>
      <p:sp>
        <p:nvSpPr>
          <p:cNvPr id="35" name="Shape 33"/>
          <p:cNvSpPr/>
          <p:nvPr/>
        </p:nvSpPr>
        <p:spPr>
          <a:xfrm>
            <a:off x="4937760" y="2980944"/>
            <a:ext cx="3794760" cy="548640"/>
          </a:xfrm>
          <a:prstGeom prst="rect">
            <a:avLst/>
          </a:prstGeom>
          <a:solidFill>
            <a:srgbClr val="0A1628"/>
          </a:solidFill>
          <a:ln w="12700">
            <a:solidFill>
              <a:srgbClr val="0F1F3D"/>
            </a:solidFill>
            <a:prstDash val="solid"/>
          </a:ln>
        </p:spPr>
      </p:sp>
      <p:sp>
        <p:nvSpPr>
          <p:cNvPr id="36" name="Shape 34"/>
          <p:cNvSpPr/>
          <p:nvPr/>
        </p:nvSpPr>
        <p:spPr>
          <a:xfrm>
            <a:off x="4937760" y="2980944"/>
            <a:ext cx="45720" cy="548640"/>
          </a:xfrm>
          <a:prstGeom prst="rect">
            <a:avLst/>
          </a:prstGeom>
          <a:solidFill>
            <a:srgbClr val="E8B84B"/>
          </a:solidFill>
          <a:ln w="12700">
            <a:solidFill>
              <a:srgbClr val="E8B84B"/>
            </a:solidFill>
            <a:prstDash val="solid"/>
          </a:ln>
        </p:spPr>
      </p:sp>
      <p:sp>
        <p:nvSpPr>
          <p:cNvPr id="37" name="Text 35"/>
          <p:cNvSpPr/>
          <p:nvPr/>
        </p:nvSpPr>
        <p:spPr>
          <a:xfrm>
            <a:off x="5074920" y="3008376"/>
            <a:ext cx="3611880" cy="493776"/>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Top 10 genre-similar movies returned</a:t>
            </a:r>
            <a:endParaRPr lang="en-US" sz="1000" dirty="0"/>
          </a:p>
        </p:txBody>
      </p:sp>
      <p:sp>
        <p:nvSpPr>
          <p:cNvPr id="38" name="Shape 36"/>
          <p:cNvSpPr/>
          <p:nvPr/>
        </p:nvSpPr>
        <p:spPr>
          <a:xfrm>
            <a:off x="4937760" y="3602736"/>
            <a:ext cx="3794760" cy="548640"/>
          </a:xfrm>
          <a:prstGeom prst="rect">
            <a:avLst/>
          </a:prstGeom>
          <a:solidFill>
            <a:srgbClr val="0A1628"/>
          </a:solidFill>
          <a:ln w="12700">
            <a:solidFill>
              <a:srgbClr val="0F1F3D"/>
            </a:solidFill>
            <a:prstDash val="solid"/>
          </a:ln>
        </p:spPr>
      </p:sp>
      <p:sp>
        <p:nvSpPr>
          <p:cNvPr id="39" name="Shape 37"/>
          <p:cNvSpPr/>
          <p:nvPr/>
        </p:nvSpPr>
        <p:spPr>
          <a:xfrm>
            <a:off x="4937760" y="3602736"/>
            <a:ext cx="45720" cy="548640"/>
          </a:xfrm>
          <a:prstGeom prst="rect">
            <a:avLst/>
          </a:prstGeom>
          <a:solidFill>
            <a:srgbClr val="E8B84B"/>
          </a:solidFill>
          <a:ln w="12700">
            <a:solidFill>
              <a:srgbClr val="E8B84B"/>
            </a:solidFill>
            <a:prstDash val="solid"/>
          </a:ln>
        </p:spPr>
      </p:sp>
      <p:sp>
        <p:nvSpPr>
          <p:cNvPr id="40" name="Text 38"/>
          <p:cNvSpPr/>
          <p:nvPr/>
        </p:nvSpPr>
        <p:spPr>
          <a:xfrm>
            <a:off x="5074920" y="3630168"/>
            <a:ext cx="3611880" cy="493776"/>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Not personalised — same results for all users</a:t>
            </a:r>
            <a:endParaRPr lang="en-US" sz="1000" dirty="0"/>
          </a:p>
        </p:txBody>
      </p:sp>
      <p:sp>
        <p:nvSpPr>
          <p:cNvPr id="41" name="Shape 39"/>
          <p:cNvSpPr/>
          <p:nvPr/>
        </p:nvSpPr>
        <p:spPr>
          <a:xfrm>
            <a:off x="4937760" y="4224528"/>
            <a:ext cx="3794760" cy="548640"/>
          </a:xfrm>
          <a:prstGeom prst="rect">
            <a:avLst/>
          </a:prstGeom>
          <a:solidFill>
            <a:srgbClr val="0A1628"/>
          </a:solidFill>
          <a:ln w="12700">
            <a:solidFill>
              <a:srgbClr val="0F1F3D"/>
            </a:solidFill>
            <a:prstDash val="solid"/>
          </a:ln>
        </p:spPr>
      </p:sp>
      <p:sp>
        <p:nvSpPr>
          <p:cNvPr id="42" name="Shape 40"/>
          <p:cNvSpPr/>
          <p:nvPr/>
        </p:nvSpPr>
        <p:spPr>
          <a:xfrm>
            <a:off x="4937760" y="4224528"/>
            <a:ext cx="45720" cy="548640"/>
          </a:xfrm>
          <a:prstGeom prst="rect">
            <a:avLst/>
          </a:prstGeom>
          <a:solidFill>
            <a:srgbClr val="E8B84B"/>
          </a:solidFill>
          <a:ln w="12700">
            <a:solidFill>
              <a:srgbClr val="E8B84B"/>
            </a:solidFill>
            <a:prstDash val="solid"/>
          </a:ln>
        </p:spPr>
      </p:sp>
      <p:sp>
        <p:nvSpPr>
          <p:cNvPr id="43" name="Text 41"/>
          <p:cNvSpPr/>
          <p:nvPr/>
        </p:nvSpPr>
        <p:spPr>
          <a:xfrm>
            <a:off x="5074920" y="4251960"/>
            <a:ext cx="3611880" cy="493776"/>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Poster art and TMDB ratings fetched live</a:t>
            </a:r>
            <a:endParaRPr lang="en-US" sz="1000" dirty="0"/>
          </a:p>
        </p:txBody>
      </p:sp>
      <p:sp>
        <p:nvSpPr>
          <p:cNvPr id="44" name="Shape 42"/>
          <p:cNvSpPr/>
          <p:nvPr/>
        </p:nvSpPr>
        <p:spPr>
          <a:xfrm>
            <a:off x="0" y="4828032"/>
            <a:ext cx="9144000" cy="315468"/>
          </a:xfrm>
          <a:prstGeom prst="rect">
            <a:avLst/>
          </a:prstGeom>
          <a:solidFill>
            <a:srgbClr val="071020"/>
          </a:solidFill>
          <a:ln w="12700">
            <a:solidFill>
              <a:srgbClr val="071020"/>
            </a:solidFill>
            <a:prstDash val="solid"/>
          </a:ln>
        </p:spPr>
      </p:sp>
      <p:sp>
        <p:nvSpPr>
          <p:cNvPr id="45" name="Text 43"/>
          <p:cNvSpPr/>
          <p:nvPr/>
        </p:nvSpPr>
        <p:spPr>
          <a:xfrm>
            <a:off x="365760" y="4846320"/>
            <a:ext cx="8412480" cy="274320"/>
          </a:xfrm>
          <a:prstGeom prst="rect">
            <a:avLst/>
          </a:prstGeom>
          <a:noFill/>
          <a:ln/>
        </p:spPr>
        <p:txBody>
          <a:bodyPr wrap="square" rtlCol="0" anchor="ctr"/>
          <a:lstStyle/>
          <a:p>
            <a:pPr indent="0" marL="0">
              <a:buNone/>
            </a:pPr>
            <a:r>
              <a:rPr lang="en-US" sz="900" dirty="0">
                <a:solidFill>
                  <a:srgbClr val="8BA3C0"/>
                </a:solidFill>
                <a:latin typeface="Calibri" pitchFamily="34" charset="0"/>
                <a:ea typeface="Calibri" pitchFamily="34" charset="-122"/>
                <a:cs typeface="Calibri" pitchFamily="34" charset="-120"/>
              </a:rPr>
              <a:t>TMDB API: Poster &amp; rating fetch uses the movie title as a search query. Title cleaning (year stripping) applied for 100% match accuracy.</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w="12700">
            <a:solidFill>
              <a:srgbClr val="0A1628"/>
            </a:solidFill>
            <a:prstDash val="solid"/>
          </a:ln>
        </p:spPr>
      </p:sp>
      <p:sp>
        <p:nvSpPr>
          <p:cNvPr id="3" name="Text 1"/>
          <p:cNvSpPr/>
          <p:nvPr/>
        </p:nvSpPr>
        <p:spPr>
          <a:xfrm>
            <a:off x="365760" y="0"/>
            <a:ext cx="8229600" cy="68580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LIMITATIONS</a:t>
            </a:r>
            <a:endParaRPr lang="en-US" sz="1400" dirty="0"/>
          </a:p>
        </p:txBody>
      </p:sp>
      <p:sp>
        <p:nvSpPr>
          <p:cNvPr id="4" name="Shape 2"/>
          <p:cNvSpPr/>
          <p:nvPr/>
        </p:nvSpPr>
        <p:spPr>
          <a:xfrm>
            <a:off x="320040" y="868680"/>
            <a:ext cx="4160520" cy="1920240"/>
          </a:xfrm>
          <a:prstGeom prst="rect">
            <a:avLst/>
          </a:prstGeom>
          <a:solidFill>
            <a:srgbClr val="FFFFFF"/>
          </a:solidFill>
          <a:ln w="12700">
            <a:solidFill>
              <a:srgbClr val="EDE8DE"/>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20040" y="868680"/>
            <a:ext cx="4160520" cy="54864"/>
          </a:xfrm>
          <a:prstGeom prst="rect">
            <a:avLst/>
          </a:prstGeom>
          <a:solidFill>
            <a:srgbClr val="E53E3E"/>
          </a:solidFill>
          <a:ln w="12700">
            <a:solidFill>
              <a:srgbClr val="E53E3E"/>
            </a:solidFill>
            <a:prstDash val="solid"/>
          </a:ln>
        </p:spPr>
      </p:sp>
      <p:sp>
        <p:nvSpPr>
          <p:cNvPr id="6" name="Shape 4"/>
          <p:cNvSpPr/>
          <p:nvPr/>
        </p:nvSpPr>
        <p:spPr>
          <a:xfrm>
            <a:off x="457200" y="1051560"/>
            <a:ext cx="438912" cy="438912"/>
          </a:xfrm>
          <a:prstGeom prst="rect">
            <a:avLst/>
          </a:prstGeom>
          <a:solidFill>
            <a:srgbClr val="E53E3E"/>
          </a:solidFill>
          <a:ln w="12700">
            <a:solidFill>
              <a:srgbClr val="E53E3E"/>
            </a:solidFill>
            <a:prstDash val="solid"/>
          </a:ln>
        </p:spPr>
      </p:sp>
      <p:sp>
        <p:nvSpPr>
          <p:cNvPr id="7" name="Text 5"/>
          <p:cNvSpPr/>
          <p:nvPr/>
        </p:nvSpPr>
        <p:spPr>
          <a:xfrm>
            <a:off x="457200" y="1051560"/>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8" name="Text 6"/>
          <p:cNvSpPr/>
          <p:nvPr/>
        </p:nvSpPr>
        <p:spPr>
          <a:xfrm>
            <a:off x="1005840" y="1051560"/>
            <a:ext cx="3337560" cy="411480"/>
          </a:xfrm>
          <a:prstGeom prst="rect">
            <a:avLst/>
          </a:prstGeom>
          <a:noFill/>
          <a:ln/>
        </p:spPr>
        <p:txBody>
          <a:bodyPr wrap="square" rtlCol="0" anchor="ctr"/>
          <a:lstStyle/>
          <a:p>
            <a:pPr indent="0" marL="0">
              <a:buNone/>
            </a:pPr>
            <a:r>
              <a:rPr lang="en-US" sz="1200" b="1" dirty="0">
                <a:solidFill>
                  <a:srgbClr val="516985"/>
                </a:solidFill>
                <a:latin typeface="Calibri" pitchFamily="34" charset="0"/>
                <a:ea typeface="Calibri" pitchFamily="34" charset="-122"/>
                <a:cs typeface="Calibri" pitchFamily="34" charset="-120"/>
              </a:rPr>
              <a:t>Cold Start — New Users</a:t>
            </a:r>
            <a:endParaRPr lang="en-US" sz="1200" dirty="0"/>
          </a:p>
        </p:txBody>
      </p:sp>
      <p:sp>
        <p:nvSpPr>
          <p:cNvPr id="9" name="Text 7"/>
          <p:cNvSpPr/>
          <p:nvPr/>
        </p:nvSpPr>
        <p:spPr>
          <a:xfrm>
            <a:off x="502920" y="1527048"/>
            <a:ext cx="3794760" cy="1188720"/>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The system only covers the 943 users present in the dataset. A brand-new user with zero rating history produces no collaborative filtering signal, so only content-based suggestions (not personalised) can be returned.</a:t>
            </a:r>
            <a:endParaRPr lang="en-US" sz="1000" dirty="0"/>
          </a:p>
        </p:txBody>
      </p:sp>
      <p:sp>
        <p:nvSpPr>
          <p:cNvPr id="10" name="Shape 8"/>
          <p:cNvSpPr/>
          <p:nvPr/>
        </p:nvSpPr>
        <p:spPr>
          <a:xfrm>
            <a:off x="4754880" y="868680"/>
            <a:ext cx="4160520" cy="1920240"/>
          </a:xfrm>
          <a:prstGeom prst="rect">
            <a:avLst/>
          </a:prstGeom>
          <a:solidFill>
            <a:srgbClr val="FFFFFF"/>
          </a:solidFill>
          <a:ln w="12700">
            <a:solidFill>
              <a:srgbClr val="EDE8DE"/>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4754880" y="868680"/>
            <a:ext cx="4160520" cy="54864"/>
          </a:xfrm>
          <a:prstGeom prst="rect">
            <a:avLst/>
          </a:prstGeom>
          <a:solidFill>
            <a:srgbClr val="E8B84B"/>
          </a:solidFill>
          <a:ln w="12700">
            <a:solidFill>
              <a:srgbClr val="E8B84B"/>
            </a:solidFill>
            <a:prstDash val="solid"/>
          </a:ln>
        </p:spPr>
      </p:sp>
      <p:sp>
        <p:nvSpPr>
          <p:cNvPr id="12" name="Shape 10"/>
          <p:cNvSpPr/>
          <p:nvPr/>
        </p:nvSpPr>
        <p:spPr>
          <a:xfrm>
            <a:off x="4892040" y="1051560"/>
            <a:ext cx="438912" cy="438912"/>
          </a:xfrm>
          <a:prstGeom prst="rect">
            <a:avLst/>
          </a:prstGeom>
          <a:solidFill>
            <a:srgbClr val="E8B84B"/>
          </a:solidFill>
          <a:ln w="12700">
            <a:solidFill>
              <a:srgbClr val="E8B84B"/>
            </a:solidFill>
            <a:prstDash val="solid"/>
          </a:ln>
        </p:spPr>
      </p:sp>
      <p:sp>
        <p:nvSpPr>
          <p:cNvPr id="13" name="Text 11"/>
          <p:cNvSpPr/>
          <p:nvPr/>
        </p:nvSpPr>
        <p:spPr>
          <a:xfrm>
            <a:off x="4892040" y="1051560"/>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4" name="Text 12"/>
          <p:cNvSpPr/>
          <p:nvPr/>
        </p:nvSpPr>
        <p:spPr>
          <a:xfrm>
            <a:off x="5440680" y="1051560"/>
            <a:ext cx="3337560" cy="411480"/>
          </a:xfrm>
          <a:prstGeom prst="rect">
            <a:avLst/>
          </a:prstGeom>
          <a:noFill/>
          <a:ln/>
        </p:spPr>
        <p:txBody>
          <a:bodyPr wrap="square" rtlCol="0" anchor="ctr"/>
          <a:lstStyle/>
          <a:p>
            <a:pPr indent="0" marL="0">
              <a:buNone/>
            </a:pPr>
            <a:r>
              <a:rPr lang="en-US" sz="1200" b="1" dirty="0">
                <a:solidFill>
                  <a:srgbClr val="516985"/>
                </a:solidFill>
                <a:latin typeface="Calibri" pitchFamily="34" charset="0"/>
                <a:ea typeface="Calibri" pitchFamily="34" charset="-122"/>
                <a:cs typeface="Calibri" pitchFamily="34" charset="-120"/>
              </a:rPr>
              <a:t>Genre-Only Content Representation</a:t>
            </a:r>
            <a:endParaRPr lang="en-US" sz="1200" dirty="0"/>
          </a:p>
        </p:txBody>
      </p:sp>
      <p:sp>
        <p:nvSpPr>
          <p:cNvPr id="15" name="Text 13"/>
          <p:cNvSpPr/>
          <p:nvPr/>
        </p:nvSpPr>
        <p:spPr>
          <a:xfrm>
            <a:off x="4937760" y="1527048"/>
            <a:ext cx="3794760" cy="1188720"/>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Content-based filtering relies entirely on 19 binary genre labels. Two movies with identical genres score the same similarity regardless of differences in cast, director, plot, tone, or audience reception.</a:t>
            </a:r>
            <a:endParaRPr lang="en-US" sz="1000" dirty="0"/>
          </a:p>
        </p:txBody>
      </p:sp>
      <p:sp>
        <p:nvSpPr>
          <p:cNvPr id="16" name="Shape 14"/>
          <p:cNvSpPr/>
          <p:nvPr/>
        </p:nvSpPr>
        <p:spPr>
          <a:xfrm>
            <a:off x="320040" y="2926080"/>
            <a:ext cx="4160520" cy="1920240"/>
          </a:xfrm>
          <a:prstGeom prst="rect">
            <a:avLst/>
          </a:prstGeom>
          <a:solidFill>
            <a:srgbClr val="FFFFFF"/>
          </a:solidFill>
          <a:ln w="12700">
            <a:solidFill>
              <a:srgbClr val="EDE8DE"/>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320040" y="2926080"/>
            <a:ext cx="4160520" cy="54864"/>
          </a:xfrm>
          <a:prstGeom prst="rect">
            <a:avLst/>
          </a:prstGeom>
          <a:solidFill>
            <a:srgbClr val="E8B84B"/>
          </a:solidFill>
          <a:ln w="12700">
            <a:solidFill>
              <a:srgbClr val="E8B84B"/>
            </a:solidFill>
            <a:prstDash val="solid"/>
          </a:ln>
        </p:spPr>
      </p:sp>
      <p:sp>
        <p:nvSpPr>
          <p:cNvPr id="18" name="Shape 16"/>
          <p:cNvSpPr/>
          <p:nvPr/>
        </p:nvSpPr>
        <p:spPr>
          <a:xfrm>
            <a:off x="457200" y="3108960"/>
            <a:ext cx="438912" cy="438912"/>
          </a:xfrm>
          <a:prstGeom prst="rect">
            <a:avLst/>
          </a:prstGeom>
          <a:solidFill>
            <a:srgbClr val="E8B84B"/>
          </a:solidFill>
          <a:ln w="12700">
            <a:solidFill>
              <a:srgbClr val="E8B84B"/>
            </a:solidFill>
            <a:prstDash val="solid"/>
          </a:ln>
        </p:spPr>
      </p:sp>
      <p:sp>
        <p:nvSpPr>
          <p:cNvPr id="19" name="Text 17"/>
          <p:cNvSpPr/>
          <p:nvPr/>
        </p:nvSpPr>
        <p:spPr>
          <a:xfrm>
            <a:off x="457200" y="3108960"/>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20" name="Text 18"/>
          <p:cNvSpPr/>
          <p:nvPr/>
        </p:nvSpPr>
        <p:spPr>
          <a:xfrm>
            <a:off x="1005840" y="3108960"/>
            <a:ext cx="3337560" cy="411480"/>
          </a:xfrm>
          <a:prstGeom prst="rect">
            <a:avLst/>
          </a:prstGeom>
          <a:noFill/>
          <a:ln/>
        </p:spPr>
        <p:txBody>
          <a:bodyPr wrap="square" rtlCol="0" anchor="ctr"/>
          <a:lstStyle/>
          <a:p>
            <a:pPr indent="0" marL="0">
              <a:buNone/>
            </a:pPr>
            <a:r>
              <a:rPr lang="en-US" sz="1200" b="1" dirty="0">
                <a:solidFill>
                  <a:srgbClr val="516985"/>
                </a:solidFill>
                <a:latin typeface="Calibri" pitchFamily="34" charset="0"/>
                <a:ea typeface="Calibri" pitchFamily="34" charset="-122"/>
                <a:cs typeface="Calibri" pitchFamily="34" charset="-120"/>
              </a:rPr>
              <a:t>Hardcoded Backend URL</a:t>
            </a:r>
            <a:endParaRPr lang="en-US" sz="1200" dirty="0"/>
          </a:p>
        </p:txBody>
      </p:sp>
      <p:sp>
        <p:nvSpPr>
          <p:cNvPr id="21" name="Text 19"/>
          <p:cNvSpPr/>
          <p:nvPr/>
        </p:nvSpPr>
        <p:spPr>
          <a:xfrm>
            <a:off x="502920" y="3584448"/>
            <a:ext cx="3794760" cy="1188720"/>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The Streamlit frontend targets localhost for API calls. The deployed Streamlit Cloud instance cannot reach the FastAPI server unless the backend is hosted on a publicly accessible server with CORS enabled.</a:t>
            </a:r>
            <a:endParaRPr lang="en-US" sz="1000" dirty="0"/>
          </a:p>
        </p:txBody>
      </p:sp>
      <p:sp>
        <p:nvSpPr>
          <p:cNvPr id="22" name="Shape 20"/>
          <p:cNvSpPr/>
          <p:nvPr/>
        </p:nvSpPr>
        <p:spPr>
          <a:xfrm>
            <a:off x="4754880" y="2926080"/>
            <a:ext cx="4160520" cy="1920240"/>
          </a:xfrm>
          <a:prstGeom prst="rect">
            <a:avLst/>
          </a:prstGeom>
          <a:solidFill>
            <a:srgbClr val="FFFFFF"/>
          </a:solidFill>
          <a:ln w="12700">
            <a:solidFill>
              <a:srgbClr val="EDE8DE"/>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4754880" y="2926080"/>
            <a:ext cx="4160520" cy="54864"/>
          </a:xfrm>
          <a:prstGeom prst="rect">
            <a:avLst/>
          </a:prstGeom>
          <a:solidFill>
            <a:srgbClr val="8BA3C0"/>
          </a:solidFill>
          <a:ln w="12700">
            <a:solidFill>
              <a:srgbClr val="8BA3C0"/>
            </a:solidFill>
            <a:prstDash val="solid"/>
          </a:ln>
        </p:spPr>
      </p:sp>
      <p:sp>
        <p:nvSpPr>
          <p:cNvPr id="24" name="Shape 22"/>
          <p:cNvSpPr/>
          <p:nvPr/>
        </p:nvSpPr>
        <p:spPr>
          <a:xfrm>
            <a:off x="4892040" y="3108960"/>
            <a:ext cx="438912" cy="438912"/>
          </a:xfrm>
          <a:prstGeom prst="rect">
            <a:avLst/>
          </a:prstGeom>
          <a:solidFill>
            <a:srgbClr val="8BA3C0"/>
          </a:solidFill>
          <a:ln w="12700">
            <a:solidFill>
              <a:srgbClr val="8BA3C0"/>
            </a:solidFill>
            <a:prstDash val="solid"/>
          </a:ln>
        </p:spPr>
      </p:sp>
      <p:sp>
        <p:nvSpPr>
          <p:cNvPr id="25" name="Text 23"/>
          <p:cNvSpPr/>
          <p:nvPr/>
        </p:nvSpPr>
        <p:spPr>
          <a:xfrm>
            <a:off x="4892040" y="3108960"/>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6" name="Text 24"/>
          <p:cNvSpPr/>
          <p:nvPr/>
        </p:nvSpPr>
        <p:spPr>
          <a:xfrm>
            <a:off x="5440680" y="3108960"/>
            <a:ext cx="3337560" cy="411480"/>
          </a:xfrm>
          <a:prstGeom prst="rect">
            <a:avLst/>
          </a:prstGeom>
          <a:noFill/>
          <a:ln/>
        </p:spPr>
        <p:txBody>
          <a:bodyPr wrap="square" rtlCol="0" anchor="ctr"/>
          <a:lstStyle/>
          <a:p>
            <a:pPr indent="0" marL="0">
              <a:buNone/>
            </a:pPr>
            <a:r>
              <a:rPr lang="en-US" sz="1200" b="1" dirty="0">
                <a:solidFill>
                  <a:srgbClr val="516985"/>
                </a:solidFill>
                <a:latin typeface="Calibri" pitchFamily="34" charset="0"/>
                <a:ea typeface="Calibri" pitchFamily="34" charset="-122"/>
                <a:cs typeface="Calibri" pitchFamily="34" charset="-120"/>
              </a:rPr>
              <a:t>TMDB Poster Matching</a:t>
            </a:r>
            <a:endParaRPr lang="en-US" sz="1200" dirty="0"/>
          </a:p>
        </p:txBody>
      </p:sp>
      <p:sp>
        <p:nvSpPr>
          <p:cNvPr id="27" name="Text 25"/>
          <p:cNvSpPr/>
          <p:nvPr/>
        </p:nvSpPr>
        <p:spPr>
          <a:xfrm>
            <a:off x="4937760" y="3584448"/>
            <a:ext cx="3794760" cy="1188720"/>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Poster and rating retrieval relies on title string matching. Movies with common or ambiguous names (e.g. 'Hamlet') may return incorrect poster art. Year stripping mitigates some mismatches but does not eliminate them.</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49A2E"/>
          </a:solidFill>
          <a:ln w="12700">
            <a:solidFill>
              <a:srgbClr val="C49A2E"/>
            </a:solidFill>
            <a:prstDash val="solid"/>
          </a:ln>
        </p:spPr>
      </p:sp>
      <p:sp>
        <p:nvSpPr>
          <p:cNvPr id="3" name="Text 1"/>
          <p:cNvSpPr/>
          <p:nvPr/>
        </p:nvSpPr>
        <p:spPr>
          <a:xfrm>
            <a:off x="365760" y="0"/>
            <a:ext cx="8229600" cy="685800"/>
          </a:xfrm>
          <a:prstGeom prst="rect">
            <a:avLst/>
          </a:prstGeom>
          <a:noFill/>
          <a:ln/>
        </p:spPr>
        <p:txBody>
          <a:bodyPr wrap="square"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CONCLUSION &amp; FUTURE WORK</a:t>
            </a:r>
            <a:endParaRPr lang="en-US" sz="1400" dirty="0"/>
          </a:p>
        </p:txBody>
      </p:sp>
      <p:sp>
        <p:nvSpPr>
          <p:cNvPr id="4" name="Shape 2"/>
          <p:cNvSpPr/>
          <p:nvPr/>
        </p:nvSpPr>
        <p:spPr>
          <a:xfrm>
            <a:off x="320040" y="868680"/>
            <a:ext cx="4160520" cy="3931920"/>
          </a:xfrm>
          <a:prstGeom prst="rect">
            <a:avLst/>
          </a:prstGeom>
          <a:solidFill>
            <a:srgbClr val="0A1628"/>
          </a:solidFill>
          <a:ln w="12700">
            <a:solidFill>
              <a:srgbClr val="E8B84B"/>
            </a:solidFill>
            <a:prstDash val="solid"/>
          </a:ln>
        </p:spPr>
      </p:sp>
      <p:sp>
        <p:nvSpPr>
          <p:cNvPr id="5" name="Shape 3"/>
          <p:cNvSpPr/>
          <p:nvPr/>
        </p:nvSpPr>
        <p:spPr>
          <a:xfrm>
            <a:off x="320040" y="868680"/>
            <a:ext cx="4160520" cy="457200"/>
          </a:xfrm>
          <a:prstGeom prst="rect">
            <a:avLst/>
          </a:prstGeom>
          <a:solidFill>
            <a:srgbClr val="E8B84B"/>
          </a:solidFill>
          <a:ln w="12700">
            <a:solidFill>
              <a:srgbClr val="E8B84B"/>
            </a:solidFill>
            <a:prstDash val="solid"/>
          </a:ln>
        </p:spPr>
      </p:sp>
      <p:sp>
        <p:nvSpPr>
          <p:cNvPr id="6" name="Text 4"/>
          <p:cNvSpPr/>
          <p:nvPr/>
        </p:nvSpPr>
        <p:spPr>
          <a:xfrm>
            <a:off x="320040" y="868680"/>
            <a:ext cx="416052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What We Achieved</a:t>
            </a:r>
            <a:endParaRPr lang="en-US" sz="1300" dirty="0"/>
          </a:p>
        </p:txBody>
      </p:sp>
      <p:sp>
        <p:nvSpPr>
          <p:cNvPr id="7" name="Shape 5"/>
          <p:cNvSpPr/>
          <p:nvPr/>
        </p:nvSpPr>
        <p:spPr>
          <a:xfrm>
            <a:off x="457200" y="1463040"/>
            <a:ext cx="201168" cy="201168"/>
          </a:xfrm>
          <a:prstGeom prst="ellipse">
            <a:avLst/>
          </a:prstGeom>
          <a:solidFill>
            <a:srgbClr val="E8B84B"/>
          </a:solidFill>
          <a:ln w="12700">
            <a:solidFill>
              <a:srgbClr val="E8B84B"/>
            </a:solidFill>
            <a:prstDash val="solid"/>
          </a:ln>
        </p:spPr>
      </p:sp>
      <p:sp>
        <p:nvSpPr>
          <p:cNvPr id="8" name="Text 6"/>
          <p:cNvSpPr/>
          <p:nvPr/>
        </p:nvSpPr>
        <p:spPr>
          <a:xfrm>
            <a:off x="749808" y="1435608"/>
            <a:ext cx="3611880" cy="475488"/>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Full-stack hybrid recommendation engine deployed live on Streamlit Cloud</a:t>
            </a:r>
            <a:endParaRPr lang="en-US" sz="1000" dirty="0"/>
          </a:p>
        </p:txBody>
      </p:sp>
      <p:sp>
        <p:nvSpPr>
          <p:cNvPr id="9" name="Shape 7"/>
          <p:cNvSpPr/>
          <p:nvPr/>
        </p:nvSpPr>
        <p:spPr>
          <a:xfrm>
            <a:off x="457200" y="1975104"/>
            <a:ext cx="201168" cy="201168"/>
          </a:xfrm>
          <a:prstGeom prst="ellipse">
            <a:avLst/>
          </a:prstGeom>
          <a:solidFill>
            <a:srgbClr val="E8B84B"/>
          </a:solidFill>
          <a:ln w="12700">
            <a:solidFill>
              <a:srgbClr val="E8B84B"/>
            </a:solidFill>
            <a:prstDash val="solid"/>
          </a:ln>
        </p:spPr>
      </p:sp>
      <p:sp>
        <p:nvSpPr>
          <p:cNvPr id="10" name="Text 8"/>
          <p:cNvSpPr/>
          <p:nvPr/>
        </p:nvSpPr>
        <p:spPr>
          <a:xfrm>
            <a:off x="749808" y="1947672"/>
            <a:ext cx="3611880" cy="475488"/>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All 4 evaluation targets met (RMSE, MAE, Precision@10, Recall@10)</a:t>
            </a:r>
            <a:endParaRPr lang="en-US" sz="1000" dirty="0"/>
          </a:p>
        </p:txBody>
      </p:sp>
      <p:sp>
        <p:nvSpPr>
          <p:cNvPr id="11" name="Shape 9"/>
          <p:cNvSpPr/>
          <p:nvPr/>
        </p:nvSpPr>
        <p:spPr>
          <a:xfrm>
            <a:off x="457200" y="2487168"/>
            <a:ext cx="201168" cy="201168"/>
          </a:xfrm>
          <a:prstGeom prst="ellipse">
            <a:avLst/>
          </a:prstGeom>
          <a:solidFill>
            <a:srgbClr val="E8B84B"/>
          </a:solidFill>
          <a:ln w="12700">
            <a:solidFill>
              <a:srgbClr val="E8B84B"/>
            </a:solidFill>
            <a:prstDash val="solid"/>
          </a:ln>
        </p:spPr>
      </p:sp>
      <p:sp>
        <p:nvSpPr>
          <p:cNvPr id="12" name="Text 10"/>
          <p:cNvSpPr/>
          <p:nvPr/>
        </p:nvSpPr>
        <p:spPr>
          <a:xfrm>
            <a:off x="749808" y="2459736"/>
            <a:ext cx="3611880" cy="475488"/>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Clean FastAPI / Streamlit separation of model logic and presentation</a:t>
            </a:r>
            <a:endParaRPr lang="en-US" sz="1000" dirty="0"/>
          </a:p>
        </p:txBody>
      </p:sp>
      <p:sp>
        <p:nvSpPr>
          <p:cNvPr id="13" name="Shape 11"/>
          <p:cNvSpPr/>
          <p:nvPr/>
        </p:nvSpPr>
        <p:spPr>
          <a:xfrm>
            <a:off x="457200" y="2999232"/>
            <a:ext cx="201168" cy="201168"/>
          </a:xfrm>
          <a:prstGeom prst="ellipse">
            <a:avLst/>
          </a:prstGeom>
          <a:solidFill>
            <a:srgbClr val="E8B84B"/>
          </a:solidFill>
          <a:ln w="12700">
            <a:solidFill>
              <a:srgbClr val="E8B84B"/>
            </a:solidFill>
            <a:prstDash val="solid"/>
          </a:ln>
        </p:spPr>
      </p:sp>
      <p:sp>
        <p:nvSpPr>
          <p:cNvPr id="14" name="Text 12"/>
          <p:cNvSpPr/>
          <p:nvPr/>
        </p:nvSpPr>
        <p:spPr>
          <a:xfrm>
            <a:off x="749808" y="2971800"/>
            <a:ext cx="3611880" cy="475488"/>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Hyperparameter-tuned K=50 for optimal collaborative filtering</a:t>
            </a:r>
            <a:endParaRPr lang="en-US" sz="1000" dirty="0"/>
          </a:p>
        </p:txBody>
      </p:sp>
      <p:sp>
        <p:nvSpPr>
          <p:cNvPr id="15" name="Shape 13"/>
          <p:cNvSpPr/>
          <p:nvPr/>
        </p:nvSpPr>
        <p:spPr>
          <a:xfrm>
            <a:off x="457200" y="3511296"/>
            <a:ext cx="201168" cy="201168"/>
          </a:xfrm>
          <a:prstGeom prst="ellipse">
            <a:avLst/>
          </a:prstGeom>
          <a:solidFill>
            <a:srgbClr val="E8B84B"/>
          </a:solidFill>
          <a:ln w="12700">
            <a:solidFill>
              <a:srgbClr val="E8B84B"/>
            </a:solidFill>
            <a:prstDash val="solid"/>
          </a:ln>
        </p:spPr>
      </p:sp>
      <p:sp>
        <p:nvSpPr>
          <p:cNvPr id="16" name="Text 14"/>
          <p:cNvSpPr/>
          <p:nvPr/>
        </p:nvSpPr>
        <p:spPr>
          <a:xfrm>
            <a:off x="749808" y="3483864"/>
            <a:ext cx="3611880" cy="475488"/>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TMDB API integration for enriched, visual recommendation output</a:t>
            </a:r>
            <a:endParaRPr lang="en-US" sz="1000" dirty="0"/>
          </a:p>
        </p:txBody>
      </p:sp>
      <p:sp>
        <p:nvSpPr>
          <p:cNvPr id="17" name="Shape 15"/>
          <p:cNvSpPr/>
          <p:nvPr/>
        </p:nvSpPr>
        <p:spPr>
          <a:xfrm>
            <a:off x="457200" y="4023360"/>
            <a:ext cx="201168" cy="201168"/>
          </a:xfrm>
          <a:prstGeom prst="ellipse">
            <a:avLst/>
          </a:prstGeom>
          <a:solidFill>
            <a:srgbClr val="E8B84B"/>
          </a:solidFill>
          <a:ln w="12700">
            <a:solidFill>
              <a:srgbClr val="E8B84B"/>
            </a:solidFill>
            <a:prstDash val="solid"/>
          </a:ln>
        </p:spPr>
      </p:sp>
      <p:sp>
        <p:nvSpPr>
          <p:cNvPr id="18" name="Text 16"/>
          <p:cNvSpPr/>
          <p:nvPr/>
        </p:nvSpPr>
        <p:spPr>
          <a:xfrm>
            <a:off x="749808" y="3995928"/>
            <a:ext cx="3611880" cy="475488"/>
          </a:xfrm>
          <a:prstGeom prst="rect">
            <a:avLst/>
          </a:prstGeom>
          <a:noFill/>
          <a:ln/>
        </p:spPr>
        <p:txBody>
          <a:bodyPr wrap="square" rtlCol="0" anchor="ctr"/>
          <a:lstStyle/>
          <a:p>
            <a:pPr indent="0" marL="0">
              <a:buNone/>
            </a:pPr>
            <a:r>
              <a:rPr lang="en-US" sz="1000" dirty="0">
                <a:solidFill>
                  <a:srgbClr val="8BA3C0"/>
                </a:solidFill>
                <a:latin typeface="Calibri" pitchFamily="34" charset="0"/>
                <a:ea typeface="Calibri" pitchFamily="34" charset="-122"/>
                <a:cs typeface="Calibri" pitchFamily="34" charset="-120"/>
              </a:rPr>
              <a:t>Pre-computed pickle files for instant sub-second inference</a:t>
            </a:r>
            <a:endParaRPr lang="en-US" sz="1000" dirty="0"/>
          </a:p>
        </p:txBody>
      </p:sp>
      <p:sp>
        <p:nvSpPr>
          <p:cNvPr id="19" name="Shape 17"/>
          <p:cNvSpPr/>
          <p:nvPr/>
        </p:nvSpPr>
        <p:spPr>
          <a:xfrm>
            <a:off x="4663440" y="868680"/>
            <a:ext cx="4160520" cy="3931920"/>
          </a:xfrm>
          <a:prstGeom prst="rect">
            <a:avLst/>
          </a:prstGeom>
          <a:solidFill>
            <a:srgbClr val="0A1628"/>
          </a:solidFill>
          <a:ln w="12700">
            <a:solidFill>
              <a:srgbClr val="E8B84B"/>
            </a:solidFill>
            <a:prstDash val="solid"/>
          </a:ln>
        </p:spPr>
      </p:sp>
      <p:sp>
        <p:nvSpPr>
          <p:cNvPr id="20" name="Shape 18"/>
          <p:cNvSpPr/>
          <p:nvPr/>
        </p:nvSpPr>
        <p:spPr>
          <a:xfrm>
            <a:off x="4663440" y="868680"/>
            <a:ext cx="4160520" cy="457200"/>
          </a:xfrm>
          <a:prstGeom prst="rect">
            <a:avLst/>
          </a:prstGeom>
          <a:solidFill>
            <a:srgbClr val="E8B84B"/>
          </a:solidFill>
          <a:ln w="12700">
            <a:solidFill>
              <a:srgbClr val="E8B84B"/>
            </a:solidFill>
            <a:prstDash val="solid"/>
          </a:ln>
        </p:spPr>
      </p:sp>
      <p:sp>
        <p:nvSpPr>
          <p:cNvPr id="21" name="Text 19"/>
          <p:cNvSpPr/>
          <p:nvPr/>
        </p:nvSpPr>
        <p:spPr>
          <a:xfrm>
            <a:off x="4663440" y="868680"/>
            <a:ext cx="4160520" cy="457200"/>
          </a:xfrm>
          <a:prstGeom prst="rect">
            <a:avLst/>
          </a:prstGeom>
          <a:noFill/>
          <a:ln/>
        </p:spPr>
        <p:txBody>
          <a:bodyPr wrap="square"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Future Directions</a:t>
            </a:r>
            <a:endParaRPr lang="en-US" sz="1300" dirty="0"/>
          </a:p>
        </p:txBody>
      </p:sp>
      <p:sp>
        <p:nvSpPr>
          <p:cNvPr id="22" name="Shape 20"/>
          <p:cNvSpPr/>
          <p:nvPr/>
        </p:nvSpPr>
        <p:spPr>
          <a:xfrm>
            <a:off x="4663440" y="868680"/>
            <a:ext cx="54864" cy="3931920"/>
          </a:xfrm>
          <a:prstGeom prst="rect">
            <a:avLst/>
          </a:prstGeom>
          <a:solidFill>
            <a:srgbClr val="071020"/>
          </a:solidFill>
          <a:ln w="12700">
            <a:solidFill>
              <a:srgbClr val="071020"/>
            </a:solidFill>
            <a:prstDash val="solid"/>
          </a:ln>
        </p:spPr>
      </p:sp>
      <p:sp>
        <p:nvSpPr>
          <p:cNvPr id="23" name="Text 21"/>
          <p:cNvSpPr/>
          <p:nvPr/>
        </p:nvSpPr>
        <p:spPr>
          <a:xfrm>
            <a:off x="4828032" y="1444752"/>
            <a:ext cx="3840480" cy="274320"/>
          </a:xfrm>
          <a:prstGeom prst="rect">
            <a:avLst/>
          </a:prstGeom>
          <a:noFill/>
          <a:ln/>
        </p:spPr>
        <p:txBody>
          <a:bodyPr wrap="square" rtlCol="0" anchor="ctr"/>
          <a:lstStyle/>
          <a:p>
            <a:pPr indent="0" marL="0">
              <a:buNone/>
            </a:pPr>
            <a:r>
              <a:rPr lang="en-US" sz="1100" b="1" dirty="0">
                <a:solidFill>
                  <a:srgbClr val="E8B84B"/>
                </a:solidFill>
                <a:latin typeface="Calibri" pitchFamily="34" charset="0"/>
                <a:ea typeface="Calibri" pitchFamily="34" charset="-122"/>
                <a:cs typeface="Calibri" pitchFamily="34" charset="-120"/>
              </a:rPr>
              <a:t>Cold Start Fix</a:t>
            </a:r>
            <a:endParaRPr lang="en-US" sz="1100" dirty="0"/>
          </a:p>
        </p:txBody>
      </p:sp>
      <p:sp>
        <p:nvSpPr>
          <p:cNvPr id="24" name="Text 22"/>
          <p:cNvSpPr/>
          <p:nvPr/>
        </p:nvSpPr>
        <p:spPr>
          <a:xfrm>
            <a:off x="4828032" y="1719072"/>
            <a:ext cx="3840480" cy="329184"/>
          </a:xfrm>
          <a:prstGeom prst="rect">
            <a:avLst/>
          </a:prstGeom>
          <a:noFill/>
          <a:ln/>
        </p:spPr>
        <p:txBody>
          <a:bodyPr wrap="square" rtlCol="0" anchor="ctr"/>
          <a:lstStyle/>
          <a:p>
            <a:pPr indent="0" marL="0">
              <a:buNone/>
            </a:pPr>
            <a:r>
              <a:rPr lang="en-US" sz="950" dirty="0">
                <a:solidFill>
                  <a:srgbClr val="8BA3C0"/>
                </a:solidFill>
                <a:latin typeface="Calibri" pitchFamily="34" charset="0"/>
                <a:ea typeface="Calibri" pitchFamily="34" charset="-122"/>
                <a:cs typeface="Calibri" pitchFamily="34" charset="-120"/>
              </a:rPr>
              <a:t>Profile new users via onboarding questionnaire or demographic-based recommendations</a:t>
            </a:r>
            <a:endParaRPr lang="en-US" sz="950" dirty="0"/>
          </a:p>
        </p:txBody>
      </p:sp>
      <p:sp>
        <p:nvSpPr>
          <p:cNvPr id="25" name="Shape 23"/>
          <p:cNvSpPr/>
          <p:nvPr/>
        </p:nvSpPr>
        <p:spPr>
          <a:xfrm>
            <a:off x="4663440" y="868680"/>
            <a:ext cx="54864" cy="3931920"/>
          </a:xfrm>
          <a:prstGeom prst="rect">
            <a:avLst/>
          </a:prstGeom>
          <a:solidFill>
            <a:srgbClr val="071020"/>
          </a:solidFill>
          <a:ln w="12700">
            <a:solidFill>
              <a:srgbClr val="071020"/>
            </a:solidFill>
            <a:prstDash val="solid"/>
          </a:ln>
        </p:spPr>
      </p:sp>
      <p:sp>
        <p:nvSpPr>
          <p:cNvPr id="26" name="Text 24"/>
          <p:cNvSpPr/>
          <p:nvPr/>
        </p:nvSpPr>
        <p:spPr>
          <a:xfrm>
            <a:off x="4828032" y="2084832"/>
            <a:ext cx="3840480" cy="274320"/>
          </a:xfrm>
          <a:prstGeom prst="rect">
            <a:avLst/>
          </a:prstGeom>
          <a:noFill/>
          <a:ln/>
        </p:spPr>
        <p:txBody>
          <a:bodyPr wrap="square" rtlCol="0" anchor="ctr"/>
          <a:lstStyle/>
          <a:p>
            <a:pPr indent="0" marL="0">
              <a:buNone/>
            </a:pPr>
            <a:r>
              <a:rPr lang="en-US" sz="1100" b="1" dirty="0">
                <a:solidFill>
                  <a:srgbClr val="E8B84B"/>
                </a:solidFill>
                <a:latin typeface="Calibri" pitchFamily="34" charset="0"/>
                <a:ea typeface="Calibri" pitchFamily="34" charset="-122"/>
                <a:cs typeface="Calibri" pitchFamily="34" charset="-120"/>
              </a:rPr>
              <a:t>Deep Embeddings</a:t>
            </a:r>
            <a:endParaRPr lang="en-US" sz="1100" dirty="0"/>
          </a:p>
        </p:txBody>
      </p:sp>
      <p:sp>
        <p:nvSpPr>
          <p:cNvPr id="27" name="Text 25"/>
          <p:cNvSpPr/>
          <p:nvPr/>
        </p:nvSpPr>
        <p:spPr>
          <a:xfrm>
            <a:off x="4828032" y="2359152"/>
            <a:ext cx="3840480" cy="329184"/>
          </a:xfrm>
          <a:prstGeom prst="rect">
            <a:avLst/>
          </a:prstGeom>
          <a:noFill/>
          <a:ln/>
        </p:spPr>
        <p:txBody>
          <a:bodyPr wrap="square" rtlCol="0" anchor="ctr"/>
          <a:lstStyle/>
          <a:p>
            <a:pPr indent="0" marL="0">
              <a:buNone/>
            </a:pPr>
            <a:r>
              <a:rPr lang="en-US" sz="950" dirty="0">
                <a:solidFill>
                  <a:srgbClr val="8BA3C0"/>
                </a:solidFill>
                <a:latin typeface="Calibri" pitchFamily="34" charset="0"/>
                <a:ea typeface="Calibri" pitchFamily="34" charset="-122"/>
                <a:cs typeface="Calibri" pitchFamily="34" charset="-120"/>
              </a:rPr>
              <a:t>Replace 19-feature genre vectors with rich movie embeddings (Word2Vec, BERT on plot summaries)</a:t>
            </a:r>
            <a:endParaRPr lang="en-US" sz="950" dirty="0"/>
          </a:p>
        </p:txBody>
      </p:sp>
      <p:sp>
        <p:nvSpPr>
          <p:cNvPr id="28" name="Shape 26"/>
          <p:cNvSpPr/>
          <p:nvPr/>
        </p:nvSpPr>
        <p:spPr>
          <a:xfrm>
            <a:off x="4663440" y="868680"/>
            <a:ext cx="54864" cy="3931920"/>
          </a:xfrm>
          <a:prstGeom prst="rect">
            <a:avLst/>
          </a:prstGeom>
          <a:solidFill>
            <a:srgbClr val="071020"/>
          </a:solidFill>
          <a:ln w="12700">
            <a:solidFill>
              <a:srgbClr val="071020"/>
            </a:solidFill>
            <a:prstDash val="solid"/>
          </a:ln>
        </p:spPr>
      </p:sp>
      <p:sp>
        <p:nvSpPr>
          <p:cNvPr id="29" name="Text 27"/>
          <p:cNvSpPr/>
          <p:nvPr/>
        </p:nvSpPr>
        <p:spPr>
          <a:xfrm>
            <a:off x="4828032" y="2724912"/>
            <a:ext cx="3840480" cy="274320"/>
          </a:xfrm>
          <a:prstGeom prst="rect">
            <a:avLst/>
          </a:prstGeom>
          <a:noFill/>
          <a:ln/>
        </p:spPr>
        <p:txBody>
          <a:bodyPr wrap="square" rtlCol="0" anchor="ctr"/>
          <a:lstStyle/>
          <a:p>
            <a:pPr indent="0" marL="0">
              <a:buNone/>
            </a:pPr>
            <a:r>
              <a:rPr lang="en-US" sz="1100" b="1" dirty="0">
                <a:solidFill>
                  <a:srgbClr val="E8B84B"/>
                </a:solidFill>
                <a:latin typeface="Calibri" pitchFamily="34" charset="0"/>
                <a:ea typeface="Calibri" pitchFamily="34" charset="-122"/>
                <a:cs typeface="Calibri" pitchFamily="34" charset="-120"/>
              </a:rPr>
              <a:t>Deep Learning</a:t>
            </a:r>
            <a:endParaRPr lang="en-US" sz="1100" dirty="0"/>
          </a:p>
        </p:txBody>
      </p:sp>
      <p:sp>
        <p:nvSpPr>
          <p:cNvPr id="30" name="Text 28"/>
          <p:cNvSpPr/>
          <p:nvPr/>
        </p:nvSpPr>
        <p:spPr>
          <a:xfrm>
            <a:off x="4828032" y="2999232"/>
            <a:ext cx="3840480" cy="329184"/>
          </a:xfrm>
          <a:prstGeom prst="rect">
            <a:avLst/>
          </a:prstGeom>
          <a:noFill/>
          <a:ln/>
        </p:spPr>
        <p:txBody>
          <a:bodyPr wrap="square" rtlCol="0" anchor="ctr"/>
          <a:lstStyle/>
          <a:p>
            <a:pPr indent="0" marL="0">
              <a:buNone/>
            </a:pPr>
            <a:r>
              <a:rPr lang="en-US" sz="950" dirty="0">
                <a:solidFill>
                  <a:srgbClr val="8BA3C0"/>
                </a:solidFill>
                <a:latin typeface="Calibri" pitchFamily="34" charset="0"/>
                <a:ea typeface="Calibri" pitchFamily="34" charset="-122"/>
                <a:cs typeface="Calibri" pitchFamily="34" charset="-120"/>
              </a:rPr>
              <a:t>Explore Neural Collaborative Filtering (NCF) for improved personalisation</a:t>
            </a:r>
            <a:endParaRPr lang="en-US" sz="950" dirty="0"/>
          </a:p>
        </p:txBody>
      </p:sp>
      <p:sp>
        <p:nvSpPr>
          <p:cNvPr id="31" name="Shape 29"/>
          <p:cNvSpPr/>
          <p:nvPr/>
        </p:nvSpPr>
        <p:spPr>
          <a:xfrm>
            <a:off x="4663440" y="868680"/>
            <a:ext cx="54864" cy="3931920"/>
          </a:xfrm>
          <a:prstGeom prst="rect">
            <a:avLst/>
          </a:prstGeom>
          <a:solidFill>
            <a:srgbClr val="071020"/>
          </a:solidFill>
          <a:ln w="12700">
            <a:solidFill>
              <a:srgbClr val="071020"/>
            </a:solidFill>
            <a:prstDash val="solid"/>
          </a:ln>
        </p:spPr>
      </p:sp>
      <p:sp>
        <p:nvSpPr>
          <p:cNvPr id="32" name="Text 30"/>
          <p:cNvSpPr/>
          <p:nvPr/>
        </p:nvSpPr>
        <p:spPr>
          <a:xfrm>
            <a:off x="4828032" y="3364992"/>
            <a:ext cx="3840480" cy="274320"/>
          </a:xfrm>
          <a:prstGeom prst="rect">
            <a:avLst/>
          </a:prstGeom>
          <a:noFill/>
          <a:ln/>
        </p:spPr>
        <p:txBody>
          <a:bodyPr wrap="square" rtlCol="0" anchor="ctr"/>
          <a:lstStyle/>
          <a:p>
            <a:pPr indent="0" marL="0">
              <a:buNone/>
            </a:pPr>
            <a:r>
              <a:rPr lang="en-US" sz="1100" b="1" dirty="0">
                <a:solidFill>
                  <a:srgbClr val="E8B84B"/>
                </a:solidFill>
                <a:latin typeface="Calibri" pitchFamily="34" charset="0"/>
                <a:ea typeface="Calibri" pitchFamily="34" charset="-122"/>
                <a:cs typeface="Calibri" pitchFamily="34" charset="-120"/>
              </a:rPr>
              <a:t>Public Backend</a:t>
            </a:r>
            <a:endParaRPr lang="en-US" sz="1100" dirty="0"/>
          </a:p>
        </p:txBody>
      </p:sp>
      <p:sp>
        <p:nvSpPr>
          <p:cNvPr id="33" name="Text 31"/>
          <p:cNvSpPr/>
          <p:nvPr/>
        </p:nvSpPr>
        <p:spPr>
          <a:xfrm>
            <a:off x="4828032" y="3639312"/>
            <a:ext cx="3840480" cy="329184"/>
          </a:xfrm>
          <a:prstGeom prst="rect">
            <a:avLst/>
          </a:prstGeom>
          <a:noFill/>
          <a:ln/>
        </p:spPr>
        <p:txBody>
          <a:bodyPr wrap="square" rtlCol="0" anchor="ctr"/>
          <a:lstStyle/>
          <a:p>
            <a:pPr indent="0" marL="0">
              <a:buNone/>
            </a:pPr>
            <a:r>
              <a:rPr lang="en-US" sz="950" dirty="0">
                <a:solidFill>
                  <a:srgbClr val="8BA3C0"/>
                </a:solidFill>
                <a:latin typeface="Calibri" pitchFamily="34" charset="0"/>
                <a:ea typeface="Calibri" pitchFamily="34" charset="-122"/>
                <a:cs typeface="Calibri" pitchFamily="34" charset="-120"/>
              </a:rPr>
              <a:t>Deploy FastAPI to Render/Railway so Streamlit Cloud deployment is fully functional</a:t>
            </a:r>
            <a:endParaRPr lang="en-US" sz="950" dirty="0"/>
          </a:p>
        </p:txBody>
      </p:sp>
      <p:sp>
        <p:nvSpPr>
          <p:cNvPr id="34" name="Shape 32"/>
          <p:cNvSpPr/>
          <p:nvPr/>
        </p:nvSpPr>
        <p:spPr>
          <a:xfrm>
            <a:off x="4663440" y="868680"/>
            <a:ext cx="54864" cy="3931920"/>
          </a:xfrm>
          <a:prstGeom prst="rect">
            <a:avLst/>
          </a:prstGeom>
          <a:solidFill>
            <a:srgbClr val="071020"/>
          </a:solidFill>
          <a:ln w="12700">
            <a:solidFill>
              <a:srgbClr val="071020"/>
            </a:solidFill>
            <a:prstDash val="solid"/>
          </a:ln>
        </p:spPr>
      </p:sp>
      <p:sp>
        <p:nvSpPr>
          <p:cNvPr id="35" name="Text 33"/>
          <p:cNvSpPr/>
          <p:nvPr/>
        </p:nvSpPr>
        <p:spPr>
          <a:xfrm>
            <a:off x="4828032" y="4005072"/>
            <a:ext cx="3840480" cy="274320"/>
          </a:xfrm>
          <a:prstGeom prst="rect">
            <a:avLst/>
          </a:prstGeom>
          <a:noFill/>
          <a:ln/>
        </p:spPr>
        <p:txBody>
          <a:bodyPr wrap="square" rtlCol="0" anchor="ctr"/>
          <a:lstStyle/>
          <a:p>
            <a:pPr indent="0" marL="0">
              <a:buNone/>
            </a:pPr>
            <a:r>
              <a:rPr lang="en-US" sz="1100" b="1" dirty="0">
                <a:solidFill>
                  <a:srgbClr val="E8B84B"/>
                </a:solidFill>
                <a:latin typeface="Calibri" pitchFamily="34" charset="0"/>
                <a:ea typeface="Calibri" pitchFamily="34" charset="-122"/>
                <a:cs typeface="Calibri" pitchFamily="34" charset="-120"/>
              </a:rPr>
              <a:t>Richer Features</a:t>
            </a:r>
            <a:endParaRPr lang="en-US" sz="1100" dirty="0"/>
          </a:p>
        </p:txBody>
      </p:sp>
      <p:sp>
        <p:nvSpPr>
          <p:cNvPr id="36" name="Text 34"/>
          <p:cNvSpPr/>
          <p:nvPr/>
        </p:nvSpPr>
        <p:spPr>
          <a:xfrm>
            <a:off x="4828032" y="4279392"/>
            <a:ext cx="3840480" cy="329184"/>
          </a:xfrm>
          <a:prstGeom prst="rect">
            <a:avLst/>
          </a:prstGeom>
          <a:noFill/>
          <a:ln/>
        </p:spPr>
        <p:txBody>
          <a:bodyPr wrap="square" rtlCol="0" anchor="ctr"/>
          <a:lstStyle/>
          <a:p>
            <a:pPr indent="0" marL="0">
              <a:buNone/>
            </a:pPr>
            <a:r>
              <a:rPr lang="en-US" sz="950" dirty="0">
                <a:solidFill>
                  <a:srgbClr val="8BA3C0"/>
                </a:solidFill>
                <a:latin typeface="Calibri" pitchFamily="34" charset="0"/>
                <a:ea typeface="Calibri" pitchFamily="34" charset="-122"/>
                <a:cs typeface="Calibri" pitchFamily="34" charset="-120"/>
              </a:rPr>
              <a:t>Incorporate cast, director, release year, and audience tags into the content model</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B84B"/>
          </a:solidFill>
          <a:ln w="12700">
            <a:solidFill>
              <a:srgbClr val="E8B84B"/>
            </a:solidFill>
            <a:prstDash val="solid"/>
          </a:ln>
        </p:spPr>
      </p:sp>
      <p:sp>
        <p:nvSpPr>
          <p:cNvPr id="3" name="Shape 1"/>
          <p:cNvSpPr/>
          <p:nvPr/>
        </p:nvSpPr>
        <p:spPr>
          <a:xfrm>
            <a:off x="164592" y="2194560"/>
            <a:ext cx="8979408" cy="54864"/>
          </a:xfrm>
          <a:prstGeom prst="rect">
            <a:avLst/>
          </a:prstGeom>
          <a:solidFill>
            <a:srgbClr val="E8B84B"/>
          </a:solidFill>
          <a:ln w="12700">
            <a:solidFill>
              <a:srgbClr val="E8B84B"/>
            </a:solidFill>
            <a:prstDash val="solid"/>
          </a:ln>
        </p:spPr>
      </p:sp>
      <p:sp>
        <p:nvSpPr>
          <p:cNvPr id="4" name="Text 2"/>
          <p:cNvSpPr/>
          <p:nvPr/>
        </p:nvSpPr>
        <p:spPr>
          <a:xfrm>
            <a:off x="502920" y="685800"/>
            <a:ext cx="7772400" cy="1005840"/>
          </a:xfrm>
          <a:prstGeom prst="rect">
            <a:avLst/>
          </a:prstGeom>
          <a:noFill/>
          <a:ln/>
        </p:spPr>
        <p:txBody>
          <a:bodyPr wrap="square" rtlCol="0" anchor="ctr"/>
          <a:lstStyle/>
          <a:p>
            <a:pPr indent="0" marL="0">
              <a:buNone/>
            </a:pPr>
            <a:r>
              <a:rPr lang="en-US" sz="6200" b="1" dirty="0">
                <a:solidFill>
                  <a:srgbClr val="FFFFFF"/>
                </a:solidFill>
                <a:latin typeface="Calibri" pitchFamily="34" charset="0"/>
                <a:ea typeface="Calibri" pitchFamily="34" charset="-122"/>
                <a:cs typeface="Calibri" pitchFamily="34" charset="-120"/>
              </a:rPr>
              <a:t>Thank You</a:t>
            </a:r>
            <a:endParaRPr lang="en-US" sz="6200" dirty="0"/>
          </a:p>
        </p:txBody>
      </p:sp>
      <p:sp>
        <p:nvSpPr>
          <p:cNvPr id="5" name="Text 3"/>
          <p:cNvSpPr/>
          <p:nvPr/>
        </p:nvSpPr>
        <p:spPr>
          <a:xfrm>
            <a:off x="502920" y="1691640"/>
            <a:ext cx="7772400" cy="438912"/>
          </a:xfrm>
          <a:prstGeom prst="rect">
            <a:avLst/>
          </a:prstGeom>
          <a:noFill/>
          <a:ln/>
        </p:spPr>
        <p:txBody>
          <a:bodyPr wrap="square" rtlCol="0" anchor="ctr"/>
          <a:lstStyle/>
          <a:p>
            <a:pPr indent="0" marL="0">
              <a:buNone/>
            </a:pPr>
            <a:r>
              <a:rPr lang="en-US" sz="1600" i="1" dirty="0">
                <a:solidFill>
                  <a:srgbClr val="E8B84B"/>
                </a:solidFill>
                <a:latin typeface="Calibri" pitchFamily="34" charset="0"/>
                <a:ea typeface="Calibri" pitchFamily="34" charset="-122"/>
                <a:cs typeface="Calibri" pitchFamily="34" charset="-120"/>
              </a:rPr>
              <a:t>CineMatch  —  An Intelligent Movie Recommendation Engine</a:t>
            </a:r>
            <a:endParaRPr lang="en-US" sz="1600" dirty="0"/>
          </a:p>
        </p:txBody>
      </p:sp>
      <p:sp>
        <p:nvSpPr>
          <p:cNvPr id="6" name="Shape 4"/>
          <p:cNvSpPr/>
          <p:nvPr/>
        </p:nvSpPr>
        <p:spPr>
          <a:xfrm>
            <a:off x="502920" y="2423160"/>
            <a:ext cx="1828800" cy="1417320"/>
          </a:xfrm>
          <a:prstGeom prst="rect">
            <a:avLst/>
          </a:prstGeom>
          <a:solidFill>
            <a:srgbClr val="0A1628"/>
          </a:solidFill>
          <a:ln w="12700">
            <a:solidFill>
              <a:srgbClr val="E8B84B"/>
            </a:solidFill>
            <a:prstDash val="solid"/>
          </a:ln>
        </p:spPr>
      </p:sp>
      <p:sp>
        <p:nvSpPr>
          <p:cNvPr id="7" name="Text 5"/>
          <p:cNvSpPr/>
          <p:nvPr/>
        </p:nvSpPr>
        <p:spPr>
          <a:xfrm>
            <a:off x="502920" y="2487168"/>
            <a:ext cx="1828800" cy="685800"/>
          </a:xfrm>
          <a:prstGeom prst="rect">
            <a:avLst/>
          </a:prstGeom>
          <a:noFill/>
          <a:ln/>
        </p:spPr>
        <p:txBody>
          <a:bodyPr wrap="square" rtlCol="0" anchor="ctr"/>
          <a:lstStyle/>
          <a:p>
            <a:pPr algn="ctr" indent="0" marL="0">
              <a:buNone/>
            </a:pPr>
            <a:r>
              <a:rPr lang="en-US" sz="3800" b="1" dirty="0">
                <a:solidFill>
                  <a:srgbClr val="E8B84B"/>
                </a:solidFill>
                <a:latin typeface="Calibri" pitchFamily="34" charset="0"/>
                <a:ea typeface="Calibri" pitchFamily="34" charset="-122"/>
                <a:cs typeface="Calibri" pitchFamily="34" charset="-120"/>
              </a:rPr>
              <a:t>4</a:t>
            </a:r>
            <a:endParaRPr lang="en-US" sz="3800" dirty="0"/>
          </a:p>
        </p:txBody>
      </p:sp>
      <p:sp>
        <p:nvSpPr>
          <p:cNvPr id="8" name="Text 6"/>
          <p:cNvSpPr/>
          <p:nvPr/>
        </p:nvSpPr>
        <p:spPr>
          <a:xfrm>
            <a:off x="502920" y="3200400"/>
            <a:ext cx="1828800" cy="502920"/>
          </a:xfrm>
          <a:prstGeom prst="rect">
            <a:avLst/>
          </a:prstGeom>
          <a:noFill/>
          <a:ln/>
        </p:spPr>
        <p:txBody>
          <a:bodyPr wrap="square" rtlCol="0" anchor="ctr"/>
          <a:lstStyle/>
          <a:p>
            <a:pPr algn="ctr" indent="0" marL="0">
              <a:buNone/>
            </a:pPr>
            <a:r>
              <a:rPr lang="en-US" sz="1000" dirty="0">
                <a:solidFill>
                  <a:srgbClr val="8BA3C0"/>
                </a:solidFill>
                <a:latin typeface="Calibri" pitchFamily="34" charset="0"/>
                <a:ea typeface="Calibri" pitchFamily="34" charset="-122"/>
                <a:cs typeface="Calibri" pitchFamily="34" charset="-120"/>
              </a:rPr>
              <a:t>Filtering</a:t>
            </a:r>
            <a:endParaRPr lang="en-US" sz="1000" dirty="0"/>
          </a:p>
          <a:p>
            <a:pPr algn="ctr" indent="0" marL="0">
              <a:buNone/>
            </a:pPr>
            <a:r>
              <a:rPr lang="en-US" sz="1000" dirty="0">
                <a:solidFill>
                  <a:srgbClr val="8BA3C0"/>
                </a:solidFill>
                <a:latin typeface="Calibri" pitchFamily="34" charset="0"/>
                <a:ea typeface="Calibri" pitchFamily="34" charset="-122"/>
                <a:cs typeface="Calibri" pitchFamily="34" charset="-120"/>
              </a:rPr>
              <a:t>Methods</a:t>
            </a:r>
            <a:endParaRPr lang="en-US" sz="1000" dirty="0"/>
          </a:p>
        </p:txBody>
      </p:sp>
      <p:sp>
        <p:nvSpPr>
          <p:cNvPr id="9" name="Shape 7"/>
          <p:cNvSpPr/>
          <p:nvPr/>
        </p:nvSpPr>
        <p:spPr>
          <a:xfrm>
            <a:off x="2606040" y="2423160"/>
            <a:ext cx="1828800" cy="1417320"/>
          </a:xfrm>
          <a:prstGeom prst="rect">
            <a:avLst/>
          </a:prstGeom>
          <a:solidFill>
            <a:srgbClr val="0A1628"/>
          </a:solidFill>
          <a:ln w="12700">
            <a:solidFill>
              <a:srgbClr val="E8B84B"/>
            </a:solidFill>
            <a:prstDash val="solid"/>
          </a:ln>
        </p:spPr>
      </p:sp>
      <p:sp>
        <p:nvSpPr>
          <p:cNvPr id="10" name="Text 8"/>
          <p:cNvSpPr/>
          <p:nvPr/>
        </p:nvSpPr>
        <p:spPr>
          <a:xfrm>
            <a:off x="2606040" y="2487168"/>
            <a:ext cx="1828800" cy="685800"/>
          </a:xfrm>
          <a:prstGeom prst="rect">
            <a:avLst/>
          </a:prstGeom>
          <a:noFill/>
          <a:ln/>
        </p:spPr>
        <p:txBody>
          <a:bodyPr wrap="square" rtlCol="0" anchor="ctr"/>
          <a:lstStyle/>
          <a:p>
            <a:pPr algn="ctr" indent="0" marL="0">
              <a:buNone/>
            </a:pPr>
            <a:r>
              <a:rPr lang="en-US" sz="3800" b="1" dirty="0">
                <a:solidFill>
                  <a:srgbClr val="E8B84B"/>
                </a:solidFill>
                <a:latin typeface="Calibri" pitchFamily="34" charset="0"/>
                <a:ea typeface="Calibri" pitchFamily="34" charset="-122"/>
                <a:cs typeface="Calibri" pitchFamily="34" charset="-120"/>
              </a:rPr>
              <a:t>All</a:t>
            </a:r>
            <a:endParaRPr lang="en-US" sz="3800" dirty="0"/>
          </a:p>
        </p:txBody>
      </p:sp>
      <p:sp>
        <p:nvSpPr>
          <p:cNvPr id="11" name="Text 9"/>
          <p:cNvSpPr/>
          <p:nvPr/>
        </p:nvSpPr>
        <p:spPr>
          <a:xfrm>
            <a:off x="2606040" y="3200400"/>
            <a:ext cx="1828800" cy="502920"/>
          </a:xfrm>
          <a:prstGeom prst="rect">
            <a:avLst/>
          </a:prstGeom>
          <a:noFill/>
          <a:ln/>
        </p:spPr>
        <p:txBody>
          <a:bodyPr wrap="square" rtlCol="0" anchor="ctr"/>
          <a:lstStyle/>
          <a:p>
            <a:pPr algn="ctr" indent="0" marL="0">
              <a:buNone/>
            </a:pPr>
            <a:r>
              <a:rPr lang="en-US" sz="1000" dirty="0">
                <a:solidFill>
                  <a:srgbClr val="8BA3C0"/>
                </a:solidFill>
                <a:latin typeface="Calibri" pitchFamily="34" charset="0"/>
                <a:ea typeface="Calibri" pitchFamily="34" charset="-122"/>
                <a:cs typeface="Calibri" pitchFamily="34" charset="-120"/>
              </a:rPr>
              <a:t>Targets</a:t>
            </a:r>
            <a:endParaRPr lang="en-US" sz="1000" dirty="0"/>
          </a:p>
          <a:p>
            <a:pPr algn="ctr" indent="0" marL="0">
              <a:buNone/>
            </a:pPr>
            <a:r>
              <a:rPr lang="en-US" sz="1000" dirty="0">
                <a:solidFill>
                  <a:srgbClr val="8BA3C0"/>
                </a:solidFill>
                <a:latin typeface="Calibri" pitchFamily="34" charset="0"/>
                <a:ea typeface="Calibri" pitchFamily="34" charset="-122"/>
                <a:cs typeface="Calibri" pitchFamily="34" charset="-120"/>
              </a:rPr>
              <a:t>Met</a:t>
            </a:r>
            <a:endParaRPr lang="en-US" sz="1000" dirty="0"/>
          </a:p>
        </p:txBody>
      </p:sp>
      <p:sp>
        <p:nvSpPr>
          <p:cNvPr id="12" name="Shape 10"/>
          <p:cNvSpPr/>
          <p:nvPr/>
        </p:nvSpPr>
        <p:spPr>
          <a:xfrm>
            <a:off x="4709160" y="2423160"/>
            <a:ext cx="1828800" cy="1417320"/>
          </a:xfrm>
          <a:prstGeom prst="rect">
            <a:avLst/>
          </a:prstGeom>
          <a:solidFill>
            <a:srgbClr val="0A1628"/>
          </a:solidFill>
          <a:ln w="12700">
            <a:solidFill>
              <a:srgbClr val="E8B84B"/>
            </a:solidFill>
            <a:prstDash val="solid"/>
          </a:ln>
        </p:spPr>
      </p:sp>
      <p:sp>
        <p:nvSpPr>
          <p:cNvPr id="13" name="Text 11"/>
          <p:cNvSpPr/>
          <p:nvPr/>
        </p:nvSpPr>
        <p:spPr>
          <a:xfrm>
            <a:off x="4709160" y="2487168"/>
            <a:ext cx="1828800" cy="685800"/>
          </a:xfrm>
          <a:prstGeom prst="rect">
            <a:avLst/>
          </a:prstGeom>
          <a:noFill/>
          <a:ln/>
        </p:spPr>
        <p:txBody>
          <a:bodyPr wrap="square" rtlCol="0" anchor="ctr"/>
          <a:lstStyle/>
          <a:p>
            <a:pPr algn="ctr" indent="0" marL="0">
              <a:buNone/>
            </a:pPr>
            <a:r>
              <a:rPr lang="en-US" sz="3800" b="1" dirty="0">
                <a:solidFill>
                  <a:srgbClr val="E8B84B"/>
                </a:solidFill>
                <a:latin typeface="Calibri" pitchFamily="34" charset="0"/>
                <a:ea typeface="Calibri" pitchFamily="34" charset="-122"/>
                <a:cs typeface="Calibri" pitchFamily="34" charset="-120"/>
              </a:rPr>
              <a:t>100K</a:t>
            </a:r>
            <a:endParaRPr lang="en-US" sz="3800" dirty="0"/>
          </a:p>
        </p:txBody>
      </p:sp>
      <p:sp>
        <p:nvSpPr>
          <p:cNvPr id="14" name="Text 12"/>
          <p:cNvSpPr/>
          <p:nvPr/>
        </p:nvSpPr>
        <p:spPr>
          <a:xfrm>
            <a:off x="4709160" y="3200400"/>
            <a:ext cx="1828800" cy="502920"/>
          </a:xfrm>
          <a:prstGeom prst="rect">
            <a:avLst/>
          </a:prstGeom>
          <a:noFill/>
          <a:ln/>
        </p:spPr>
        <p:txBody>
          <a:bodyPr wrap="square" rtlCol="0" anchor="ctr"/>
          <a:lstStyle/>
          <a:p>
            <a:pPr algn="ctr" indent="0" marL="0">
              <a:buNone/>
            </a:pPr>
            <a:r>
              <a:rPr lang="en-US" sz="1000" dirty="0">
                <a:solidFill>
                  <a:srgbClr val="8BA3C0"/>
                </a:solidFill>
                <a:latin typeface="Calibri" pitchFamily="34" charset="0"/>
                <a:ea typeface="Calibri" pitchFamily="34" charset="-122"/>
                <a:cs typeface="Calibri" pitchFamily="34" charset="-120"/>
              </a:rPr>
              <a:t>Ratings</a:t>
            </a:r>
            <a:endParaRPr lang="en-US" sz="1000" dirty="0"/>
          </a:p>
          <a:p>
            <a:pPr algn="ctr" indent="0" marL="0">
              <a:buNone/>
            </a:pPr>
            <a:r>
              <a:rPr lang="en-US" sz="1000" dirty="0">
                <a:solidFill>
                  <a:srgbClr val="8BA3C0"/>
                </a:solidFill>
                <a:latin typeface="Calibri" pitchFamily="34" charset="0"/>
                <a:ea typeface="Calibri" pitchFamily="34" charset="-122"/>
                <a:cs typeface="Calibri" pitchFamily="34" charset="-120"/>
              </a:rPr>
              <a:t>Processed</a:t>
            </a:r>
            <a:endParaRPr lang="en-US" sz="1000" dirty="0"/>
          </a:p>
        </p:txBody>
      </p:sp>
      <p:sp>
        <p:nvSpPr>
          <p:cNvPr id="15" name="Shape 13"/>
          <p:cNvSpPr/>
          <p:nvPr/>
        </p:nvSpPr>
        <p:spPr>
          <a:xfrm>
            <a:off x="6812280" y="2423160"/>
            <a:ext cx="1828800" cy="1417320"/>
          </a:xfrm>
          <a:prstGeom prst="rect">
            <a:avLst/>
          </a:prstGeom>
          <a:solidFill>
            <a:srgbClr val="0A1628"/>
          </a:solidFill>
          <a:ln w="12700">
            <a:solidFill>
              <a:srgbClr val="E8B84B"/>
            </a:solidFill>
            <a:prstDash val="solid"/>
          </a:ln>
        </p:spPr>
      </p:sp>
      <p:sp>
        <p:nvSpPr>
          <p:cNvPr id="16" name="Text 14"/>
          <p:cNvSpPr/>
          <p:nvPr/>
        </p:nvSpPr>
        <p:spPr>
          <a:xfrm>
            <a:off x="6812280" y="2487168"/>
            <a:ext cx="1828800" cy="685800"/>
          </a:xfrm>
          <a:prstGeom prst="rect">
            <a:avLst/>
          </a:prstGeom>
          <a:noFill/>
          <a:ln/>
        </p:spPr>
        <p:txBody>
          <a:bodyPr wrap="square" rtlCol="0" anchor="ctr"/>
          <a:lstStyle/>
          <a:p>
            <a:pPr algn="ctr" indent="0" marL="0">
              <a:buNone/>
            </a:pPr>
            <a:r>
              <a:rPr lang="en-US" sz="3800" b="1" dirty="0">
                <a:solidFill>
                  <a:srgbClr val="E8B84B"/>
                </a:solidFill>
                <a:latin typeface="Calibri" pitchFamily="34" charset="0"/>
                <a:ea typeface="Calibri" pitchFamily="34" charset="-122"/>
                <a:cs typeface="Calibri" pitchFamily="34" charset="-120"/>
              </a:rPr>
              <a:t>Live</a:t>
            </a:r>
            <a:endParaRPr lang="en-US" sz="3800" dirty="0"/>
          </a:p>
        </p:txBody>
      </p:sp>
      <p:sp>
        <p:nvSpPr>
          <p:cNvPr id="17" name="Text 15"/>
          <p:cNvSpPr/>
          <p:nvPr/>
        </p:nvSpPr>
        <p:spPr>
          <a:xfrm>
            <a:off x="6812280" y="3200400"/>
            <a:ext cx="1828800" cy="502920"/>
          </a:xfrm>
          <a:prstGeom prst="rect">
            <a:avLst/>
          </a:prstGeom>
          <a:noFill/>
          <a:ln/>
        </p:spPr>
        <p:txBody>
          <a:bodyPr wrap="square" rtlCol="0" anchor="ctr"/>
          <a:lstStyle/>
          <a:p>
            <a:pPr algn="ctr" indent="0" marL="0">
              <a:buNone/>
            </a:pPr>
            <a:r>
              <a:rPr lang="en-US" sz="1000" dirty="0">
                <a:solidFill>
                  <a:srgbClr val="8BA3C0"/>
                </a:solidFill>
                <a:latin typeface="Calibri" pitchFamily="34" charset="0"/>
                <a:ea typeface="Calibri" pitchFamily="34" charset="-122"/>
                <a:cs typeface="Calibri" pitchFamily="34" charset="-120"/>
              </a:rPr>
              <a:t>Deployment</a:t>
            </a:r>
            <a:endParaRPr lang="en-US" sz="1000" dirty="0"/>
          </a:p>
        </p:txBody>
      </p:sp>
      <p:sp>
        <p:nvSpPr>
          <p:cNvPr id="18" name="Text 16"/>
          <p:cNvSpPr/>
          <p:nvPr/>
        </p:nvSpPr>
        <p:spPr>
          <a:xfrm>
            <a:off x="502920" y="4069080"/>
            <a:ext cx="4572000" cy="274320"/>
          </a:xfrm>
          <a:prstGeom prst="rect">
            <a:avLst/>
          </a:prstGeom>
          <a:noFill/>
          <a:ln/>
        </p:spPr>
        <p:txBody>
          <a:bodyPr wrap="square" rtlCol="0" anchor="ctr"/>
          <a:lstStyle/>
          <a:p>
            <a:pPr indent="0" marL="0">
              <a:buNone/>
            </a:pPr>
            <a:r>
              <a:rPr lang="en-US" sz="1150" dirty="0">
                <a:solidFill>
                  <a:srgbClr val="8BA3C0"/>
                </a:solidFill>
                <a:latin typeface="Calibri" pitchFamily="34" charset="0"/>
                <a:ea typeface="Calibri" pitchFamily="34" charset="-122"/>
                <a:cs typeface="Calibri" pitchFamily="34" charset="-120"/>
              </a:rPr>
              <a:t>Tayaba Khan  —  24K-0934</a:t>
            </a:r>
            <a:endParaRPr lang="en-US" sz="1150" dirty="0"/>
          </a:p>
        </p:txBody>
      </p:sp>
      <p:sp>
        <p:nvSpPr>
          <p:cNvPr id="19" name="Text 17"/>
          <p:cNvSpPr/>
          <p:nvPr/>
        </p:nvSpPr>
        <p:spPr>
          <a:xfrm>
            <a:off x="502920" y="4370832"/>
            <a:ext cx="4572000" cy="274320"/>
          </a:xfrm>
          <a:prstGeom prst="rect">
            <a:avLst/>
          </a:prstGeom>
          <a:noFill/>
          <a:ln/>
        </p:spPr>
        <p:txBody>
          <a:bodyPr wrap="square" rtlCol="0" anchor="ctr"/>
          <a:lstStyle/>
          <a:p>
            <a:pPr indent="0" marL="0">
              <a:buNone/>
            </a:pPr>
            <a:r>
              <a:rPr lang="en-US" sz="1150" dirty="0">
                <a:solidFill>
                  <a:srgbClr val="8BA3C0"/>
                </a:solidFill>
                <a:latin typeface="Calibri" pitchFamily="34" charset="0"/>
                <a:ea typeface="Calibri" pitchFamily="34" charset="-122"/>
                <a:cs typeface="Calibri" pitchFamily="34" charset="-120"/>
              </a:rPr>
              <a:t>Wardah Ahmed  —  24K-1045</a:t>
            </a:r>
            <a:endParaRPr lang="en-US" sz="1150" dirty="0"/>
          </a:p>
        </p:txBody>
      </p:sp>
      <p:sp>
        <p:nvSpPr>
          <p:cNvPr id="20" name="Text 18"/>
          <p:cNvSpPr/>
          <p:nvPr/>
        </p:nvSpPr>
        <p:spPr>
          <a:xfrm>
            <a:off x="502920" y="4672584"/>
            <a:ext cx="4572000" cy="274320"/>
          </a:xfrm>
          <a:prstGeom prst="rect">
            <a:avLst/>
          </a:prstGeom>
          <a:noFill/>
          <a:ln/>
        </p:spPr>
        <p:txBody>
          <a:bodyPr wrap="square" rtlCol="0" anchor="ctr"/>
          <a:lstStyle/>
          <a:p>
            <a:pPr indent="0" marL="0">
              <a:buNone/>
            </a:pPr>
            <a:r>
              <a:rPr lang="en-US" sz="1150" dirty="0">
                <a:solidFill>
                  <a:srgbClr val="8BA3C0"/>
                </a:solidFill>
                <a:latin typeface="Calibri" pitchFamily="34" charset="0"/>
                <a:ea typeface="Calibri" pitchFamily="34" charset="-122"/>
                <a:cs typeface="Calibri" pitchFamily="34" charset="-120"/>
              </a:rPr>
              <a:t>Humna Fatime  —  23K-1016</a:t>
            </a:r>
            <a:endParaRPr lang="en-US" sz="1150" dirty="0"/>
          </a:p>
        </p:txBody>
      </p:sp>
      <p:sp>
        <p:nvSpPr>
          <p:cNvPr id="21" name="Text 19"/>
          <p:cNvSpPr/>
          <p:nvPr/>
        </p:nvSpPr>
        <p:spPr>
          <a:xfrm>
            <a:off x="5943600" y="4160520"/>
            <a:ext cx="2926080" cy="365760"/>
          </a:xfrm>
          <a:prstGeom prst="rect">
            <a:avLst/>
          </a:prstGeom>
          <a:noFill/>
          <a:ln/>
        </p:spPr>
        <p:txBody>
          <a:bodyPr wrap="square" rtlCol="0" anchor="ctr"/>
          <a:lstStyle/>
          <a:p>
            <a:pPr algn="r" indent="0" marL="0">
              <a:buNone/>
            </a:pPr>
            <a:r>
              <a:rPr lang="en-US" sz="1100" i="1" dirty="0">
                <a:solidFill>
                  <a:srgbClr val="E8B84B"/>
                </a:solidFill>
                <a:latin typeface="Calibri" pitchFamily="34" charset="0"/>
                <a:ea typeface="Calibri" pitchFamily="34" charset="-122"/>
                <a:cs typeface="Calibri" pitchFamily="34" charset="-120"/>
              </a:rPr>
              <a:t>cinematch-fast-nuces.streamlit.app</a:t>
            </a:r>
            <a:endParaRPr lang="en-US" sz="1100" dirty="0"/>
          </a:p>
        </p:txBody>
      </p:sp>
      <p:sp>
        <p:nvSpPr>
          <p:cNvPr id="22" name="Text 20"/>
          <p:cNvSpPr/>
          <p:nvPr/>
        </p:nvSpPr>
        <p:spPr>
          <a:xfrm>
            <a:off x="5943600" y="4553712"/>
            <a:ext cx="2926080" cy="274320"/>
          </a:xfrm>
          <a:prstGeom prst="rect">
            <a:avLst/>
          </a:prstGeom>
          <a:noFill/>
          <a:ln/>
        </p:spPr>
        <p:txBody>
          <a:bodyPr wrap="square" rtlCol="0" anchor="ctr"/>
          <a:lstStyle/>
          <a:p>
            <a:pPr algn="r" indent="0" marL="0">
              <a:buNone/>
            </a:pPr>
            <a:r>
              <a:rPr lang="en-US" sz="900" dirty="0">
                <a:solidFill>
                  <a:srgbClr val="8BA3C0"/>
                </a:solidFill>
                <a:latin typeface="Calibri" pitchFamily="34" charset="0"/>
                <a:ea typeface="Calibri" pitchFamily="34" charset="-122"/>
                <a:cs typeface="Calibri" pitchFamily="34" charset="-120"/>
              </a:rPr>
              <a:t>FAST NUCES  ·  AI Project  ·  Spring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CineMatch</dc:title>
  <dc:subject>PptxGenJS Presentation</dc:subject>
  <dc:creator>PptxGenJS</dc:creator>
  <cp:lastModifiedBy>PptxGenJS</cp:lastModifiedBy>
  <cp:revision>1</cp:revision>
  <dcterms:created xsi:type="dcterms:W3CDTF">2026-04-30T06:59:14Z</dcterms:created>
  <dcterms:modified xsi:type="dcterms:W3CDTF">2026-04-30T06:59:14Z</dcterms:modified>
</cp:coreProperties>
</file>